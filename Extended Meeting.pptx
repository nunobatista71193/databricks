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301" r:id="rId6"/>
    <p:sldId id="285" r:id="rId7"/>
    <p:sldId id="283" r:id="rId8"/>
    <p:sldId id="302" r:id="rId9"/>
    <p:sldId id="295" r:id="rId10"/>
    <p:sldId id="262" r:id="rId11"/>
    <p:sldId id="288" r:id="rId12"/>
    <p:sldId id="278" r:id="rId13"/>
    <p:sldId id="265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556"/>
    <a:srgbClr val="FA66B4"/>
    <a:srgbClr val="DE355F"/>
    <a:srgbClr val="9E0053"/>
    <a:srgbClr val="D2006E"/>
    <a:srgbClr val="FA0083"/>
    <a:srgbClr val="C40067"/>
    <a:srgbClr val="FC9E00"/>
    <a:srgbClr val="EE764C"/>
    <a:srgbClr val="EA54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7" autoAdjust="0"/>
    <p:restoredTop sz="77824" autoAdjust="0"/>
  </p:normalViewPr>
  <p:slideViewPr>
    <p:cSldViewPr snapToGrid="0" showGuides="1">
      <p:cViewPr varScale="1">
        <p:scale>
          <a:sx n="95" d="100"/>
          <a:sy n="95" d="100"/>
        </p:scale>
        <p:origin x="248" y="192"/>
      </p:cViewPr>
      <p:guideLst>
        <p:guide orient="horz" pos="30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2B406-2171-4BFF-8529-817A2735D33A}" type="datetimeFigureOut">
              <a:rPr lang="pt-PT" smtClean="0"/>
              <a:t>22/10/26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88325-E2E1-4CB3-A8C1-DDF13661298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216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~30 seg. Abertura: 'Entrei na equipa a 1 de julho. Hoje não vos trago uma ferramenta — trago quatro perguntas que me fiz nos primeiros dias, e o que fizemos para lhes responder. A ferramenta vem no fim, ao vivo.'</a:t>
            </a:r>
          </a:p>
          <a:p>
            <a:endParaRPr/>
          </a:p>
          <a:p>
            <a:r>
              <a:t>Tempo total: ~11 min de slides + ~10 min de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~1,5 min. Ler as quatro perguntas devagar e parar em cada uma.</a:t>
            </a:r>
          </a:p>
          <a:p>
            <a:endParaRPr/>
          </a:p>
          <a:p>
            <a:r>
              <a:t>· O que é para entregar? — o trabalho chegava de vários sítios.</a:t>
            </a:r>
          </a:p>
          <a:p>
            <a:r>
              <a:t>· O que é mais importante? — não havia critério escrito.</a:t>
            </a:r>
          </a:p>
          <a:p>
            <a:r>
              <a:t>· Quanto tempo demora? — as datas eram prometidas sem ver se cabiam.</a:t>
            </a:r>
          </a:p>
          <a:p>
            <a:r>
              <a:t>· Quem faz o quê? — vivia na cabeça de cada um.</a:t>
            </a:r>
          </a:p>
          <a:p>
            <a:endParaRPr/>
          </a:p>
          <a:p>
            <a:r>
              <a:t>Tom: descritivo, nunca acusatório. 'Nada disto é culpa de ninguém' — dizer em voz alta. Para a Head e para os pares: estas perguntas provavelmente também se fazem noutras equipas.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~1,5 min. Cada coluna liga uma pergunta ao sintoma e ao número que o confirma.</a:t>
            </a:r>
          </a:p>
          <a:p>
            <a:endParaRPr/>
          </a:p>
          <a:p>
            <a:r>
              <a:t>· 30 itens em backlog (34 pedidos entrados no período).</a:t>
            </a:r>
          </a:p>
          <a:p>
            <a:r>
              <a:t>· 18 atividades regulares por mês.</a:t>
            </a:r>
          </a:p>
          <a:p>
            <a:r>
              <a:t>· 11 dias de mediana de entrega; 66% de ocupação média do plano.</a:t>
            </a:r>
          </a:p>
          <a:p>
            <a:r>
              <a:t>· 0 rituais de equipa — só 1:1.</a:t>
            </a:r>
          </a:p>
          <a:p>
            <a:endParaRPr/>
          </a:p>
          <a:p>
            <a:r>
              <a:t>Atenção: 'a prioridade é de quem pergunta primeiro' é uma leitura qualitativa, não uma métrica.</a:t>
            </a:r>
          </a:p>
          <a:p>
            <a:endParaRPr/>
          </a:p>
          <a:p>
            <a:r>
              <a:t>Frase de ponte: 'Antes de falar da solução, deixem-me recordar o que é que esta equipa faz — e quem a faz.'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Apresentar as pessoas — uma frase por cada, no máximo.</a:t>
            </a:r>
          </a:p>
          <a:p>
            <a:endParaRPr/>
          </a:p>
          <a:p>
            <a:r>
              <a:t>PARA PREPARAR: em cada moldura, clicar na forma &gt; Formatar forma &gt; Preenchimento &gt; Imagem &gt; Inserir (a foto fica recortada com cantos arredondados; ajustar com 'Recortar'). Depois substituir 'Nome Apelido', o cargo e 'Foco / marca'. Apagar as molduras a mais se a equipa tiver menos de 6 pessoas.</a:t>
            </a:r>
          </a:p>
          <a:p>
            <a:endParaRPr/>
          </a:p>
          <a:p>
            <a:r>
              <a:t>Frase de ponte: 'Somos pessoas com especialidades diferentes — e foi isso que tornou urgente saber, sem perguntar, quem tem o quê em mãos.'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~1,5 min. </a:t>
            </a:r>
            <a:r>
              <a:rPr dirty="0" err="1"/>
              <a:t>Apresentar</a:t>
            </a:r>
            <a:r>
              <a:rPr dirty="0"/>
              <a:t> a </a:t>
            </a:r>
            <a:r>
              <a:rPr dirty="0" err="1"/>
              <a:t>equipa</a:t>
            </a:r>
            <a:r>
              <a:rPr dirty="0"/>
              <a:t> para quem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conhece</a:t>
            </a:r>
            <a:r>
              <a:rPr dirty="0"/>
              <a:t> </a:t>
            </a:r>
            <a:r>
              <a:rPr dirty="0" err="1"/>
              <a:t>bem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âmbito</a:t>
            </a:r>
            <a:r>
              <a:rPr dirty="0"/>
              <a:t>: repricing, </a:t>
            </a:r>
            <a:r>
              <a:rPr dirty="0" err="1"/>
              <a:t>rentabilidade</a:t>
            </a:r>
            <a:r>
              <a:rPr dirty="0"/>
              <a:t> de </a:t>
            </a:r>
            <a:r>
              <a:rPr dirty="0" err="1"/>
              <a:t>negócio</a:t>
            </a:r>
            <a:r>
              <a:rPr dirty="0"/>
              <a:t>, </a:t>
            </a:r>
            <a:r>
              <a:rPr dirty="0" err="1"/>
              <a:t>rentabilidade</a:t>
            </a:r>
            <a:r>
              <a:rPr dirty="0"/>
              <a:t> de </a:t>
            </a:r>
            <a:r>
              <a:rPr dirty="0" err="1"/>
              <a:t>produtos</a:t>
            </a:r>
            <a:r>
              <a:rPr dirty="0"/>
              <a:t> e </a:t>
            </a:r>
            <a:r>
              <a:rPr dirty="0" err="1"/>
              <a:t>alertas</a:t>
            </a:r>
            <a:r>
              <a:rPr dirty="0"/>
              <a:t> à </a:t>
            </a:r>
            <a:r>
              <a:rPr dirty="0" err="1"/>
              <a:t>gestão</a:t>
            </a:r>
            <a:r>
              <a:rPr dirty="0"/>
              <a:t> — </a:t>
            </a:r>
            <a:r>
              <a:rPr dirty="0" err="1"/>
              <a:t>tudo</a:t>
            </a:r>
            <a:r>
              <a:rPr dirty="0"/>
              <a:t> para </a:t>
            </a:r>
            <a:r>
              <a:rPr dirty="0" err="1"/>
              <a:t>três</a:t>
            </a:r>
            <a:r>
              <a:rPr dirty="0"/>
              <a:t> </a:t>
            </a:r>
            <a:r>
              <a:rPr dirty="0" err="1"/>
              <a:t>marcas</a:t>
            </a:r>
            <a:r>
              <a:rPr dirty="0"/>
              <a:t>, com </a:t>
            </a:r>
            <a:r>
              <a:rPr dirty="0" err="1"/>
              <a:t>fontes</a:t>
            </a:r>
            <a:r>
              <a:rPr dirty="0"/>
              <a:t> de dados </a:t>
            </a:r>
            <a:r>
              <a:rPr dirty="0" err="1"/>
              <a:t>separadas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 </a:t>
            </a:r>
            <a:r>
              <a:rPr dirty="0" err="1"/>
              <a:t>desenho</a:t>
            </a:r>
            <a:r>
              <a:rPr dirty="0"/>
              <a:t> da </a:t>
            </a:r>
            <a:r>
              <a:rPr dirty="0" err="1"/>
              <a:t>direita</a:t>
            </a:r>
            <a:r>
              <a:rPr dirty="0"/>
              <a:t> </a:t>
            </a:r>
            <a:r>
              <a:rPr dirty="0" err="1"/>
              <a:t>é</a:t>
            </a:r>
            <a:r>
              <a:rPr dirty="0"/>
              <a:t> o </a:t>
            </a:r>
            <a:r>
              <a:rPr dirty="0" err="1"/>
              <a:t>ponto</a:t>
            </a:r>
            <a:r>
              <a:rPr dirty="0"/>
              <a:t>: o </a:t>
            </a:r>
            <a:r>
              <a:rPr dirty="0" err="1"/>
              <a:t>trabalho</a:t>
            </a:r>
            <a:r>
              <a:rPr dirty="0"/>
              <a:t> </a:t>
            </a:r>
            <a:r>
              <a:rPr dirty="0" err="1"/>
              <a:t>chega</a:t>
            </a:r>
            <a:r>
              <a:rPr dirty="0"/>
              <a:t> de </a:t>
            </a:r>
            <a:r>
              <a:rPr dirty="0" err="1"/>
              <a:t>quatro</a:t>
            </a:r>
            <a:r>
              <a:rPr dirty="0"/>
              <a:t> formas </a:t>
            </a:r>
            <a:r>
              <a:rPr dirty="0" err="1"/>
              <a:t>diferentes</a:t>
            </a:r>
            <a:r>
              <a:rPr dirty="0"/>
              <a:t> (</a:t>
            </a:r>
            <a:r>
              <a:rPr dirty="0" err="1"/>
              <a:t>projetos</a:t>
            </a:r>
            <a:r>
              <a:rPr dirty="0"/>
              <a:t>, ad-hoc, </a:t>
            </a:r>
            <a:r>
              <a:rPr dirty="0" err="1"/>
              <a:t>recorrentes</a:t>
            </a:r>
            <a:r>
              <a:rPr dirty="0"/>
              <a:t>, bugs de Power BI) e </a:t>
            </a:r>
            <a:r>
              <a:rPr dirty="0" err="1"/>
              <a:t>precisava</a:t>
            </a:r>
            <a:r>
              <a:rPr dirty="0"/>
              <a:t> de </a:t>
            </a:r>
            <a:r>
              <a:rPr dirty="0" err="1"/>
              <a:t>convergir</a:t>
            </a:r>
            <a:r>
              <a:rPr dirty="0"/>
              <a:t> </a:t>
            </a:r>
            <a:r>
              <a:rPr dirty="0" err="1"/>
              <a:t>numa</a:t>
            </a:r>
            <a:r>
              <a:rPr dirty="0"/>
              <a:t> fila </a:t>
            </a:r>
            <a:r>
              <a:rPr dirty="0" err="1"/>
              <a:t>só</a:t>
            </a:r>
            <a:r>
              <a:rPr dirty="0"/>
              <a:t>. </a:t>
            </a:r>
            <a:r>
              <a:rPr dirty="0" err="1"/>
              <a:t>É</a:t>
            </a:r>
            <a:r>
              <a:rPr dirty="0"/>
              <a:t> </a:t>
            </a:r>
            <a:r>
              <a:rPr dirty="0" err="1"/>
              <a:t>exatamente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ferramenta </a:t>
            </a:r>
            <a:r>
              <a:rPr dirty="0" err="1"/>
              <a:t>faz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Não é uma aula de agile.</a:t>
            </a:r>
          </a:p>
          <a:p>
            <a:endParaRPr/>
          </a:p>
          <a:p>
            <a:r>
              <a:t>Topo: o manifesto diz que há valor nos itens da direita, mas mais valor nos da esquerda — o marcador está deslocado para o lado que preferimos. A leitura que interessa é a última — responder à mudança. Metade do nosso trabalho é reagir; um método que o assume é mais honesto do que um plano anual que ninguém cumpre.</a:t>
            </a:r>
          </a:p>
          <a:p>
            <a:endParaRPr/>
          </a:p>
          <a:p>
            <a:r>
              <a:t>Baixo: o que adotámos e O QUE NÃO ADOTÁMOS. O QUE NÃO ADOTÁMOS é tão importante como AS PRÁTICAS QUE USAMOS — é o que torna o modelo leve.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~1,5 min. Duas ideias.</a:t>
            </a:r>
          </a:p>
          <a:p>
            <a:endParaRPr/>
          </a:p>
          <a:p>
            <a:r>
              <a:t>1) A reunião semanal: uma hora, único ritual fixo. O bloco de 25 minutos é o coração — cada pessoa propõe a sua semana, a equipa desafia, e a chefia não distribui tarefas.</a:t>
            </a:r>
          </a:p>
          <a:p>
            <a:endParaRPr/>
          </a:p>
          <a:p>
            <a:r>
              <a:t>2) As regras: poucas, para começar já. Máximo de dois itens em curso por pessoa; reserva de 20% para imprevistos (é o que torna as datas credíveis); o que entra a meio empurra algo para fora; nada entra sem data-alvo.</a:t>
            </a:r>
          </a:p>
          <a:p>
            <a:endParaRPr/>
          </a:p>
          <a:p>
            <a:r>
              <a:t>NOTA: confirmar com a equipa quais destas regras ficaram mesmo decididas na sessão 'Como queremos trabalhar' — os valores aqui (2 itens, 20%) vêm da proposta apresentada nessa sessão.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~1,5 min. Fecho do círculo: cada pergunta do início tem agora um sítio onde a resposta vive.</a:t>
            </a:r>
          </a:p>
          <a:p>
            <a:endParaRPr/>
          </a:p>
          <a:p>
            <a:r>
              <a:t>· Backlog único → o que é para entregar.</a:t>
            </a:r>
          </a:p>
          <a:p>
            <a:r>
              <a:t>· Priority Index → o que é mais importante. Pesos: impacto 55% (negócio 35%, origem 25%, pessoas 20%, não-entrega 20%) e urgência 45%. O índice é recalculado em runtime — a urgência evolui com o tempo sem edição manual. Os critérios são configuráveis.</a:t>
            </a:r>
          </a:p>
          <a:p>
            <a:r>
              <a:t>· Horas e ciclo → quanto tempo demora.</a:t>
            </a:r>
          </a:p>
          <a:p>
            <a:r>
              <a:t>· Planeamento → quem faz o quê, com ausências e recorrentes já descontados.</a:t>
            </a:r>
          </a:p>
          <a:p>
            <a:endParaRPr/>
          </a:p>
          <a:p>
            <a:r>
              <a:t>Banner final — importante para o debate: a ferramenta mostra estado, responsável, horas por item e datas; não mostra produtividade individual nem tem ranking de pessoas.</a:t>
            </a:r>
          </a:p>
          <a:p>
            <a:endParaRPr/>
          </a:p>
          <a:p>
            <a:r>
              <a:t>Transição: 'Em vez de continuar a falar, mostro. Vou percorrer a ferramenta pela ordem das quatro perguntas.'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AO VIVO (~10 min) — não se cria nada, só se mostra. O fio condutor são as quatro perguntas do início: cada paragem responde a uma delas. Em cada ecrã: 1) dizer a pergunta, 2) mostrar o ecrã, 3) dizer o que muda para a equipa. Nunca mais de 2 minutos por ecrã.</a:t>
            </a:r>
          </a:p>
          <a:p>
            <a:endParaRPr/>
          </a:p>
          <a:p>
            <a:r>
              <a:t>ABERTURA (15 s): 'Vou percorrer a ferramenta pela ordem das quatro perguntas com que comecei. Não é um tour completo — só o que responde a cada uma.'</a:t>
            </a:r>
          </a:p>
          <a:p>
            <a:endParaRPr/>
          </a:p>
          <a:p>
            <a:r>
              <a:t>1. DASHBOARD (1 min) — menu 'Dashboard'.</a:t>
            </a:r>
          </a:p>
          <a:p>
            <a:r>
              <a:t> Mostrar: procura, entregas, backlog e itens que pedem atenção.</a:t>
            </a:r>
          </a:p>
          <a:p>
            <a:r>
              <a:t> Dizer: 'Este é o ecrã de situação. Em dez segundos sei quanto entrou, quanto saiu e o que está em risco.'</a:t>
            </a:r>
          </a:p>
          <a:p>
            <a:endParaRPr/>
          </a:p>
          <a:p>
            <a:r>
              <a:t>2. O TRABALHO — 'o que é para entregar?' (2 min) — menus 'Hierarchy', 'Ad-hoc Requests', 'Regular Activities'.</a:t>
            </a:r>
          </a:p>
          <a:p>
            <a:r>
              <a:t> Mostrar: a vista Hierarchy (Portfolio → Programa → Projeto → Epic → Tarefa) e depois, em ecrãs rápidos, os pedidos ad-hoc e as atividades recorrentes. Mencionar os reports de Power BI.</a:t>
            </a:r>
          </a:p>
          <a:p>
            <a:r>
              <a:t> Dizer: 'Antes, o trabalho chegava por canais diferentes. Agora está todo no mesmo sítio, cada item com responsável, solicitante e data-alvo.'</a:t>
            </a:r>
          </a:p>
          <a:p>
            <a:endParaRPr/>
          </a:p>
          <a:p>
            <a:r>
              <a:t>3. PRIORIZAÇÃO — 'o que é mais importante?' (2 min) — menu 'Priorização'.</a:t>
            </a:r>
          </a:p>
          <a:p>
            <a:r>
              <a:t> Mostrar: a Priority Matrix; clicar numa bolha e mostrar a evolução da urgência; depois o Ranking (vista Dia/Semana/Mês).</a:t>
            </a:r>
          </a:p>
          <a:p>
            <a:r>
              <a:t> Dizer: 'A ordem passa a ter critério: impacto (negócio, origem, pessoas, risco de não entregar) e urgência (data-alvo, bloqueios, tempo em espera). O critério é configurável — podemos discordar dele e mudá-lo. O que deixa de existir é ordem sem explicação.'</a:t>
            </a:r>
          </a:p>
          <a:p>
            <a:endParaRPr/>
          </a:p>
          <a:p>
            <a:r>
              <a:t>4. PLANEAMENTO — 'quem faz o quê, e cabe?' (2 min) — menus 'Planeamento' e 'Férias'.</a:t>
            </a:r>
          </a:p>
          <a:p>
            <a:r>
              <a:t> Mostrar: o calendário de planeamento (ocupação por pessoa), o 'Trabalho disponível' e as ausências.</a:t>
            </a:r>
          </a:p>
          <a:p>
            <a:r>
              <a:t> Dizer: 'A capacidade desconta ausências e trabalho recorrente antes de alguém pedir mais. Prometer uma data deixa de ser um palpite.'</a:t>
            </a:r>
          </a:p>
          <a:p>
            <a:endParaRPr/>
          </a:p>
          <a:p>
            <a:r>
              <a:t>5. HORAS E RELATÓRIOS — 'quanto tempo demora?' (2 min) — menu 'Relatórios'.</a:t>
            </a:r>
          </a:p>
          <a:p>
            <a:r>
              <a:t> Mostrar: separadores 'Tempos de ciclo', 'Mix de trabalho', 'Horas registadas' e 'ROI Automação'.</a:t>
            </a:r>
          </a:p>
          <a:p>
            <a:r>
              <a:t> Dizer: 'Horas por item, tempo de ciclo e quanto do nosso tempo vai para projeto, ad-hoc ou recorrente. O ROI de automação diz-nos o que vale a pena automatizar a seguir. Mostra o trabalho — não as pessoas.'</a:t>
            </a:r>
          </a:p>
          <a:p>
            <a:endParaRPr/>
          </a:p>
          <a:p>
            <a:r>
              <a:t>6. WEEKLY REVIEW (1 min) — menu 'Weekly Review'.</a:t>
            </a:r>
          </a:p>
          <a:p>
            <a:r>
              <a:t> Mostrar: 'Kanban de trabalho' (Backlog / Em desenvolvimento / Em entrega esta semana / Entregue).</a:t>
            </a:r>
          </a:p>
          <a:p>
            <a:r>
              <a:t> Dizer: 'Este é o ecrã da reunião semanal de uma hora. O ponto de situação sai sozinho — ninguém precisa de enviar um mail na sexta à tarde.'</a:t>
            </a:r>
          </a:p>
          <a:p>
            <a:endParaRPr/>
          </a:p>
          <a:p>
            <a:r>
              <a:t>FECHO (30 s): 'Em resumo: uma fila só, uma ordem com critério, uma capacidade visível e horas que dizem quanto custa cada coisa. Mostra o trabalho, não as pessoas. Perguntas?'</a:t>
            </a:r>
          </a:p>
          <a:p>
            <a:endParaRPr/>
          </a:p>
          <a:p>
            <a:r>
              <a:t>PLANO B: se a aplicação falhar, usar uma captura de ecrã por paragem (guardar antes da reunião) e contar a mesma história.</a:t>
            </a:r>
          </a:p>
          <a:p>
            <a:r>
              <a:t>ANTES DE COMEÇAR: login feito, dados de demonstração limpos, zoom do browser a 110-125%, notificações desligadas, separadores já abertos pela ordem das paragens.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Fecho e perguntas. Perguntas úteis para os pares: 'qual destas quatro perguntas é a vossa maior dor?' e 'o que é que aqui cortavam?'.</a:t>
            </a:r>
          </a:p>
          <a:p>
            <a:endParaRPr/>
          </a:p>
          <a:p>
            <a:r>
              <a:t>Perguntas difíceis que podem aparecer:</a:t>
            </a:r>
          </a:p>
          <a:p>
            <a:r>
              <a:t>· 'Isto serve para controlar as pessoas?' — Não. Mostra estado, responsável, horas por item e datas. Não há ranking de pessoas nem nada que alimente avaliação de desempenho.</a:t>
            </a:r>
          </a:p>
          <a:p>
            <a:r>
              <a:t>· 'Vai dar mais reuniões?' — Uma hora por semana, e uma só. Se ao fim de um mês o saldo for negativo, cortamos.</a:t>
            </a:r>
          </a:p>
          <a:p>
            <a:r>
              <a:t>· 'Quem vê os dados?' — Toda a equipa vê o trabalho de toda a equipa; é essa a ideia. Ninguém de fora vê nada que não veja hoje.</a:t>
            </a:r>
          </a:p>
          <a:p>
            <a:r>
              <a:t>· 'E o registo de horas?' — Mínimo possível; se custar mais de dois minutos por dia, muda-se o processo.</a:t>
            </a:r>
          </a:p>
          <a:p>
            <a:r>
              <a:t>· 'Isto aplica-se a outras equipas?' — O método sim (fila única, critério escrito, capacidade visível); a ferramenta foi feita à medida de uma equipa pequena de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c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6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Ag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893F568-8935-45A3-B895-084FC57C0B51}"/>
              </a:ext>
            </a:extLst>
          </p:cNvPr>
          <p:cNvGrpSpPr/>
          <p:nvPr userDrawn="1"/>
        </p:nvGrpSpPr>
        <p:grpSpPr>
          <a:xfrm>
            <a:off x="152400" y="6286674"/>
            <a:ext cx="11899900" cy="448638"/>
            <a:chOff x="152400" y="6286674"/>
            <a:chExt cx="11899900" cy="44863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B255448-13AA-40CF-93D3-D9211DB0F5D3}"/>
                </a:ext>
              </a:extLst>
            </p:cNvPr>
            <p:cNvGrpSpPr/>
            <p:nvPr/>
          </p:nvGrpSpPr>
          <p:grpSpPr>
            <a:xfrm>
              <a:off x="152400" y="6286674"/>
              <a:ext cx="11899900" cy="0"/>
              <a:chOff x="-1371600" y="6360106"/>
              <a:chExt cx="11899900" cy="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E169838-196F-4564-A49B-CB641732D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600" y="6360106"/>
                <a:ext cx="11899900" cy="0"/>
              </a:xfrm>
              <a:prstGeom prst="line">
                <a:avLst/>
              </a:prstGeom>
              <a:noFill/>
              <a:ln w="9525">
                <a:solidFill>
                  <a:srgbClr val="6365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210CC3C-0482-499B-9FAB-8688DA728E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2000" y="6360106"/>
                <a:ext cx="900000" cy="0"/>
              </a:xfrm>
              <a:prstGeom prst="line">
                <a:avLst/>
              </a:prstGeom>
              <a:noFill/>
              <a:ln w="285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B160B84-1B66-4C61-BB52-0AAF4F2F350B}"/>
                </a:ext>
              </a:extLst>
            </p:cNvPr>
            <p:cNvGrpSpPr/>
            <p:nvPr userDrawn="1"/>
          </p:nvGrpSpPr>
          <p:grpSpPr>
            <a:xfrm>
              <a:off x="5686910" y="6410325"/>
              <a:ext cx="818181" cy="324987"/>
              <a:chOff x="2948464" y="2727075"/>
              <a:chExt cx="477202" cy="189547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0363797-853E-4E14-BB3F-58BD31AA0089}"/>
                  </a:ext>
                </a:extLst>
              </p:cNvPr>
              <p:cNvSpPr/>
              <p:nvPr/>
            </p:nvSpPr>
            <p:spPr>
              <a:xfrm>
                <a:off x="3139916" y="2858520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7144" y="30956"/>
                    </a:moveTo>
                    <a:lnTo>
                      <a:pt x="11906" y="30004"/>
                    </a:lnTo>
                    <a:cubicBezTo>
                      <a:pt x="11906" y="31909"/>
                      <a:pt x="12859" y="33814"/>
                      <a:pt x="14764" y="34766"/>
                    </a:cubicBezTo>
                    <a:cubicBezTo>
                      <a:pt x="15716" y="35719"/>
                      <a:pt x="17621" y="36671"/>
                      <a:pt x="20479" y="36671"/>
                    </a:cubicBezTo>
                    <a:cubicBezTo>
                      <a:pt x="23336" y="36671"/>
                      <a:pt x="24289" y="35719"/>
                      <a:pt x="26194" y="34766"/>
                    </a:cubicBezTo>
                    <a:cubicBezTo>
                      <a:pt x="28099" y="33814"/>
                      <a:pt x="28099" y="32861"/>
                      <a:pt x="28099" y="30956"/>
                    </a:cubicBezTo>
                    <a:cubicBezTo>
                      <a:pt x="28099" y="30004"/>
                      <a:pt x="27146" y="29051"/>
                      <a:pt x="26194" y="28099"/>
                    </a:cubicBezTo>
                    <a:cubicBezTo>
                      <a:pt x="25241" y="28099"/>
                      <a:pt x="23336" y="27146"/>
                      <a:pt x="20479" y="26194"/>
                    </a:cubicBezTo>
                    <a:cubicBezTo>
                      <a:pt x="16669" y="25241"/>
                      <a:pt x="13811" y="24289"/>
                      <a:pt x="12859" y="23336"/>
                    </a:cubicBezTo>
                    <a:cubicBezTo>
                      <a:pt x="10954" y="22384"/>
                      <a:pt x="10001" y="21431"/>
                      <a:pt x="9049" y="20479"/>
                    </a:cubicBezTo>
                    <a:cubicBezTo>
                      <a:pt x="8096" y="19526"/>
                      <a:pt x="8096" y="17621"/>
                      <a:pt x="8096" y="16669"/>
                    </a:cubicBezTo>
                    <a:cubicBezTo>
                      <a:pt x="8096" y="15716"/>
                      <a:pt x="8096" y="13811"/>
                      <a:pt x="9049" y="12859"/>
                    </a:cubicBezTo>
                    <a:cubicBezTo>
                      <a:pt x="10001" y="11906"/>
                      <a:pt x="10954" y="10954"/>
                      <a:pt x="11906" y="10001"/>
                    </a:cubicBezTo>
                    <a:cubicBezTo>
                      <a:pt x="12859" y="9049"/>
                      <a:pt x="13811" y="9049"/>
                      <a:pt x="14764" y="8096"/>
                    </a:cubicBezTo>
                    <a:cubicBezTo>
                      <a:pt x="15716" y="8096"/>
                      <a:pt x="17621" y="7144"/>
                      <a:pt x="19526" y="7144"/>
                    </a:cubicBezTo>
                    <a:cubicBezTo>
                      <a:pt x="22384" y="7144"/>
                      <a:pt x="24289" y="7144"/>
                      <a:pt x="26194" y="8096"/>
                    </a:cubicBezTo>
                    <a:cubicBezTo>
                      <a:pt x="28099" y="9049"/>
                      <a:pt x="29051" y="10001"/>
                      <a:pt x="30004" y="10954"/>
                    </a:cubicBezTo>
                    <a:cubicBezTo>
                      <a:pt x="30956" y="11906"/>
                      <a:pt x="31909" y="13811"/>
                      <a:pt x="31909" y="15716"/>
                    </a:cubicBezTo>
                    <a:lnTo>
                      <a:pt x="27146" y="16669"/>
                    </a:lnTo>
                    <a:cubicBezTo>
                      <a:pt x="27146" y="14764"/>
                      <a:pt x="26194" y="13811"/>
                      <a:pt x="25241" y="12859"/>
                    </a:cubicBezTo>
                    <a:cubicBezTo>
                      <a:pt x="24289" y="11906"/>
                      <a:pt x="22384" y="11906"/>
                      <a:pt x="20479" y="11906"/>
                    </a:cubicBezTo>
                    <a:cubicBezTo>
                      <a:pt x="17621" y="11906"/>
                      <a:pt x="16669" y="11906"/>
                      <a:pt x="15716" y="12859"/>
                    </a:cubicBezTo>
                    <a:cubicBezTo>
                      <a:pt x="14764" y="13811"/>
                      <a:pt x="13811" y="14764"/>
                      <a:pt x="13811" y="15716"/>
                    </a:cubicBezTo>
                    <a:cubicBezTo>
                      <a:pt x="13811" y="16669"/>
                      <a:pt x="13811" y="16669"/>
                      <a:pt x="14764" y="17621"/>
                    </a:cubicBezTo>
                    <a:cubicBezTo>
                      <a:pt x="14764" y="18574"/>
                      <a:pt x="15716" y="18574"/>
                      <a:pt x="16669" y="18574"/>
                    </a:cubicBezTo>
                    <a:cubicBezTo>
                      <a:pt x="17621" y="18574"/>
                      <a:pt x="18574" y="19526"/>
                      <a:pt x="21431" y="19526"/>
                    </a:cubicBezTo>
                    <a:cubicBezTo>
                      <a:pt x="25241" y="20479"/>
                      <a:pt x="28099" y="21431"/>
                      <a:pt x="29051" y="22384"/>
                    </a:cubicBezTo>
                    <a:cubicBezTo>
                      <a:pt x="30956" y="23336"/>
                      <a:pt x="31909" y="24289"/>
                      <a:pt x="32861" y="25241"/>
                    </a:cubicBezTo>
                    <a:cubicBezTo>
                      <a:pt x="33814" y="26194"/>
                      <a:pt x="33814" y="28099"/>
                      <a:pt x="33814" y="30004"/>
                    </a:cubicBezTo>
                    <a:cubicBezTo>
                      <a:pt x="33814" y="31909"/>
                      <a:pt x="32861" y="33814"/>
                      <a:pt x="31909" y="34766"/>
                    </a:cubicBezTo>
                    <a:cubicBezTo>
                      <a:pt x="30956" y="36671"/>
                      <a:pt x="29051" y="37624"/>
                      <a:pt x="27146" y="38576"/>
                    </a:cubicBezTo>
                    <a:cubicBezTo>
                      <a:pt x="25241" y="39529"/>
                      <a:pt x="23336" y="39529"/>
                      <a:pt x="20479" y="39529"/>
                    </a:cubicBezTo>
                    <a:cubicBezTo>
                      <a:pt x="16669" y="39529"/>
                      <a:pt x="13811" y="38576"/>
                      <a:pt x="10954" y="36671"/>
                    </a:cubicBezTo>
                    <a:cubicBezTo>
                      <a:pt x="9049" y="36671"/>
                      <a:pt x="8096" y="33814"/>
                      <a:pt x="7144" y="3095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D0FB4E41-B176-43FD-881F-DF35814087C8}"/>
                  </a:ext>
                </a:extLst>
              </p:cNvPr>
              <p:cNvSpPr/>
              <p:nvPr/>
            </p:nvSpPr>
            <p:spPr>
              <a:xfrm>
                <a:off x="3177064" y="2860425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11906" y="19526"/>
                    </a:moveTo>
                    <a:lnTo>
                      <a:pt x="29051" y="19526"/>
                    </a:lnTo>
                    <a:cubicBezTo>
                      <a:pt x="29051" y="16669"/>
                      <a:pt x="28099" y="14764"/>
                      <a:pt x="27146" y="13811"/>
                    </a:cubicBezTo>
                    <a:cubicBezTo>
                      <a:pt x="25241" y="11906"/>
                      <a:pt x="23336" y="10954"/>
                      <a:pt x="20479" y="10954"/>
                    </a:cubicBezTo>
                    <a:cubicBezTo>
                      <a:pt x="17621" y="10954"/>
                      <a:pt x="15716" y="11906"/>
                      <a:pt x="14764" y="13811"/>
                    </a:cubicBezTo>
                    <a:cubicBezTo>
                      <a:pt x="13811" y="14764"/>
                      <a:pt x="12859" y="16669"/>
                      <a:pt x="11906" y="19526"/>
                    </a:cubicBezTo>
                    <a:moveTo>
                      <a:pt x="29051" y="28099"/>
                    </a:moveTo>
                    <a:lnTo>
                      <a:pt x="34766" y="29051"/>
                    </a:lnTo>
                    <a:cubicBezTo>
                      <a:pt x="33814" y="31909"/>
                      <a:pt x="31909" y="34766"/>
                      <a:pt x="30004" y="36671"/>
                    </a:cubicBezTo>
                    <a:cubicBezTo>
                      <a:pt x="28099" y="38576"/>
                      <a:pt x="25241" y="39529"/>
                      <a:pt x="21431" y="39529"/>
                    </a:cubicBezTo>
                    <a:cubicBezTo>
                      <a:pt x="16669" y="39529"/>
                      <a:pt x="13811" y="38576"/>
                      <a:pt x="10954" y="35719"/>
                    </a:cubicBezTo>
                    <a:cubicBezTo>
                      <a:pt x="8096" y="32861"/>
                      <a:pt x="7144" y="29051"/>
                      <a:pt x="7144" y="24289"/>
                    </a:cubicBezTo>
                    <a:cubicBezTo>
                      <a:pt x="7144" y="19526"/>
                      <a:pt x="8096" y="14764"/>
                      <a:pt x="10954" y="11906"/>
                    </a:cubicBezTo>
                    <a:cubicBezTo>
                      <a:pt x="13811" y="9049"/>
                      <a:pt x="16669" y="7144"/>
                      <a:pt x="21431" y="7144"/>
                    </a:cubicBezTo>
                    <a:cubicBezTo>
                      <a:pt x="25241" y="7144"/>
                      <a:pt x="29051" y="8096"/>
                      <a:pt x="31909" y="10954"/>
                    </a:cubicBezTo>
                    <a:cubicBezTo>
                      <a:pt x="34766" y="13811"/>
                      <a:pt x="35719" y="17621"/>
                      <a:pt x="35719" y="22384"/>
                    </a:cubicBezTo>
                    <a:cubicBezTo>
                      <a:pt x="35719" y="22384"/>
                      <a:pt x="35719" y="23336"/>
                      <a:pt x="35719" y="23336"/>
                    </a:cubicBezTo>
                    <a:lnTo>
                      <a:pt x="12859" y="23336"/>
                    </a:lnTo>
                    <a:cubicBezTo>
                      <a:pt x="12859" y="27146"/>
                      <a:pt x="13811" y="29051"/>
                      <a:pt x="15716" y="30956"/>
                    </a:cubicBezTo>
                    <a:cubicBezTo>
                      <a:pt x="17621" y="32861"/>
                      <a:pt x="19526" y="33814"/>
                      <a:pt x="22384" y="33814"/>
                    </a:cubicBezTo>
                    <a:cubicBezTo>
                      <a:pt x="24289" y="33814"/>
                      <a:pt x="26194" y="32861"/>
                      <a:pt x="27146" y="31909"/>
                    </a:cubicBezTo>
                    <a:cubicBezTo>
                      <a:pt x="27146" y="31909"/>
                      <a:pt x="29051" y="30004"/>
                      <a:pt x="29051" y="28099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CC3A6293-C8CD-41A7-A510-E363DEEA9C68}"/>
                  </a:ext>
                </a:extLst>
              </p:cNvPr>
              <p:cNvSpPr/>
              <p:nvPr/>
            </p:nvSpPr>
            <p:spPr>
              <a:xfrm>
                <a:off x="3216116" y="2859472"/>
                <a:ext cx="38100" cy="5715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57150">
                    <a:moveTo>
                      <a:pt x="11906" y="23336"/>
                    </a:moveTo>
                    <a:cubicBezTo>
                      <a:pt x="11906" y="27146"/>
                      <a:pt x="12859" y="30004"/>
                      <a:pt x="14764" y="31909"/>
                    </a:cubicBezTo>
                    <a:cubicBezTo>
                      <a:pt x="16669" y="33814"/>
                      <a:pt x="18574" y="34766"/>
                      <a:pt x="20479" y="34766"/>
                    </a:cubicBezTo>
                    <a:cubicBezTo>
                      <a:pt x="23336" y="34766"/>
                      <a:pt x="25241" y="33814"/>
                      <a:pt x="26194" y="31909"/>
                    </a:cubicBezTo>
                    <a:cubicBezTo>
                      <a:pt x="28099" y="30004"/>
                      <a:pt x="29051" y="27146"/>
                      <a:pt x="29051" y="23336"/>
                    </a:cubicBezTo>
                    <a:cubicBezTo>
                      <a:pt x="29051" y="19526"/>
                      <a:pt x="28099" y="16669"/>
                      <a:pt x="26194" y="14764"/>
                    </a:cubicBezTo>
                    <a:cubicBezTo>
                      <a:pt x="24289" y="12859"/>
                      <a:pt x="22384" y="11906"/>
                      <a:pt x="20479" y="11906"/>
                    </a:cubicBezTo>
                    <a:cubicBezTo>
                      <a:pt x="18574" y="11906"/>
                      <a:pt x="16669" y="12859"/>
                      <a:pt x="14764" y="14764"/>
                    </a:cubicBezTo>
                    <a:cubicBezTo>
                      <a:pt x="12859" y="16669"/>
                      <a:pt x="11906" y="19526"/>
                      <a:pt x="11906" y="23336"/>
                    </a:cubicBezTo>
                    <a:moveTo>
                      <a:pt x="8096" y="41434"/>
                    </a:moveTo>
                    <a:lnTo>
                      <a:pt x="12859" y="42386"/>
                    </a:lnTo>
                    <a:cubicBezTo>
                      <a:pt x="12859" y="44291"/>
                      <a:pt x="13811" y="45244"/>
                      <a:pt x="14764" y="46196"/>
                    </a:cubicBezTo>
                    <a:cubicBezTo>
                      <a:pt x="15716" y="47149"/>
                      <a:pt x="17621" y="48101"/>
                      <a:pt x="20479" y="48101"/>
                    </a:cubicBezTo>
                    <a:cubicBezTo>
                      <a:pt x="23336" y="48101"/>
                      <a:pt x="24289" y="47149"/>
                      <a:pt x="26194" y="46196"/>
                    </a:cubicBezTo>
                    <a:cubicBezTo>
                      <a:pt x="27146" y="45244"/>
                      <a:pt x="28099" y="44291"/>
                      <a:pt x="29051" y="42386"/>
                    </a:cubicBezTo>
                    <a:cubicBezTo>
                      <a:pt x="29051" y="41434"/>
                      <a:pt x="29051" y="39529"/>
                      <a:pt x="29051" y="35719"/>
                    </a:cubicBezTo>
                    <a:cubicBezTo>
                      <a:pt x="27146" y="38576"/>
                      <a:pt x="24289" y="39529"/>
                      <a:pt x="20479" y="39529"/>
                    </a:cubicBezTo>
                    <a:cubicBezTo>
                      <a:pt x="16669" y="39529"/>
                      <a:pt x="12859" y="37624"/>
                      <a:pt x="10954" y="34766"/>
                    </a:cubicBezTo>
                    <a:cubicBezTo>
                      <a:pt x="9049" y="31909"/>
                      <a:pt x="7144" y="28099"/>
                      <a:pt x="7144" y="23336"/>
                    </a:cubicBezTo>
                    <a:cubicBezTo>
                      <a:pt x="7144" y="20479"/>
                      <a:pt x="8096" y="17621"/>
                      <a:pt x="9049" y="14764"/>
                    </a:cubicBezTo>
                    <a:cubicBezTo>
                      <a:pt x="10001" y="11906"/>
                      <a:pt x="11906" y="10001"/>
                      <a:pt x="13811" y="9049"/>
                    </a:cubicBezTo>
                    <a:cubicBezTo>
                      <a:pt x="15716" y="8096"/>
                      <a:pt x="18574" y="7144"/>
                      <a:pt x="20479" y="7144"/>
                    </a:cubicBezTo>
                    <a:cubicBezTo>
                      <a:pt x="24289" y="7144"/>
                      <a:pt x="27146" y="9049"/>
                      <a:pt x="29051" y="11906"/>
                    </a:cubicBezTo>
                    <a:lnTo>
                      <a:pt x="29051" y="8096"/>
                    </a:lnTo>
                    <a:lnTo>
                      <a:pt x="33814" y="8096"/>
                    </a:lnTo>
                    <a:lnTo>
                      <a:pt x="33814" y="34766"/>
                    </a:lnTo>
                    <a:cubicBezTo>
                      <a:pt x="33814" y="39529"/>
                      <a:pt x="32861" y="43339"/>
                      <a:pt x="31909" y="45244"/>
                    </a:cubicBezTo>
                    <a:cubicBezTo>
                      <a:pt x="30956" y="47149"/>
                      <a:pt x="29051" y="49054"/>
                      <a:pt x="27146" y="50006"/>
                    </a:cubicBezTo>
                    <a:cubicBezTo>
                      <a:pt x="25241" y="50959"/>
                      <a:pt x="22384" y="51911"/>
                      <a:pt x="19526" y="51911"/>
                    </a:cubicBezTo>
                    <a:cubicBezTo>
                      <a:pt x="15716" y="51911"/>
                      <a:pt x="12859" y="50959"/>
                      <a:pt x="10954" y="49054"/>
                    </a:cubicBezTo>
                    <a:cubicBezTo>
                      <a:pt x="9049" y="47149"/>
                      <a:pt x="8096" y="44291"/>
                      <a:pt x="8096" y="41434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C8245823-44CE-44E1-8D24-308E7EF22D39}"/>
                  </a:ext>
                </a:extLst>
              </p:cNvPr>
              <p:cNvSpPr/>
              <p:nvPr/>
            </p:nvSpPr>
            <p:spPr>
              <a:xfrm>
                <a:off x="3257074" y="2859472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27146" y="38576"/>
                    </a:moveTo>
                    <a:lnTo>
                      <a:pt x="27146" y="33814"/>
                    </a:lnTo>
                    <a:cubicBezTo>
                      <a:pt x="24289" y="37624"/>
                      <a:pt x="21431" y="38576"/>
                      <a:pt x="17621" y="38576"/>
                    </a:cubicBezTo>
                    <a:cubicBezTo>
                      <a:pt x="15716" y="38576"/>
                      <a:pt x="13811" y="38576"/>
                      <a:pt x="12859" y="37624"/>
                    </a:cubicBezTo>
                    <a:cubicBezTo>
                      <a:pt x="10954" y="36671"/>
                      <a:pt x="10001" y="35719"/>
                      <a:pt x="9049" y="34766"/>
                    </a:cubicBezTo>
                    <a:cubicBezTo>
                      <a:pt x="8096" y="33814"/>
                      <a:pt x="8096" y="32861"/>
                      <a:pt x="7144" y="30956"/>
                    </a:cubicBezTo>
                    <a:cubicBezTo>
                      <a:pt x="7144" y="30004"/>
                      <a:pt x="7144" y="28099"/>
                      <a:pt x="7144" y="26194"/>
                    </a:cubicBezTo>
                    <a:lnTo>
                      <a:pt x="7144" y="7144"/>
                    </a:lnTo>
                    <a:lnTo>
                      <a:pt x="11906" y="7144"/>
                    </a:lnTo>
                    <a:lnTo>
                      <a:pt x="11906" y="24289"/>
                    </a:lnTo>
                    <a:cubicBezTo>
                      <a:pt x="11906" y="27146"/>
                      <a:pt x="11906" y="29051"/>
                      <a:pt x="11906" y="30004"/>
                    </a:cubicBezTo>
                    <a:cubicBezTo>
                      <a:pt x="11906" y="30956"/>
                      <a:pt x="12859" y="32861"/>
                      <a:pt x="13811" y="32861"/>
                    </a:cubicBezTo>
                    <a:cubicBezTo>
                      <a:pt x="14764" y="33814"/>
                      <a:pt x="16669" y="33814"/>
                      <a:pt x="17621" y="33814"/>
                    </a:cubicBezTo>
                    <a:cubicBezTo>
                      <a:pt x="19526" y="33814"/>
                      <a:pt x="20479" y="33814"/>
                      <a:pt x="22384" y="32861"/>
                    </a:cubicBezTo>
                    <a:cubicBezTo>
                      <a:pt x="23336" y="31909"/>
                      <a:pt x="24289" y="30956"/>
                      <a:pt x="25241" y="30004"/>
                    </a:cubicBezTo>
                    <a:cubicBezTo>
                      <a:pt x="26194" y="29051"/>
                      <a:pt x="26194" y="26194"/>
                      <a:pt x="26194" y="24289"/>
                    </a:cubicBezTo>
                    <a:lnTo>
                      <a:pt x="26194" y="8096"/>
                    </a:lnTo>
                    <a:lnTo>
                      <a:pt x="30956" y="8096"/>
                    </a:lnTo>
                    <a:lnTo>
                      <a:pt x="30956" y="38576"/>
                    </a:lnTo>
                    <a:lnTo>
                      <a:pt x="27146" y="38576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7E7070E-407A-4DC4-84C4-C3CE2FC9FCFC}"/>
                  </a:ext>
                </a:extLst>
              </p:cNvPr>
              <p:cNvSpPr/>
              <p:nvPr/>
            </p:nvSpPr>
            <p:spPr>
              <a:xfrm>
                <a:off x="3296126" y="2859472"/>
                <a:ext cx="28575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28575" h="38100">
                    <a:moveTo>
                      <a:pt x="7144" y="38576"/>
                    </a:moveTo>
                    <a:lnTo>
                      <a:pt x="7144" y="8096"/>
                    </a:lnTo>
                    <a:lnTo>
                      <a:pt x="11906" y="8096"/>
                    </a:lnTo>
                    <a:lnTo>
                      <a:pt x="11906" y="12859"/>
                    </a:lnTo>
                    <a:cubicBezTo>
                      <a:pt x="12859" y="10954"/>
                      <a:pt x="13811" y="9049"/>
                      <a:pt x="14764" y="8096"/>
                    </a:cubicBezTo>
                    <a:cubicBezTo>
                      <a:pt x="15716" y="7144"/>
                      <a:pt x="16669" y="7144"/>
                      <a:pt x="18574" y="7144"/>
                    </a:cubicBezTo>
                    <a:cubicBezTo>
                      <a:pt x="20479" y="7144"/>
                      <a:pt x="22384" y="8096"/>
                      <a:pt x="24289" y="9049"/>
                    </a:cubicBezTo>
                    <a:lnTo>
                      <a:pt x="22384" y="13811"/>
                    </a:lnTo>
                    <a:cubicBezTo>
                      <a:pt x="21431" y="12859"/>
                      <a:pt x="19526" y="12859"/>
                      <a:pt x="18574" y="12859"/>
                    </a:cubicBezTo>
                    <a:cubicBezTo>
                      <a:pt x="17621" y="12859"/>
                      <a:pt x="16669" y="12859"/>
                      <a:pt x="15716" y="13811"/>
                    </a:cubicBezTo>
                    <a:cubicBezTo>
                      <a:pt x="14764" y="14764"/>
                      <a:pt x="13811" y="15716"/>
                      <a:pt x="13811" y="16669"/>
                    </a:cubicBezTo>
                    <a:cubicBezTo>
                      <a:pt x="12859" y="18574"/>
                      <a:pt x="12859" y="20479"/>
                      <a:pt x="12859" y="22384"/>
                    </a:cubicBezTo>
                    <a:lnTo>
                      <a:pt x="12859" y="38576"/>
                    </a:lnTo>
                    <a:lnTo>
                      <a:pt x="7144" y="38576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D3DCAD8-7D2D-40C3-BA6A-93DFF3ED42C6}"/>
                  </a:ext>
                </a:extLst>
              </p:cNvPr>
              <p:cNvSpPr/>
              <p:nvPr/>
            </p:nvSpPr>
            <p:spPr>
              <a:xfrm>
                <a:off x="3320891" y="2859472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11906" y="23336"/>
                    </a:moveTo>
                    <a:cubicBezTo>
                      <a:pt x="11906" y="27146"/>
                      <a:pt x="12859" y="30004"/>
                      <a:pt x="14764" y="31909"/>
                    </a:cubicBezTo>
                    <a:cubicBezTo>
                      <a:pt x="16669" y="33814"/>
                      <a:pt x="18574" y="34766"/>
                      <a:pt x="21431" y="34766"/>
                    </a:cubicBezTo>
                    <a:cubicBezTo>
                      <a:pt x="24289" y="34766"/>
                      <a:pt x="26194" y="33814"/>
                      <a:pt x="28099" y="31909"/>
                    </a:cubicBezTo>
                    <a:cubicBezTo>
                      <a:pt x="30004" y="30004"/>
                      <a:pt x="30956" y="27146"/>
                      <a:pt x="30956" y="23336"/>
                    </a:cubicBezTo>
                    <a:cubicBezTo>
                      <a:pt x="30956" y="19526"/>
                      <a:pt x="30004" y="16669"/>
                      <a:pt x="28099" y="14764"/>
                    </a:cubicBezTo>
                    <a:cubicBezTo>
                      <a:pt x="26194" y="12859"/>
                      <a:pt x="24289" y="11906"/>
                      <a:pt x="21431" y="11906"/>
                    </a:cubicBezTo>
                    <a:cubicBezTo>
                      <a:pt x="18574" y="11906"/>
                      <a:pt x="16669" y="12859"/>
                      <a:pt x="14764" y="14764"/>
                    </a:cubicBezTo>
                    <a:cubicBezTo>
                      <a:pt x="12859" y="16669"/>
                      <a:pt x="11906" y="19526"/>
                      <a:pt x="11906" y="23336"/>
                    </a:cubicBezTo>
                    <a:moveTo>
                      <a:pt x="7144" y="23336"/>
                    </a:moveTo>
                    <a:cubicBezTo>
                      <a:pt x="7144" y="17621"/>
                      <a:pt x="9049" y="13811"/>
                      <a:pt x="11906" y="10954"/>
                    </a:cubicBezTo>
                    <a:cubicBezTo>
                      <a:pt x="14764" y="9049"/>
                      <a:pt x="17621" y="7144"/>
                      <a:pt x="21431" y="7144"/>
                    </a:cubicBezTo>
                    <a:cubicBezTo>
                      <a:pt x="25241" y="7144"/>
                      <a:pt x="29051" y="8096"/>
                      <a:pt x="31909" y="10954"/>
                    </a:cubicBezTo>
                    <a:cubicBezTo>
                      <a:pt x="34766" y="13811"/>
                      <a:pt x="35719" y="17621"/>
                      <a:pt x="35719" y="22384"/>
                    </a:cubicBezTo>
                    <a:cubicBezTo>
                      <a:pt x="35719" y="26194"/>
                      <a:pt x="34766" y="29051"/>
                      <a:pt x="33814" y="31909"/>
                    </a:cubicBezTo>
                    <a:cubicBezTo>
                      <a:pt x="32861" y="33814"/>
                      <a:pt x="30956" y="35719"/>
                      <a:pt x="29051" y="37624"/>
                    </a:cubicBezTo>
                    <a:cubicBezTo>
                      <a:pt x="27146" y="38576"/>
                      <a:pt x="24289" y="39529"/>
                      <a:pt x="21431" y="39529"/>
                    </a:cubicBezTo>
                    <a:cubicBezTo>
                      <a:pt x="16669" y="39529"/>
                      <a:pt x="13811" y="38576"/>
                      <a:pt x="10954" y="35719"/>
                    </a:cubicBezTo>
                    <a:cubicBezTo>
                      <a:pt x="8096" y="32861"/>
                      <a:pt x="7144" y="29051"/>
                      <a:pt x="7144" y="2333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CD6C98B-BCD6-4E6D-B4F3-CEFA82867A31}"/>
                  </a:ext>
                </a:extLst>
              </p:cNvPr>
              <p:cNvSpPr/>
              <p:nvPr/>
            </p:nvSpPr>
            <p:spPr>
              <a:xfrm>
                <a:off x="3359944" y="2858520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7144" y="30956"/>
                    </a:moveTo>
                    <a:lnTo>
                      <a:pt x="11906" y="30004"/>
                    </a:lnTo>
                    <a:cubicBezTo>
                      <a:pt x="11906" y="31909"/>
                      <a:pt x="12859" y="33814"/>
                      <a:pt x="14764" y="34766"/>
                    </a:cubicBezTo>
                    <a:cubicBezTo>
                      <a:pt x="15716" y="35719"/>
                      <a:pt x="17621" y="36671"/>
                      <a:pt x="20479" y="36671"/>
                    </a:cubicBezTo>
                    <a:cubicBezTo>
                      <a:pt x="23336" y="36671"/>
                      <a:pt x="24289" y="35719"/>
                      <a:pt x="26194" y="34766"/>
                    </a:cubicBezTo>
                    <a:cubicBezTo>
                      <a:pt x="27146" y="33814"/>
                      <a:pt x="28099" y="32861"/>
                      <a:pt x="28099" y="30956"/>
                    </a:cubicBezTo>
                    <a:cubicBezTo>
                      <a:pt x="28099" y="30004"/>
                      <a:pt x="27146" y="29051"/>
                      <a:pt x="26194" y="28099"/>
                    </a:cubicBezTo>
                    <a:cubicBezTo>
                      <a:pt x="25241" y="28099"/>
                      <a:pt x="23336" y="27146"/>
                      <a:pt x="20479" y="26194"/>
                    </a:cubicBezTo>
                    <a:cubicBezTo>
                      <a:pt x="16669" y="25241"/>
                      <a:pt x="13811" y="24289"/>
                      <a:pt x="12859" y="23336"/>
                    </a:cubicBezTo>
                    <a:cubicBezTo>
                      <a:pt x="10954" y="22384"/>
                      <a:pt x="10001" y="21431"/>
                      <a:pt x="9049" y="20479"/>
                    </a:cubicBezTo>
                    <a:cubicBezTo>
                      <a:pt x="8096" y="19526"/>
                      <a:pt x="8096" y="17621"/>
                      <a:pt x="8096" y="16669"/>
                    </a:cubicBezTo>
                    <a:cubicBezTo>
                      <a:pt x="8096" y="15716"/>
                      <a:pt x="8096" y="13811"/>
                      <a:pt x="9049" y="12859"/>
                    </a:cubicBezTo>
                    <a:cubicBezTo>
                      <a:pt x="10001" y="11906"/>
                      <a:pt x="10954" y="10954"/>
                      <a:pt x="11906" y="10001"/>
                    </a:cubicBezTo>
                    <a:cubicBezTo>
                      <a:pt x="12859" y="9049"/>
                      <a:pt x="13811" y="9049"/>
                      <a:pt x="14764" y="8096"/>
                    </a:cubicBezTo>
                    <a:cubicBezTo>
                      <a:pt x="15716" y="8096"/>
                      <a:pt x="17621" y="7144"/>
                      <a:pt x="19526" y="7144"/>
                    </a:cubicBezTo>
                    <a:cubicBezTo>
                      <a:pt x="22384" y="7144"/>
                      <a:pt x="24289" y="7144"/>
                      <a:pt x="26194" y="8096"/>
                    </a:cubicBezTo>
                    <a:cubicBezTo>
                      <a:pt x="28099" y="9049"/>
                      <a:pt x="29051" y="10001"/>
                      <a:pt x="30004" y="10954"/>
                    </a:cubicBezTo>
                    <a:cubicBezTo>
                      <a:pt x="30956" y="11906"/>
                      <a:pt x="31909" y="13811"/>
                      <a:pt x="31909" y="15716"/>
                    </a:cubicBezTo>
                    <a:lnTo>
                      <a:pt x="27146" y="16669"/>
                    </a:lnTo>
                    <a:cubicBezTo>
                      <a:pt x="27146" y="14764"/>
                      <a:pt x="26194" y="13811"/>
                      <a:pt x="25241" y="12859"/>
                    </a:cubicBezTo>
                    <a:cubicBezTo>
                      <a:pt x="24289" y="11906"/>
                      <a:pt x="22384" y="11906"/>
                      <a:pt x="20479" y="11906"/>
                    </a:cubicBezTo>
                    <a:cubicBezTo>
                      <a:pt x="17621" y="11906"/>
                      <a:pt x="16669" y="11906"/>
                      <a:pt x="15716" y="12859"/>
                    </a:cubicBezTo>
                    <a:cubicBezTo>
                      <a:pt x="14764" y="13811"/>
                      <a:pt x="13811" y="14764"/>
                      <a:pt x="13811" y="15716"/>
                    </a:cubicBezTo>
                    <a:cubicBezTo>
                      <a:pt x="13811" y="16669"/>
                      <a:pt x="13811" y="16669"/>
                      <a:pt x="14764" y="17621"/>
                    </a:cubicBezTo>
                    <a:cubicBezTo>
                      <a:pt x="14764" y="18574"/>
                      <a:pt x="15716" y="18574"/>
                      <a:pt x="16669" y="18574"/>
                    </a:cubicBezTo>
                    <a:cubicBezTo>
                      <a:pt x="17621" y="18574"/>
                      <a:pt x="18574" y="19526"/>
                      <a:pt x="21431" y="19526"/>
                    </a:cubicBezTo>
                    <a:cubicBezTo>
                      <a:pt x="25241" y="20479"/>
                      <a:pt x="28099" y="21431"/>
                      <a:pt x="29051" y="22384"/>
                    </a:cubicBezTo>
                    <a:cubicBezTo>
                      <a:pt x="30956" y="23336"/>
                      <a:pt x="31909" y="24289"/>
                      <a:pt x="32861" y="25241"/>
                    </a:cubicBezTo>
                    <a:cubicBezTo>
                      <a:pt x="33814" y="26194"/>
                      <a:pt x="33814" y="28099"/>
                      <a:pt x="33814" y="30004"/>
                    </a:cubicBezTo>
                    <a:cubicBezTo>
                      <a:pt x="33814" y="31909"/>
                      <a:pt x="32861" y="33814"/>
                      <a:pt x="31909" y="34766"/>
                    </a:cubicBezTo>
                    <a:cubicBezTo>
                      <a:pt x="30956" y="36671"/>
                      <a:pt x="29051" y="37624"/>
                      <a:pt x="27146" y="38576"/>
                    </a:cubicBezTo>
                    <a:cubicBezTo>
                      <a:pt x="25241" y="39529"/>
                      <a:pt x="23336" y="39529"/>
                      <a:pt x="20479" y="39529"/>
                    </a:cubicBezTo>
                    <a:cubicBezTo>
                      <a:pt x="16669" y="39529"/>
                      <a:pt x="13811" y="38576"/>
                      <a:pt x="10954" y="36671"/>
                    </a:cubicBezTo>
                    <a:cubicBezTo>
                      <a:pt x="9049" y="36671"/>
                      <a:pt x="8096" y="33814"/>
                      <a:pt x="7144" y="3095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9035778-FF97-4190-A519-0F14B7E0E049}"/>
                  </a:ext>
                </a:extLst>
              </p:cNvPr>
              <p:cNvSpPr/>
              <p:nvPr/>
            </p:nvSpPr>
            <p:spPr>
              <a:xfrm>
                <a:off x="2948464" y="2728027"/>
                <a:ext cx="457200" cy="161925"/>
              </a:xfrm>
              <a:custGeom>
                <a:avLst/>
                <a:gdLst/>
                <a:ahLst/>
                <a:cxnLst/>
                <a:rect l="0" t="0" r="0" b="0"/>
                <a:pathLst>
                  <a:path w="457200" h="161925">
                    <a:moveTo>
                      <a:pt x="141446" y="98584"/>
                    </a:moveTo>
                    <a:cubicBezTo>
                      <a:pt x="118586" y="98584"/>
                      <a:pt x="115729" y="79534"/>
                      <a:pt x="115729" y="59531"/>
                    </a:cubicBezTo>
                    <a:cubicBezTo>
                      <a:pt x="115729" y="39529"/>
                      <a:pt x="119539" y="20479"/>
                      <a:pt x="141446" y="20479"/>
                    </a:cubicBezTo>
                    <a:cubicBezTo>
                      <a:pt x="164306" y="20479"/>
                      <a:pt x="167164" y="39529"/>
                      <a:pt x="167164" y="59531"/>
                    </a:cubicBezTo>
                    <a:cubicBezTo>
                      <a:pt x="168116" y="79534"/>
                      <a:pt x="164306" y="98584"/>
                      <a:pt x="141446" y="98584"/>
                    </a:cubicBezTo>
                    <a:moveTo>
                      <a:pt x="168116" y="20479"/>
                    </a:moveTo>
                    <a:cubicBezTo>
                      <a:pt x="159544" y="9049"/>
                      <a:pt x="150019" y="7144"/>
                      <a:pt x="138589" y="7144"/>
                    </a:cubicBezTo>
                    <a:cubicBezTo>
                      <a:pt x="128111" y="7144"/>
                      <a:pt x="118586" y="10954"/>
                      <a:pt x="112871" y="16669"/>
                    </a:cubicBezTo>
                    <a:cubicBezTo>
                      <a:pt x="102394" y="27146"/>
                      <a:pt x="100489" y="43339"/>
                      <a:pt x="100489" y="60484"/>
                    </a:cubicBezTo>
                    <a:cubicBezTo>
                      <a:pt x="100489" y="77629"/>
                      <a:pt x="102394" y="93821"/>
                      <a:pt x="112871" y="104299"/>
                    </a:cubicBezTo>
                    <a:cubicBezTo>
                      <a:pt x="118586" y="110014"/>
                      <a:pt x="127159" y="113824"/>
                      <a:pt x="138589" y="113824"/>
                    </a:cubicBezTo>
                    <a:cubicBezTo>
                      <a:pt x="150019" y="113824"/>
                      <a:pt x="159544" y="110966"/>
                      <a:pt x="168116" y="100489"/>
                    </a:cubicBezTo>
                    <a:lnTo>
                      <a:pt x="168116" y="116681"/>
                    </a:lnTo>
                    <a:cubicBezTo>
                      <a:pt x="168116" y="134779"/>
                      <a:pt x="159544" y="149066"/>
                      <a:pt x="139541" y="149066"/>
                    </a:cubicBezTo>
                    <a:cubicBezTo>
                      <a:pt x="127159" y="149066"/>
                      <a:pt x="122396" y="145256"/>
                      <a:pt x="114776" y="138589"/>
                    </a:cubicBezTo>
                    <a:lnTo>
                      <a:pt x="105251" y="148114"/>
                    </a:lnTo>
                    <a:cubicBezTo>
                      <a:pt x="116681" y="157639"/>
                      <a:pt x="125254" y="162401"/>
                      <a:pt x="140494" y="162401"/>
                    </a:cubicBezTo>
                    <a:cubicBezTo>
                      <a:pt x="168116" y="162401"/>
                      <a:pt x="184309" y="143351"/>
                      <a:pt x="184309" y="117634"/>
                    </a:cubicBezTo>
                    <a:lnTo>
                      <a:pt x="184309" y="10001"/>
                    </a:lnTo>
                    <a:lnTo>
                      <a:pt x="169069" y="10001"/>
                    </a:lnTo>
                    <a:lnTo>
                      <a:pt x="169069" y="20479"/>
                    </a:lnTo>
                    <a:close/>
                    <a:moveTo>
                      <a:pt x="74771" y="75724"/>
                    </a:moveTo>
                    <a:cubicBezTo>
                      <a:pt x="74771" y="84296"/>
                      <a:pt x="72866" y="90011"/>
                      <a:pt x="69056" y="93821"/>
                    </a:cubicBezTo>
                    <a:cubicBezTo>
                      <a:pt x="62389" y="100489"/>
                      <a:pt x="54769" y="100489"/>
                      <a:pt x="46196" y="100489"/>
                    </a:cubicBezTo>
                    <a:cubicBezTo>
                      <a:pt x="30004" y="100489"/>
                      <a:pt x="22384" y="94774"/>
                      <a:pt x="22384" y="82391"/>
                    </a:cubicBezTo>
                    <a:cubicBezTo>
                      <a:pt x="22384" y="70009"/>
                      <a:pt x="30004" y="64294"/>
                      <a:pt x="45244" y="64294"/>
                    </a:cubicBezTo>
                    <a:lnTo>
                      <a:pt x="74771" y="64294"/>
                    </a:lnTo>
                    <a:lnTo>
                      <a:pt x="74771" y="75724"/>
                    </a:lnTo>
                    <a:close/>
                    <a:moveTo>
                      <a:pt x="48101" y="7144"/>
                    </a:moveTo>
                    <a:cubicBezTo>
                      <a:pt x="30956" y="7144"/>
                      <a:pt x="20479" y="10954"/>
                      <a:pt x="10954" y="22384"/>
                    </a:cubicBezTo>
                    <a:lnTo>
                      <a:pt x="21431" y="31909"/>
                    </a:lnTo>
                    <a:cubicBezTo>
                      <a:pt x="27146" y="23336"/>
                      <a:pt x="34766" y="19526"/>
                      <a:pt x="48101" y="19526"/>
                    </a:cubicBezTo>
                    <a:cubicBezTo>
                      <a:pt x="67151" y="19526"/>
                      <a:pt x="74771" y="27146"/>
                      <a:pt x="74771" y="42386"/>
                    </a:cubicBezTo>
                    <a:lnTo>
                      <a:pt x="74771" y="51911"/>
                    </a:lnTo>
                    <a:lnTo>
                      <a:pt x="43339" y="51911"/>
                    </a:lnTo>
                    <a:cubicBezTo>
                      <a:pt x="20479" y="51911"/>
                      <a:pt x="7144" y="63341"/>
                      <a:pt x="7144" y="82391"/>
                    </a:cubicBezTo>
                    <a:cubicBezTo>
                      <a:pt x="7144" y="90964"/>
                      <a:pt x="10001" y="98584"/>
                      <a:pt x="14764" y="103346"/>
                    </a:cubicBezTo>
                    <a:cubicBezTo>
                      <a:pt x="21431" y="110014"/>
                      <a:pt x="30004" y="112871"/>
                      <a:pt x="44291" y="112871"/>
                    </a:cubicBezTo>
                    <a:cubicBezTo>
                      <a:pt x="58579" y="112871"/>
                      <a:pt x="66199" y="110014"/>
                      <a:pt x="74771" y="101441"/>
                    </a:cubicBezTo>
                    <a:lnTo>
                      <a:pt x="74771" y="110966"/>
                    </a:lnTo>
                    <a:lnTo>
                      <a:pt x="90011" y="110966"/>
                    </a:lnTo>
                    <a:lnTo>
                      <a:pt x="90011" y="40481"/>
                    </a:lnTo>
                    <a:cubicBezTo>
                      <a:pt x="90011" y="19526"/>
                      <a:pt x="76676" y="7144"/>
                      <a:pt x="48101" y="7144"/>
                    </a:cubicBezTo>
                    <a:moveTo>
                      <a:pt x="426244" y="53816"/>
                    </a:moveTo>
                    <a:lnTo>
                      <a:pt x="409099" y="51911"/>
                    </a:lnTo>
                    <a:cubicBezTo>
                      <a:pt x="395764" y="50959"/>
                      <a:pt x="391001" y="45244"/>
                      <a:pt x="391001" y="36671"/>
                    </a:cubicBezTo>
                    <a:cubicBezTo>
                      <a:pt x="391001" y="26194"/>
                      <a:pt x="398621" y="19526"/>
                      <a:pt x="413861" y="19526"/>
                    </a:cubicBezTo>
                    <a:cubicBezTo>
                      <a:pt x="424339" y="19526"/>
                      <a:pt x="433864" y="22384"/>
                      <a:pt x="441484" y="28099"/>
                    </a:cubicBezTo>
                    <a:lnTo>
                      <a:pt x="451009" y="18574"/>
                    </a:lnTo>
                    <a:cubicBezTo>
                      <a:pt x="441484" y="10954"/>
                      <a:pt x="428149" y="7144"/>
                      <a:pt x="413861" y="7144"/>
                    </a:cubicBezTo>
                    <a:cubicBezTo>
                      <a:pt x="391954" y="7144"/>
                      <a:pt x="375761" y="18574"/>
                      <a:pt x="375761" y="37624"/>
                    </a:cubicBezTo>
                    <a:cubicBezTo>
                      <a:pt x="375761" y="54769"/>
                      <a:pt x="386239" y="64294"/>
                      <a:pt x="407194" y="65246"/>
                    </a:cubicBezTo>
                    <a:lnTo>
                      <a:pt x="424339" y="67151"/>
                    </a:lnTo>
                    <a:cubicBezTo>
                      <a:pt x="436721" y="68104"/>
                      <a:pt x="441484" y="72866"/>
                      <a:pt x="441484" y="82391"/>
                    </a:cubicBezTo>
                    <a:cubicBezTo>
                      <a:pt x="441484" y="94774"/>
                      <a:pt x="431006" y="100489"/>
                      <a:pt x="413861" y="100489"/>
                    </a:cubicBezTo>
                    <a:cubicBezTo>
                      <a:pt x="400526" y="100489"/>
                      <a:pt x="390049" y="96679"/>
                      <a:pt x="381476" y="88106"/>
                    </a:cubicBezTo>
                    <a:lnTo>
                      <a:pt x="370999" y="98584"/>
                    </a:lnTo>
                    <a:cubicBezTo>
                      <a:pt x="382429" y="110014"/>
                      <a:pt x="395764" y="113824"/>
                      <a:pt x="413861" y="113824"/>
                    </a:cubicBezTo>
                    <a:cubicBezTo>
                      <a:pt x="439579" y="113824"/>
                      <a:pt x="456724" y="102394"/>
                      <a:pt x="456724" y="82391"/>
                    </a:cubicBezTo>
                    <a:cubicBezTo>
                      <a:pt x="456724" y="62389"/>
                      <a:pt x="444341" y="55721"/>
                      <a:pt x="426244" y="5381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3111E819-3687-414D-BEDA-D3BEA936AA33}"/>
                  </a:ext>
                </a:extLst>
              </p:cNvPr>
              <p:cNvSpPr/>
              <p:nvPr/>
            </p:nvSpPr>
            <p:spPr>
              <a:xfrm>
                <a:off x="3136433" y="2727075"/>
                <a:ext cx="180975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180975" h="114300">
                    <a:moveTo>
                      <a:pt x="162074" y="76676"/>
                    </a:moveTo>
                    <a:cubicBezTo>
                      <a:pt x="162074" y="81439"/>
                      <a:pt x="162074" y="86201"/>
                      <a:pt x="159217" y="90964"/>
                    </a:cubicBezTo>
                    <a:cubicBezTo>
                      <a:pt x="157312" y="94774"/>
                      <a:pt x="153502" y="97631"/>
                      <a:pt x="149692" y="99536"/>
                    </a:cubicBezTo>
                    <a:cubicBezTo>
                      <a:pt x="144929" y="101441"/>
                      <a:pt x="140167" y="102394"/>
                      <a:pt x="135404" y="102394"/>
                    </a:cubicBezTo>
                    <a:cubicBezTo>
                      <a:pt x="130642" y="102394"/>
                      <a:pt x="125879" y="102394"/>
                      <a:pt x="122069" y="101441"/>
                    </a:cubicBezTo>
                    <a:cubicBezTo>
                      <a:pt x="115402" y="99536"/>
                      <a:pt x="110639" y="95726"/>
                      <a:pt x="108734" y="89059"/>
                    </a:cubicBezTo>
                    <a:cubicBezTo>
                      <a:pt x="107782" y="82391"/>
                      <a:pt x="108734" y="74771"/>
                      <a:pt x="114449" y="70961"/>
                    </a:cubicBezTo>
                    <a:cubicBezTo>
                      <a:pt x="119212" y="67151"/>
                      <a:pt x="125879" y="66199"/>
                      <a:pt x="132547" y="66199"/>
                    </a:cubicBezTo>
                    <a:lnTo>
                      <a:pt x="161122" y="66199"/>
                    </a:lnTo>
                    <a:cubicBezTo>
                      <a:pt x="163027" y="65246"/>
                      <a:pt x="162074" y="75724"/>
                      <a:pt x="162074" y="76676"/>
                    </a:cubicBezTo>
                    <a:moveTo>
                      <a:pt x="24914" y="36671"/>
                    </a:moveTo>
                    <a:cubicBezTo>
                      <a:pt x="30629" y="23336"/>
                      <a:pt x="45869" y="17621"/>
                      <a:pt x="58252" y="22384"/>
                    </a:cubicBezTo>
                    <a:cubicBezTo>
                      <a:pt x="64919" y="24289"/>
                      <a:pt x="69682" y="29051"/>
                      <a:pt x="72539" y="34766"/>
                    </a:cubicBezTo>
                    <a:cubicBezTo>
                      <a:pt x="75397" y="40481"/>
                      <a:pt x="76349" y="47149"/>
                      <a:pt x="76349" y="53816"/>
                    </a:cubicBezTo>
                    <a:lnTo>
                      <a:pt x="21104" y="53816"/>
                    </a:lnTo>
                    <a:cubicBezTo>
                      <a:pt x="22057" y="48101"/>
                      <a:pt x="22057" y="42386"/>
                      <a:pt x="24914" y="36671"/>
                    </a:cubicBezTo>
                    <a:moveTo>
                      <a:pt x="176362" y="31909"/>
                    </a:moveTo>
                    <a:cubicBezTo>
                      <a:pt x="174457" y="24289"/>
                      <a:pt x="169694" y="17621"/>
                      <a:pt x="163027" y="13811"/>
                    </a:cubicBezTo>
                    <a:cubicBezTo>
                      <a:pt x="154454" y="9049"/>
                      <a:pt x="144929" y="7144"/>
                      <a:pt x="135404" y="7144"/>
                    </a:cubicBezTo>
                    <a:cubicBezTo>
                      <a:pt x="123974" y="7144"/>
                      <a:pt x="111592" y="9049"/>
                      <a:pt x="103019" y="17621"/>
                    </a:cubicBezTo>
                    <a:cubicBezTo>
                      <a:pt x="102067" y="18574"/>
                      <a:pt x="98257" y="22384"/>
                      <a:pt x="98257" y="23336"/>
                    </a:cubicBezTo>
                    <a:cubicBezTo>
                      <a:pt x="99209" y="24289"/>
                      <a:pt x="100162" y="25241"/>
                      <a:pt x="101114" y="26194"/>
                    </a:cubicBezTo>
                    <a:cubicBezTo>
                      <a:pt x="103019" y="28099"/>
                      <a:pt x="105877" y="30956"/>
                      <a:pt x="107782" y="32861"/>
                    </a:cubicBezTo>
                    <a:cubicBezTo>
                      <a:pt x="112544" y="26194"/>
                      <a:pt x="118259" y="22384"/>
                      <a:pt x="126832" y="21431"/>
                    </a:cubicBezTo>
                    <a:cubicBezTo>
                      <a:pt x="134452" y="20479"/>
                      <a:pt x="143977" y="20479"/>
                      <a:pt x="151597" y="24289"/>
                    </a:cubicBezTo>
                    <a:cubicBezTo>
                      <a:pt x="157312" y="27146"/>
                      <a:pt x="160169" y="32861"/>
                      <a:pt x="161122" y="39529"/>
                    </a:cubicBezTo>
                    <a:cubicBezTo>
                      <a:pt x="161122" y="40481"/>
                      <a:pt x="161122" y="53816"/>
                      <a:pt x="161122" y="53816"/>
                    </a:cubicBezTo>
                    <a:lnTo>
                      <a:pt x="132547" y="53816"/>
                    </a:lnTo>
                    <a:cubicBezTo>
                      <a:pt x="125879" y="53816"/>
                      <a:pt x="119212" y="53816"/>
                      <a:pt x="113497" y="56674"/>
                    </a:cubicBezTo>
                    <a:cubicBezTo>
                      <a:pt x="103972" y="59531"/>
                      <a:pt x="97304" y="67151"/>
                      <a:pt x="91589" y="74771"/>
                    </a:cubicBezTo>
                    <a:cubicBezTo>
                      <a:pt x="85874" y="81439"/>
                      <a:pt x="82064" y="88106"/>
                      <a:pt x="75397" y="92869"/>
                    </a:cubicBezTo>
                    <a:cubicBezTo>
                      <a:pt x="71587" y="96679"/>
                      <a:pt x="66824" y="98584"/>
                      <a:pt x="62062" y="100489"/>
                    </a:cubicBezTo>
                    <a:cubicBezTo>
                      <a:pt x="57299" y="101441"/>
                      <a:pt x="52537" y="101441"/>
                      <a:pt x="47774" y="101441"/>
                    </a:cubicBezTo>
                    <a:cubicBezTo>
                      <a:pt x="41107" y="100489"/>
                      <a:pt x="34439" y="97631"/>
                      <a:pt x="29677" y="91916"/>
                    </a:cubicBezTo>
                    <a:cubicBezTo>
                      <a:pt x="24914" y="86201"/>
                      <a:pt x="23009" y="77629"/>
                      <a:pt x="22057" y="70009"/>
                    </a:cubicBezTo>
                    <a:cubicBezTo>
                      <a:pt x="22057" y="68104"/>
                      <a:pt x="22057" y="66199"/>
                      <a:pt x="22057" y="65246"/>
                    </a:cubicBezTo>
                    <a:lnTo>
                      <a:pt x="90637" y="65246"/>
                    </a:lnTo>
                    <a:lnTo>
                      <a:pt x="92542" y="65246"/>
                    </a:lnTo>
                    <a:lnTo>
                      <a:pt x="92542" y="62389"/>
                    </a:lnTo>
                    <a:lnTo>
                      <a:pt x="92542" y="58579"/>
                    </a:lnTo>
                    <a:cubicBezTo>
                      <a:pt x="92542" y="43339"/>
                      <a:pt x="88732" y="27146"/>
                      <a:pt x="76349" y="16669"/>
                    </a:cubicBezTo>
                    <a:cubicBezTo>
                      <a:pt x="64919" y="7144"/>
                      <a:pt x="47774" y="5239"/>
                      <a:pt x="34439" y="10954"/>
                    </a:cubicBezTo>
                    <a:cubicBezTo>
                      <a:pt x="20152" y="16669"/>
                      <a:pt x="11579" y="30004"/>
                      <a:pt x="8722" y="44291"/>
                    </a:cubicBezTo>
                    <a:cubicBezTo>
                      <a:pt x="6817" y="53816"/>
                      <a:pt x="6817" y="63341"/>
                      <a:pt x="7769" y="72866"/>
                    </a:cubicBezTo>
                    <a:cubicBezTo>
                      <a:pt x="8722" y="80486"/>
                      <a:pt x="10627" y="89059"/>
                      <a:pt x="14437" y="95726"/>
                    </a:cubicBezTo>
                    <a:cubicBezTo>
                      <a:pt x="21104" y="108109"/>
                      <a:pt x="33487" y="114776"/>
                      <a:pt x="47774" y="115729"/>
                    </a:cubicBezTo>
                    <a:cubicBezTo>
                      <a:pt x="57299" y="116681"/>
                      <a:pt x="66824" y="115729"/>
                      <a:pt x="76349" y="110966"/>
                    </a:cubicBezTo>
                    <a:cubicBezTo>
                      <a:pt x="84922" y="107156"/>
                      <a:pt x="93494" y="97631"/>
                      <a:pt x="99209" y="90011"/>
                    </a:cubicBezTo>
                    <a:cubicBezTo>
                      <a:pt x="100162" y="96679"/>
                      <a:pt x="103019" y="105251"/>
                      <a:pt x="108734" y="109061"/>
                    </a:cubicBezTo>
                    <a:cubicBezTo>
                      <a:pt x="113497" y="112871"/>
                      <a:pt x="120164" y="113824"/>
                      <a:pt x="125879" y="114776"/>
                    </a:cubicBezTo>
                    <a:cubicBezTo>
                      <a:pt x="133499" y="115729"/>
                      <a:pt x="141119" y="115729"/>
                      <a:pt x="147787" y="113824"/>
                    </a:cubicBezTo>
                    <a:cubicBezTo>
                      <a:pt x="153502" y="111919"/>
                      <a:pt x="159217" y="109061"/>
                      <a:pt x="163979" y="104299"/>
                    </a:cubicBezTo>
                    <a:lnTo>
                      <a:pt x="163979" y="113824"/>
                    </a:lnTo>
                    <a:cubicBezTo>
                      <a:pt x="163979" y="113824"/>
                      <a:pt x="164932" y="113824"/>
                      <a:pt x="164932" y="113824"/>
                    </a:cubicBezTo>
                    <a:cubicBezTo>
                      <a:pt x="165884" y="113824"/>
                      <a:pt x="179219" y="113824"/>
                      <a:pt x="179219" y="113824"/>
                    </a:cubicBezTo>
                    <a:lnTo>
                      <a:pt x="179219" y="55721"/>
                    </a:lnTo>
                    <a:cubicBezTo>
                      <a:pt x="177314" y="48101"/>
                      <a:pt x="178267" y="39529"/>
                      <a:pt x="176362" y="31909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5802AD2-0757-4F64-A180-EE059C26851D}"/>
                  </a:ext>
                </a:extLst>
              </p:cNvPr>
              <p:cNvSpPr/>
              <p:nvPr/>
            </p:nvSpPr>
            <p:spPr>
              <a:xfrm>
                <a:off x="3397091" y="2818515"/>
                <a:ext cx="28575" cy="28575"/>
              </a:xfrm>
              <a:custGeom>
                <a:avLst/>
                <a:gdLst/>
                <a:ahLst/>
                <a:cxnLst/>
                <a:rect l="0" t="0" r="0" b="0"/>
                <a:pathLst>
                  <a:path w="28575" h="28575">
                    <a:moveTo>
                      <a:pt x="15716" y="12859"/>
                    </a:moveTo>
                    <a:lnTo>
                      <a:pt x="13811" y="12859"/>
                    </a:lnTo>
                    <a:lnTo>
                      <a:pt x="13811" y="15716"/>
                    </a:lnTo>
                    <a:lnTo>
                      <a:pt x="15716" y="15716"/>
                    </a:lnTo>
                    <a:cubicBezTo>
                      <a:pt x="16669" y="15716"/>
                      <a:pt x="17621" y="14764"/>
                      <a:pt x="17621" y="13811"/>
                    </a:cubicBezTo>
                    <a:cubicBezTo>
                      <a:pt x="17621" y="13811"/>
                      <a:pt x="16669" y="12859"/>
                      <a:pt x="15716" y="12859"/>
                    </a:cubicBezTo>
                    <a:moveTo>
                      <a:pt x="17621" y="20479"/>
                    </a:moveTo>
                    <a:lnTo>
                      <a:pt x="15716" y="16669"/>
                    </a:lnTo>
                    <a:lnTo>
                      <a:pt x="14764" y="16669"/>
                    </a:lnTo>
                    <a:lnTo>
                      <a:pt x="14764" y="20479"/>
                    </a:lnTo>
                    <a:lnTo>
                      <a:pt x="12859" y="20479"/>
                    </a:lnTo>
                    <a:lnTo>
                      <a:pt x="12859" y="10954"/>
                    </a:lnTo>
                    <a:lnTo>
                      <a:pt x="15716" y="10954"/>
                    </a:lnTo>
                    <a:cubicBezTo>
                      <a:pt x="17621" y="10954"/>
                      <a:pt x="18574" y="11906"/>
                      <a:pt x="18574" y="13811"/>
                    </a:cubicBezTo>
                    <a:cubicBezTo>
                      <a:pt x="18574" y="14764"/>
                      <a:pt x="17621" y="15716"/>
                      <a:pt x="16669" y="16669"/>
                    </a:cubicBezTo>
                    <a:lnTo>
                      <a:pt x="18574" y="20479"/>
                    </a:lnTo>
                    <a:lnTo>
                      <a:pt x="17621" y="20479"/>
                    </a:lnTo>
                    <a:close/>
                    <a:moveTo>
                      <a:pt x="15716" y="9049"/>
                    </a:moveTo>
                    <a:cubicBezTo>
                      <a:pt x="11906" y="9049"/>
                      <a:pt x="9049" y="11906"/>
                      <a:pt x="9049" y="15716"/>
                    </a:cubicBezTo>
                    <a:cubicBezTo>
                      <a:pt x="9049" y="19526"/>
                      <a:pt x="11906" y="22384"/>
                      <a:pt x="15716" y="22384"/>
                    </a:cubicBezTo>
                    <a:cubicBezTo>
                      <a:pt x="19526" y="22384"/>
                      <a:pt x="22384" y="19526"/>
                      <a:pt x="22384" y="15716"/>
                    </a:cubicBezTo>
                    <a:cubicBezTo>
                      <a:pt x="22384" y="11906"/>
                      <a:pt x="19526" y="9049"/>
                      <a:pt x="15716" y="9049"/>
                    </a:cubicBezTo>
                    <a:moveTo>
                      <a:pt x="15716" y="24289"/>
                    </a:moveTo>
                    <a:cubicBezTo>
                      <a:pt x="10954" y="24289"/>
                      <a:pt x="7144" y="20479"/>
                      <a:pt x="7144" y="15716"/>
                    </a:cubicBezTo>
                    <a:cubicBezTo>
                      <a:pt x="7144" y="10954"/>
                      <a:pt x="10954" y="7144"/>
                      <a:pt x="15716" y="7144"/>
                    </a:cubicBezTo>
                    <a:cubicBezTo>
                      <a:pt x="20479" y="7144"/>
                      <a:pt x="24289" y="10954"/>
                      <a:pt x="24289" y="15716"/>
                    </a:cubicBezTo>
                    <a:cubicBezTo>
                      <a:pt x="24289" y="20479"/>
                      <a:pt x="19526" y="24289"/>
                      <a:pt x="15716" y="24289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717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Ageas c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C7470C98-A2F1-408C-A2A5-A91BEC1DB41C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0356FCC5-A48F-4693-913B-02BA1D1F8F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5" name="Retângulo 42">
            <a:extLst>
              <a:ext uri="{FF2B5EF4-FFF2-40B4-BE49-F238E27FC236}">
                <a16:creationId xmlns:a16="http://schemas.microsoft.com/office/drawing/2014/main" id="{668F0368-778C-474C-8838-00F675341DDE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8038219-D1CD-47B9-8ED7-C556501209AE}"/>
              </a:ext>
            </a:extLst>
          </p:cNvPr>
          <p:cNvGrpSpPr/>
          <p:nvPr userDrawn="1"/>
        </p:nvGrpSpPr>
        <p:grpSpPr>
          <a:xfrm>
            <a:off x="152400" y="6286674"/>
            <a:ext cx="11899900" cy="448638"/>
            <a:chOff x="152400" y="6286674"/>
            <a:chExt cx="11899900" cy="44863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E0B85BD-928C-433A-A0C3-B8DCBBDF9304}"/>
                </a:ext>
              </a:extLst>
            </p:cNvPr>
            <p:cNvGrpSpPr/>
            <p:nvPr/>
          </p:nvGrpSpPr>
          <p:grpSpPr>
            <a:xfrm>
              <a:off x="152400" y="6286674"/>
              <a:ext cx="11899900" cy="0"/>
              <a:chOff x="-1371600" y="6360106"/>
              <a:chExt cx="11899900" cy="0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E941672-6D68-4920-BEBD-9563C5C54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600" y="6360106"/>
                <a:ext cx="11899900" cy="0"/>
              </a:xfrm>
              <a:prstGeom prst="line">
                <a:avLst/>
              </a:prstGeom>
              <a:noFill/>
              <a:ln w="9525">
                <a:solidFill>
                  <a:srgbClr val="6365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C795D3A-B534-4602-BFE1-F688F861E3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2000" y="6360106"/>
                <a:ext cx="900000" cy="0"/>
              </a:xfrm>
              <a:prstGeom prst="line">
                <a:avLst/>
              </a:prstGeom>
              <a:noFill/>
              <a:ln w="28575">
                <a:solidFill>
                  <a:schemeClr val="accent4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D7838CE-0E78-49C4-A189-E7645DBBC429}"/>
                </a:ext>
              </a:extLst>
            </p:cNvPr>
            <p:cNvGrpSpPr/>
            <p:nvPr userDrawn="1"/>
          </p:nvGrpSpPr>
          <p:grpSpPr>
            <a:xfrm>
              <a:off x="5686910" y="6410325"/>
              <a:ext cx="818181" cy="324987"/>
              <a:chOff x="2948464" y="2727075"/>
              <a:chExt cx="477202" cy="189547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C1E13ED8-2441-4FDE-A738-8CC8620AACE1}"/>
                  </a:ext>
                </a:extLst>
              </p:cNvPr>
              <p:cNvSpPr/>
              <p:nvPr/>
            </p:nvSpPr>
            <p:spPr>
              <a:xfrm>
                <a:off x="3139916" y="2858520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7144" y="30956"/>
                    </a:moveTo>
                    <a:lnTo>
                      <a:pt x="11906" y="30004"/>
                    </a:lnTo>
                    <a:cubicBezTo>
                      <a:pt x="11906" y="31909"/>
                      <a:pt x="12859" y="33814"/>
                      <a:pt x="14764" y="34766"/>
                    </a:cubicBezTo>
                    <a:cubicBezTo>
                      <a:pt x="15716" y="35719"/>
                      <a:pt x="17621" y="36671"/>
                      <a:pt x="20479" y="36671"/>
                    </a:cubicBezTo>
                    <a:cubicBezTo>
                      <a:pt x="23336" y="36671"/>
                      <a:pt x="24289" y="35719"/>
                      <a:pt x="26194" y="34766"/>
                    </a:cubicBezTo>
                    <a:cubicBezTo>
                      <a:pt x="28099" y="33814"/>
                      <a:pt x="28099" y="32861"/>
                      <a:pt x="28099" y="30956"/>
                    </a:cubicBezTo>
                    <a:cubicBezTo>
                      <a:pt x="28099" y="30004"/>
                      <a:pt x="27146" y="29051"/>
                      <a:pt x="26194" y="28099"/>
                    </a:cubicBezTo>
                    <a:cubicBezTo>
                      <a:pt x="25241" y="28099"/>
                      <a:pt x="23336" y="27146"/>
                      <a:pt x="20479" y="26194"/>
                    </a:cubicBezTo>
                    <a:cubicBezTo>
                      <a:pt x="16669" y="25241"/>
                      <a:pt x="13811" y="24289"/>
                      <a:pt x="12859" y="23336"/>
                    </a:cubicBezTo>
                    <a:cubicBezTo>
                      <a:pt x="10954" y="22384"/>
                      <a:pt x="10001" y="21431"/>
                      <a:pt x="9049" y="20479"/>
                    </a:cubicBezTo>
                    <a:cubicBezTo>
                      <a:pt x="8096" y="19526"/>
                      <a:pt x="8096" y="17621"/>
                      <a:pt x="8096" y="16669"/>
                    </a:cubicBezTo>
                    <a:cubicBezTo>
                      <a:pt x="8096" y="15716"/>
                      <a:pt x="8096" y="13811"/>
                      <a:pt x="9049" y="12859"/>
                    </a:cubicBezTo>
                    <a:cubicBezTo>
                      <a:pt x="10001" y="11906"/>
                      <a:pt x="10954" y="10954"/>
                      <a:pt x="11906" y="10001"/>
                    </a:cubicBezTo>
                    <a:cubicBezTo>
                      <a:pt x="12859" y="9049"/>
                      <a:pt x="13811" y="9049"/>
                      <a:pt x="14764" y="8096"/>
                    </a:cubicBezTo>
                    <a:cubicBezTo>
                      <a:pt x="15716" y="8096"/>
                      <a:pt x="17621" y="7144"/>
                      <a:pt x="19526" y="7144"/>
                    </a:cubicBezTo>
                    <a:cubicBezTo>
                      <a:pt x="22384" y="7144"/>
                      <a:pt x="24289" y="7144"/>
                      <a:pt x="26194" y="8096"/>
                    </a:cubicBezTo>
                    <a:cubicBezTo>
                      <a:pt x="28099" y="9049"/>
                      <a:pt x="29051" y="10001"/>
                      <a:pt x="30004" y="10954"/>
                    </a:cubicBezTo>
                    <a:cubicBezTo>
                      <a:pt x="30956" y="11906"/>
                      <a:pt x="31909" y="13811"/>
                      <a:pt x="31909" y="15716"/>
                    </a:cubicBezTo>
                    <a:lnTo>
                      <a:pt x="27146" y="16669"/>
                    </a:lnTo>
                    <a:cubicBezTo>
                      <a:pt x="27146" y="14764"/>
                      <a:pt x="26194" y="13811"/>
                      <a:pt x="25241" y="12859"/>
                    </a:cubicBezTo>
                    <a:cubicBezTo>
                      <a:pt x="24289" y="11906"/>
                      <a:pt x="22384" y="11906"/>
                      <a:pt x="20479" y="11906"/>
                    </a:cubicBezTo>
                    <a:cubicBezTo>
                      <a:pt x="17621" y="11906"/>
                      <a:pt x="16669" y="11906"/>
                      <a:pt x="15716" y="12859"/>
                    </a:cubicBezTo>
                    <a:cubicBezTo>
                      <a:pt x="14764" y="13811"/>
                      <a:pt x="13811" y="14764"/>
                      <a:pt x="13811" y="15716"/>
                    </a:cubicBezTo>
                    <a:cubicBezTo>
                      <a:pt x="13811" y="16669"/>
                      <a:pt x="13811" y="16669"/>
                      <a:pt x="14764" y="17621"/>
                    </a:cubicBezTo>
                    <a:cubicBezTo>
                      <a:pt x="14764" y="18574"/>
                      <a:pt x="15716" y="18574"/>
                      <a:pt x="16669" y="18574"/>
                    </a:cubicBezTo>
                    <a:cubicBezTo>
                      <a:pt x="17621" y="18574"/>
                      <a:pt x="18574" y="19526"/>
                      <a:pt x="21431" y="19526"/>
                    </a:cubicBezTo>
                    <a:cubicBezTo>
                      <a:pt x="25241" y="20479"/>
                      <a:pt x="28099" y="21431"/>
                      <a:pt x="29051" y="22384"/>
                    </a:cubicBezTo>
                    <a:cubicBezTo>
                      <a:pt x="30956" y="23336"/>
                      <a:pt x="31909" y="24289"/>
                      <a:pt x="32861" y="25241"/>
                    </a:cubicBezTo>
                    <a:cubicBezTo>
                      <a:pt x="33814" y="26194"/>
                      <a:pt x="33814" y="28099"/>
                      <a:pt x="33814" y="30004"/>
                    </a:cubicBezTo>
                    <a:cubicBezTo>
                      <a:pt x="33814" y="31909"/>
                      <a:pt x="32861" y="33814"/>
                      <a:pt x="31909" y="34766"/>
                    </a:cubicBezTo>
                    <a:cubicBezTo>
                      <a:pt x="30956" y="36671"/>
                      <a:pt x="29051" y="37624"/>
                      <a:pt x="27146" y="38576"/>
                    </a:cubicBezTo>
                    <a:cubicBezTo>
                      <a:pt x="25241" y="39529"/>
                      <a:pt x="23336" y="39529"/>
                      <a:pt x="20479" y="39529"/>
                    </a:cubicBezTo>
                    <a:cubicBezTo>
                      <a:pt x="16669" y="39529"/>
                      <a:pt x="13811" y="38576"/>
                      <a:pt x="10954" y="36671"/>
                    </a:cubicBezTo>
                    <a:cubicBezTo>
                      <a:pt x="9049" y="36671"/>
                      <a:pt x="8096" y="33814"/>
                      <a:pt x="7144" y="3095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6A2ACA1-0D09-45A3-949C-A8EE07A38E0F}"/>
                  </a:ext>
                </a:extLst>
              </p:cNvPr>
              <p:cNvSpPr/>
              <p:nvPr/>
            </p:nvSpPr>
            <p:spPr>
              <a:xfrm>
                <a:off x="3177064" y="2860425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11906" y="19526"/>
                    </a:moveTo>
                    <a:lnTo>
                      <a:pt x="29051" y="19526"/>
                    </a:lnTo>
                    <a:cubicBezTo>
                      <a:pt x="29051" y="16669"/>
                      <a:pt x="28099" y="14764"/>
                      <a:pt x="27146" y="13811"/>
                    </a:cubicBezTo>
                    <a:cubicBezTo>
                      <a:pt x="25241" y="11906"/>
                      <a:pt x="23336" y="10954"/>
                      <a:pt x="20479" y="10954"/>
                    </a:cubicBezTo>
                    <a:cubicBezTo>
                      <a:pt x="17621" y="10954"/>
                      <a:pt x="15716" y="11906"/>
                      <a:pt x="14764" y="13811"/>
                    </a:cubicBezTo>
                    <a:cubicBezTo>
                      <a:pt x="13811" y="14764"/>
                      <a:pt x="12859" y="16669"/>
                      <a:pt x="11906" y="19526"/>
                    </a:cubicBezTo>
                    <a:moveTo>
                      <a:pt x="29051" y="28099"/>
                    </a:moveTo>
                    <a:lnTo>
                      <a:pt x="34766" y="29051"/>
                    </a:lnTo>
                    <a:cubicBezTo>
                      <a:pt x="33814" y="31909"/>
                      <a:pt x="31909" y="34766"/>
                      <a:pt x="30004" y="36671"/>
                    </a:cubicBezTo>
                    <a:cubicBezTo>
                      <a:pt x="28099" y="38576"/>
                      <a:pt x="25241" y="39529"/>
                      <a:pt x="21431" y="39529"/>
                    </a:cubicBezTo>
                    <a:cubicBezTo>
                      <a:pt x="16669" y="39529"/>
                      <a:pt x="13811" y="38576"/>
                      <a:pt x="10954" y="35719"/>
                    </a:cubicBezTo>
                    <a:cubicBezTo>
                      <a:pt x="8096" y="32861"/>
                      <a:pt x="7144" y="29051"/>
                      <a:pt x="7144" y="24289"/>
                    </a:cubicBezTo>
                    <a:cubicBezTo>
                      <a:pt x="7144" y="19526"/>
                      <a:pt x="8096" y="14764"/>
                      <a:pt x="10954" y="11906"/>
                    </a:cubicBezTo>
                    <a:cubicBezTo>
                      <a:pt x="13811" y="9049"/>
                      <a:pt x="16669" y="7144"/>
                      <a:pt x="21431" y="7144"/>
                    </a:cubicBezTo>
                    <a:cubicBezTo>
                      <a:pt x="25241" y="7144"/>
                      <a:pt x="29051" y="8096"/>
                      <a:pt x="31909" y="10954"/>
                    </a:cubicBezTo>
                    <a:cubicBezTo>
                      <a:pt x="34766" y="13811"/>
                      <a:pt x="35719" y="17621"/>
                      <a:pt x="35719" y="22384"/>
                    </a:cubicBezTo>
                    <a:cubicBezTo>
                      <a:pt x="35719" y="22384"/>
                      <a:pt x="35719" y="23336"/>
                      <a:pt x="35719" y="23336"/>
                    </a:cubicBezTo>
                    <a:lnTo>
                      <a:pt x="12859" y="23336"/>
                    </a:lnTo>
                    <a:cubicBezTo>
                      <a:pt x="12859" y="27146"/>
                      <a:pt x="13811" y="29051"/>
                      <a:pt x="15716" y="30956"/>
                    </a:cubicBezTo>
                    <a:cubicBezTo>
                      <a:pt x="17621" y="32861"/>
                      <a:pt x="19526" y="33814"/>
                      <a:pt x="22384" y="33814"/>
                    </a:cubicBezTo>
                    <a:cubicBezTo>
                      <a:pt x="24289" y="33814"/>
                      <a:pt x="26194" y="32861"/>
                      <a:pt x="27146" y="31909"/>
                    </a:cubicBezTo>
                    <a:cubicBezTo>
                      <a:pt x="27146" y="31909"/>
                      <a:pt x="29051" y="30004"/>
                      <a:pt x="29051" y="28099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B60DEA5-BFEB-4638-A0B2-DE71E6F9F7AC}"/>
                  </a:ext>
                </a:extLst>
              </p:cNvPr>
              <p:cNvSpPr/>
              <p:nvPr/>
            </p:nvSpPr>
            <p:spPr>
              <a:xfrm>
                <a:off x="3216116" y="2859472"/>
                <a:ext cx="38100" cy="5715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57150">
                    <a:moveTo>
                      <a:pt x="11906" y="23336"/>
                    </a:moveTo>
                    <a:cubicBezTo>
                      <a:pt x="11906" y="27146"/>
                      <a:pt x="12859" y="30004"/>
                      <a:pt x="14764" y="31909"/>
                    </a:cubicBezTo>
                    <a:cubicBezTo>
                      <a:pt x="16669" y="33814"/>
                      <a:pt x="18574" y="34766"/>
                      <a:pt x="20479" y="34766"/>
                    </a:cubicBezTo>
                    <a:cubicBezTo>
                      <a:pt x="23336" y="34766"/>
                      <a:pt x="25241" y="33814"/>
                      <a:pt x="26194" y="31909"/>
                    </a:cubicBezTo>
                    <a:cubicBezTo>
                      <a:pt x="28099" y="30004"/>
                      <a:pt x="29051" y="27146"/>
                      <a:pt x="29051" y="23336"/>
                    </a:cubicBezTo>
                    <a:cubicBezTo>
                      <a:pt x="29051" y="19526"/>
                      <a:pt x="28099" y="16669"/>
                      <a:pt x="26194" y="14764"/>
                    </a:cubicBezTo>
                    <a:cubicBezTo>
                      <a:pt x="24289" y="12859"/>
                      <a:pt x="22384" y="11906"/>
                      <a:pt x="20479" y="11906"/>
                    </a:cubicBezTo>
                    <a:cubicBezTo>
                      <a:pt x="18574" y="11906"/>
                      <a:pt x="16669" y="12859"/>
                      <a:pt x="14764" y="14764"/>
                    </a:cubicBezTo>
                    <a:cubicBezTo>
                      <a:pt x="12859" y="16669"/>
                      <a:pt x="11906" y="19526"/>
                      <a:pt x="11906" y="23336"/>
                    </a:cubicBezTo>
                    <a:moveTo>
                      <a:pt x="8096" y="41434"/>
                    </a:moveTo>
                    <a:lnTo>
                      <a:pt x="12859" y="42386"/>
                    </a:lnTo>
                    <a:cubicBezTo>
                      <a:pt x="12859" y="44291"/>
                      <a:pt x="13811" y="45244"/>
                      <a:pt x="14764" y="46196"/>
                    </a:cubicBezTo>
                    <a:cubicBezTo>
                      <a:pt x="15716" y="47149"/>
                      <a:pt x="17621" y="48101"/>
                      <a:pt x="20479" y="48101"/>
                    </a:cubicBezTo>
                    <a:cubicBezTo>
                      <a:pt x="23336" y="48101"/>
                      <a:pt x="24289" y="47149"/>
                      <a:pt x="26194" y="46196"/>
                    </a:cubicBezTo>
                    <a:cubicBezTo>
                      <a:pt x="27146" y="45244"/>
                      <a:pt x="28099" y="44291"/>
                      <a:pt x="29051" y="42386"/>
                    </a:cubicBezTo>
                    <a:cubicBezTo>
                      <a:pt x="29051" y="41434"/>
                      <a:pt x="29051" y="39529"/>
                      <a:pt x="29051" y="35719"/>
                    </a:cubicBezTo>
                    <a:cubicBezTo>
                      <a:pt x="27146" y="38576"/>
                      <a:pt x="24289" y="39529"/>
                      <a:pt x="20479" y="39529"/>
                    </a:cubicBezTo>
                    <a:cubicBezTo>
                      <a:pt x="16669" y="39529"/>
                      <a:pt x="12859" y="37624"/>
                      <a:pt x="10954" y="34766"/>
                    </a:cubicBezTo>
                    <a:cubicBezTo>
                      <a:pt x="9049" y="31909"/>
                      <a:pt x="7144" y="28099"/>
                      <a:pt x="7144" y="23336"/>
                    </a:cubicBezTo>
                    <a:cubicBezTo>
                      <a:pt x="7144" y="20479"/>
                      <a:pt x="8096" y="17621"/>
                      <a:pt x="9049" y="14764"/>
                    </a:cubicBezTo>
                    <a:cubicBezTo>
                      <a:pt x="10001" y="11906"/>
                      <a:pt x="11906" y="10001"/>
                      <a:pt x="13811" y="9049"/>
                    </a:cubicBezTo>
                    <a:cubicBezTo>
                      <a:pt x="15716" y="8096"/>
                      <a:pt x="18574" y="7144"/>
                      <a:pt x="20479" y="7144"/>
                    </a:cubicBezTo>
                    <a:cubicBezTo>
                      <a:pt x="24289" y="7144"/>
                      <a:pt x="27146" y="9049"/>
                      <a:pt x="29051" y="11906"/>
                    </a:cubicBezTo>
                    <a:lnTo>
                      <a:pt x="29051" y="8096"/>
                    </a:lnTo>
                    <a:lnTo>
                      <a:pt x="33814" y="8096"/>
                    </a:lnTo>
                    <a:lnTo>
                      <a:pt x="33814" y="34766"/>
                    </a:lnTo>
                    <a:cubicBezTo>
                      <a:pt x="33814" y="39529"/>
                      <a:pt x="32861" y="43339"/>
                      <a:pt x="31909" y="45244"/>
                    </a:cubicBezTo>
                    <a:cubicBezTo>
                      <a:pt x="30956" y="47149"/>
                      <a:pt x="29051" y="49054"/>
                      <a:pt x="27146" y="50006"/>
                    </a:cubicBezTo>
                    <a:cubicBezTo>
                      <a:pt x="25241" y="50959"/>
                      <a:pt x="22384" y="51911"/>
                      <a:pt x="19526" y="51911"/>
                    </a:cubicBezTo>
                    <a:cubicBezTo>
                      <a:pt x="15716" y="51911"/>
                      <a:pt x="12859" y="50959"/>
                      <a:pt x="10954" y="49054"/>
                    </a:cubicBezTo>
                    <a:cubicBezTo>
                      <a:pt x="9049" y="47149"/>
                      <a:pt x="8096" y="44291"/>
                      <a:pt x="8096" y="41434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9ED6A05D-59FA-4674-A87B-2F35C326B01A}"/>
                  </a:ext>
                </a:extLst>
              </p:cNvPr>
              <p:cNvSpPr/>
              <p:nvPr/>
            </p:nvSpPr>
            <p:spPr>
              <a:xfrm>
                <a:off x="3257074" y="2859472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27146" y="38576"/>
                    </a:moveTo>
                    <a:lnTo>
                      <a:pt x="27146" y="33814"/>
                    </a:lnTo>
                    <a:cubicBezTo>
                      <a:pt x="24289" y="37624"/>
                      <a:pt x="21431" y="38576"/>
                      <a:pt x="17621" y="38576"/>
                    </a:cubicBezTo>
                    <a:cubicBezTo>
                      <a:pt x="15716" y="38576"/>
                      <a:pt x="13811" y="38576"/>
                      <a:pt x="12859" y="37624"/>
                    </a:cubicBezTo>
                    <a:cubicBezTo>
                      <a:pt x="10954" y="36671"/>
                      <a:pt x="10001" y="35719"/>
                      <a:pt x="9049" y="34766"/>
                    </a:cubicBezTo>
                    <a:cubicBezTo>
                      <a:pt x="8096" y="33814"/>
                      <a:pt x="8096" y="32861"/>
                      <a:pt x="7144" y="30956"/>
                    </a:cubicBezTo>
                    <a:cubicBezTo>
                      <a:pt x="7144" y="30004"/>
                      <a:pt x="7144" y="28099"/>
                      <a:pt x="7144" y="26194"/>
                    </a:cubicBezTo>
                    <a:lnTo>
                      <a:pt x="7144" y="7144"/>
                    </a:lnTo>
                    <a:lnTo>
                      <a:pt x="11906" y="7144"/>
                    </a:lnTo>
                    <a:lnTo>
                      <a:pt x="11906" y="24289"/>
                    </a:lnTo>
                    <a:cubicBezTo>
                      <a:pt x="11906" y="27146"/>
                      <a:pt x="11906" y="29051"/>
                      <a:pt x="11906" y="30004"/>
                    </a:cubicBezTo>
                    <a:cubicBezTo>
                      <a:pt x="11906" y="30956"/>
                      <a:pt x="12859" y="32861"/>
                      <a:pt x="13811" y="32861"/>
                    </a:cubicBezTo>
                    <a:cubicBezTo>
                      <a:pt x="14764" y="33814"/>
                      <a:pt x="16669" y="33814"/>
                      <a:pt x="17621" y="33814"/>
                    </a:cubicBezTo>
                    <a:cubicBezTo>
                      <a:pt x="19526" y="33814"/>
                      <a:pt x="20479" y="33814"/>
                      <a:pt x="22384" y="32861"/>
                    </a:cubicBezTo>
                    <a:cubicBezTo>
                      <a:pt x="23336" y="31909"/>
                      <a:pt x="24289" y="30956"/>
                      <a:pt x="25241" y="30004"/>
                    </a:cubicBezTo>
                    <a:cubicBezTo>
                      <a:pt x="26194" y="29051"/>
                      <a:pt x="26194" y="26194"/>
                      <a:pt x="26194" y="24289"/>
                    </a:cubicBezTo>
                    <a:lnTo>
                      <a:pt x="26194" y="8096"/>
                    </a:lnTo>
                    <a:lnTo>
                      <a:pt x="30956" y="8096"/>
                    </a:lnTo>
                    <a:lnTo>
                      <a:pt x="30956" y="38576"/>
                    </a:lnTo>
                    <a:lnTo>
                      <a:pt x="27146" y="38576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F58B54E-D459-4B16-ACC9-126264B63A89}"/>
                  </a:ext>
                </a:extLst>
              </p:cNvPr>
              <p:cNvSpPr/>
              <p:nvPr/>
            </p:nvSpPr>
            <p:spPr>
              <a:xfrm>
                <a:off x="3296126" y="2859472"/>
                <a:ext cx="28575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28575" h="38100">
                    <a:moveTo>
                      <a:pt x="7144" y="38576"/>
                    </a:moveTo>
                    <a:lnTo>
                      <a:pt x="7144" y="8096"/>
                    </a:lnTo>
                    <a:lnTo>
                      <a:pt x="11906" y="8096"/>
                    </a:lnTo>
                    <a:lnTo>
                      <a:pt x="11906" y="12859"/>
                    </a:lnTo>
                    <a:cubicBezTo>
                      <a:pt x="12859" y="10954"/>
                      <a:pt x="13811" y="9049"/>
                      <a:pt x="14764" y="8096"/>
                    </a:cubicBezTo>
                    <a:cubicBezTo>
                      <a:pt x="15716" y="7144"/>
                      <a:pt x="16669" y="7144"/>
                      <a:pt x="18574" y="7144"/>
                    </a:cubicBezTo>
                    <a:cubicBezTo>
                      <a:pt x="20479" y="7144"/>
                      <a:pt x="22384" y="8096"/>
                      <a:pt x="24289" y="9049"/>
                    </a:cubicBezTo>
                    <a:lnTo>
                      <a:pt x="22384" y="13811"/>
                    </a:lnTo>
                    <a:cubicBezTo>
                      <a:pt x="21431" y="12859"/>
                      <a:pt x="19526" y="12859"/>
                      <a:pt x="18574" y="12859"/>
                    </a:cubicBezTo>
                    <a:cubicBezTo>
                      <a:pt x="17621" y="12859"/>
                      <a:pt x="16669" y="12859"/>
                      <a:pt x="15716" y="13811"/>
                    </a:cubicBezTo>
                    <a:cubicBezTo>
                      <a:pt x="14764" y="14764"/>
                      <a:pt x="13811" y="15716"/>
                      <a:pt x="13811" y="16669"/>
                    </a:cubicBezTo>
                    <a:cubicBezTo>
                      <a:pt x="12859" y="18574"/>
                      <a:pt x="12859" y="20479"/>
                      <a:pt x="12859" y="22384"/>
                    </a:cubicBezTo>
                    <a:lnTo>
                      <a:pt x="12859" y="38576"/>
                    </a:lnTo>
                    <a:lnTo>
                      <a:pt x="7144" y="38576"/>
                    </a:ln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7C8260F-C8E9-4885-98DB-20EB8E6679D0}"/>
                  </a:ext>
                </a:extLst>
              </p:cNvPr>
              <p:cNvSpPr/>
              <p:nvPr/>
            </p:nvSpPr>
            <p:spPr>
              <a:xfrm>
                <a:off x="3320891" y="2859472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11906" y="23336"/>
                    </a:moveTo>
                    <a:cubicBezTo>
                      <a:pt x="11906" y="27146"/>
                      <a:pt x="12859" y="30004"/>
                      <a:pt x="14764" y="31909"/>
                    </a:cubicBezTo>
                    <a:cubicBezTo>
                      <a:pt x="16669" y="33814"/>
                      <a:pt x="18574" y="34766"/>
                      <a:pt x="21431" y="34766"/>
                    </a:cubicBezTo>
                    <a:cubicBezTo>
                      <a:pt x="24289" y="34766"/>
                      <a:pt x="26194" y="33814"/>
                      <a:pt x="28099" y="31909"/>
                    </a:cubicBezTo>
                    <a:cubicBezTo>
                      <a:pt x="30004" y="30004"/>
                      <a:pt x="30956" y="27146"/>
                      <a:pt x="30956" y="23336"/>
                    </a:cubicBezTo>
                    <a:cubicBezTo>
                      <a:pt x="30956" y="19526"/>
                      <a:pt x="30004" y="16669"/>
                      <a:pt x="28099" y="14764"/>
                    </a:cubicBezTo>
                    <a:cubicBezTo>
                      <a:pt x="26194" y="12859"/>
                      <a:pt x="24289" y="11906"/>
                      <a:pt x="21431" y="11906"/>
                    </a:cubicBezTo>
                    <a:cubicBezTo>
                      <a:pt x="18574" y="11906"/>
                      <a:pt x="16669" y="12859"/>
                      <a:pt x="14764" y="14764"/>
                    </a:cubicBezTo>
                    <a:cubicBezTo>
                      <a:pt x="12859" y="16669"/>
                      <a:pt x="11906" y="19526"/>
                      <a:pt x="11906" y="23336"/>
                    </a:cubicBezTo>
                    <a:moveTo>
                      <a:pt x="7144" y="23336"/>
                    </a:moveTo>
                    <a:cubicBezTo>
                      <a:pt x="7144" y="17621"/>
                      <a:pt x="9049" y="13811"/>
                      <a:pt x="11906" y="10954"/>
                    </a:cubicBezTo>
                    <a:cubicBezTo>
                      <a:pt x="14764" y="9049"/>
                      <a:pt x="17621" y="7144"/>
                      <a:pt x="21431" y="7144"/>
                    </a:cubicBezTo>
                    <a:cubicBezTo>
                      <a:pt x="25241" y="7144"/>
                      <a:pt x="29051" y="8096"/>
                      <a:pt x="31909" y="10954"/>
                    </a:cubicBezTo>
                    <a:cubicBezTo>
                      <a:pt x="34766" y="13811"/>
                      <a:pt x="35719" y="17621"/>
                      <a:pt x="35719" y="22384"/>
                    </a:cubicBezTo>
                    <a:cubicBezTo>
                      <a:pt x="35719" y="26194"/>
                      <a:pt x="34766" y="29051"/>
                      <a:pt x="33814" y="31909"/>
                    </a:cubicBezTo>
                    <a:cubicBezTo>
                      <a:pt x="32861" y="33814"/>
                      <a:pt x="30956" y="35719"/>
                      <a:pt x="29051" y="37624"/>
                    </a:cubicBezTo>
                    <a:cubicBezTo>
                      <a:pt x="27146" y="38576"/>
                      <a:pt x="24289" y="39529"/>
                      <a:pt x="21431" y="39529"/>
                    </a:cubicBezTo>
                    <a:cubicBezTo>
                      <a:pt x="16669" y="39529"/>
                      <a:pt x="13811" y="38576"/>
                      <a:pt x="10954" y="35719"/>
                    </a:cubicBezTo>
                    <a:cubicBezTo>
                      <a:pt x="8096" y="32861"/>
                      <a:pt x="7144" y="29051"/>
                      <a:pt x="7144" y="2333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DBEB113-8375-4011-A5E3-A15D3D2D42DE}"/>
                  </a:ext>
                </a:extLst>
              </p:cNvPr>
              <p:cNvSpPr/>
              <p:nvPr/>
            </p:nvSpPr>
            <p:spPr>
              <a:xfrm>
                <a:off x="3359944" y="2858520"/>
                <a:ext cx="38100" cy="38100"/>
              </a:xfrm>
              <a:custGeom>
                <a:avLst/>
                <a:gdLst/>
                <a:ahLst/>
                <a:cxnLst/>
                <a:rect l="0" t="0" r="0" b="0"/>
                <a:pathLst>
                  <a:path w="38100" h="38100">
                    <a:moveTo>
                      <a:pt x="7144" y="30956"/>
                    </a:moveTo>
                    <a:lnTo>
                      <a:pt x="11906" y="30004"/>
                    </a:lnTo>
                    <a:cubicBezTo>
                      <a:pt x="11906" y="31909"/>
                      <a:pt x="12859" y="33814"/>
                      <a:pt x="14764" y="34766"/>
                    </a:cubicBezTo>
                    <a:cubicBezTo>
                      <a:pt x="15716" y="35719"/>
                      <a:pt x="17621" y="36671"/>
                      <a:pt x="20479" y="36671"/>
                    </a:cubicBezTo>
                    <a:cubicBezTo>
                      <a:pt x="23336" y="36671"/>
                      <a:pt x="24289" y="35719"/>
                      <a:pt x="26194" y="34766"/>
                    </a:cubicBezTo>
                    <a:cubicBezTo>
                      <a:pt x="27146" y="33814"/>
                      <a:pt x="28099" y="32861"/>
                      <a:pt x="28099" y="30956"/>
                    </a:cubicBezTo>
                    <a:cubicBezTo>
                      <a:pt x="28099" y="30004"/>
                      <a:pt x="27146" y="29051"/>
                      <a:pt x="26194" y="28099"/>
                    </a:cubicBezTo>
                    <a:cubicBezTo>
                      <a:pt x="25241" y="28099"/>
                      <a:pt x="23336" y="27146"/>
                      <a:pt x="20479" y="26194"/>
                    </a:cubicBezTo>
                    <a:cubicBezTo>
                      <a:pt x="16669" y="25241"/>
                      <a:pt x="13811" y="24289"/>
                      <a:pt x="12859" y="23336"/>
                    </a:cubicBezTo>
                    <a:cubicBezTo>
                      <a:pt x="10954" y="22384"/>
                      <a:pt x="10001" y="21431"/>
                      <a:pt x="9049" y="20479"/>
                    </a:cubicBezTo>
                    <a:cubicBezTo>
                      <a:pt x="8096" y="19526"/>
                      <a:pt x="8096" y="17621"/>
                      <a:pt x="8096" y="16669"/>
                    </a:cubicBezTo>
                    <a:cubicBezTo>
                      <a:pt x="8096" y="15716"/>
                      <a:pt x="8096" y="13811"/>
                      <a:pt x="9049" y="12859"/>
                    </a:cubicBezTo>
                    <a:cubicBezTo>
                      <a:pt x="10001" y="11906"/>
                      <a:pt x="10954" y="10954"/>
                      <a:pt x="11906" y="10001"/>
                    </a:cubicBezTo>
                    <a:cubicBezTo>
                      <a:pt x="12859" y="9049"/>
                      <a:pt x="13811" y="9049"/>
                      <a:pt x="14764" y="8096"/>
                    </a:cubicBezTo>
                    <a:cubicBezTo>
                      <a:pt x="15716" y="8096"/>
                      <a:pt x="17621" y="7144"/>
                      <a:pt x="19526" y="7144"/>
                    </a:cubicBezTo>
                    <a:cubicBezTo>
                      <a:pt x="22384" y="7144"/>
                      <a:pt x="24289" y="7144"/>
                      <a:pt x="26194" y="8096"/>
                    </a:cubicBezTo>
                    <a:cubicBezTo>
                      <a:pt x="28099" y="9049"/>
                      <a:pt x="29051" y="10001"/>
                      <a:pt x="30004" y="10954"/>
                    </a:cubicBezTo>
                    <a:cubicBezTo>
                      <a:pt x="30956" y="11906"/>
                      <a:pt x="31909" y="13811"/>
                      <a:pt x="31909" y="15716"/>
                    </a:cubicBezTo>
                    <a:lnTo>
                      <a:pt x="27146" y="16669"/>
                    </a:lnTo>
                    <a:cubicBezTo>
                      <a:pt x="27146" y="14764"/>
                      <a:pt x="26194" y="13811"/>
                      <a:pt x="25241" y="12859"/>
                    </a:cubicBezTo>
                    <a:cubicBezTo>
                      <a:pt x="24289" y="11906"/>
                      <a:pt x="22384" y="11906"/>
                      <a:pt x="20479" y="11906"/>
                    </a:cubicBezTo>
                    <a:cubicBezTo>
                      <a:pt x="17621" y="11906"/>
                      <a:pt x="16669" y="11906"/>
                      <a:pt x="15716" y="12859"/>
                    </a:cubicBezTo>
                    <a:cubicBezTo>
                      <a:pt x="14764" y="13811"/>
                      <a:pt x="13811" y="14764"/>
                      <a:pt x="13811" y="15716"/>
                    </a:cubicBezTo>
                    <a:cubicBezTo>
                      <a:pt x="13811" y="16669"/>
                      <a:pt x="13811" y="16669"/>
                      <a:pt x="14764" y="17621"/>
                    </a:cubicBezTo>
                    <a:cubicBezTo>
                      <a:pt x="14764" y="18574"/>
                      <a:pt x="15716" y="18574"/>
                      <a:pt x="16669" y="18574"/>
                    </a:cubicBezTo>
                    <a:cubicBezTo>
                      <a:pt x="17621" y="18574"/>
                      <a:pt x="18574" y="19526"/>
                      <a:pt x="21431" y="19526"/>
                    </a:cubicBezTo>
                    <a:cubicBezTo>
                      <a:pt x="25241" y="20479"/>
                      <a:pt x="28099" y="21431"/>
                      <a:pt x="29051" y="22384"/>
                    </a:cubicBezTo>
                    <a:cubicBezTo>
                      <a:pt x="30956" y="23336"/>
                      <a:pt x="31909" y="24289"/>
                      <a:pt x="32861" y="25241"/>
                    </a:cubicBezTo>
                    <a:cubicBezTo>
                      <a:pt x="33814" y="26194"/>
                      <a:pt x="33814" y="28099"/>
                      <a:pt x="33814" y="30004"/>
                    </a:cubicBezTo>
                    <a:cubicBezTo>
                      <a:pt x="33814" y="31909"/>
                      <a:pt x="32861" y="33814"/>
                      <a:pt x="31909" y="34766"/>
                    </a:cubicBezTo>
                    <a:cubicBezTo>
                      <a:pt x="30956" y="36671"/>
                      <a:pt x="29051" y="37624"/>
                      <a:pt x="27146" y="38576"/>
                    </a:cubicBezTo>
                    <a:cubicBezTo>
                      <a:pt x="25241" y="39529"/>
                      <a:pt x="23336" y="39529"/>
                      <a:pt x="20479" y="39529"/>
                    </a:cubicBezTo>
                    <a:cubicBezTo>
                      <a:pt x="16669" y="39529"/>
                      <a:pt x="13811" y="38576"/>
                      <a:pt x="10954" y="36671"/>
                    </a:cubicBezTo>
                    <a:cubicBezTo>
                      <a:pt x="9049" y="36671"/>
                      <a:pt x="8096" y="33814"/>
                      <a:pt x="7144" y="3095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5CFCD00-3429-4736-84F0-77FDA440C135}"/>
                  </a:ext>
                </a:extLst>
              </p:cNvPr>
              <p:cNvSpPr/>
              <p:nvPr/>
            </p:nvSpPr>
            <p:spPr>
              <a:xfrm>
                <a:off x="2948464" y="2728027"/>
                <a:ext cx="457200" cy="161925"/>
              </a:xfrm>
              <a:custGeom>
                <a:avLst/>
                <a:gdLst/>
                <a:ahLst/>
                <a:cxnLst/>
                <a:rect l="0" t="0" r="0" b="0"/>
                <a:pathLst>
                  <a:path w="457200" h="161925">
                    <a:moveTo>
                      <a:pt x="141446" y="98584"/>
                    </a:moveTo>
                    <a:cubicBezTo>
                      <a:pt x="118586" y="98584"/>
                      <a:pt x="115729" y="79534"/>
                      <a:pt x="115729" y="59531"/>
                    </a:cubicBezTo>
                    <a:cubicBezTo>
                      <a:pt x="115729" y="39529"/>
                      <a:pt x="119539" y="20479"/>
                      <a:pt x="141446" y="20479"/>
                    </a:cubicBezTo>
                    <a:cubicBezTo>
                      <a:pt x="164306" y="20479"/>
                      <a:pt x="167164" y="39529"/>
                      <a:pt x="167164" y="59531"/>
                    </a:cubicBezTo>
                    <a:cubicBezTo>
                      <a:pt x="168116" y="79534"/>
                      <a:pt x="164306" y="98584"/>
                      <a:pt x="141446" y="98584"/>
                    </a:cubicBezTo>
                    <a:moveTo>
                      <a:pt x="168116" y="20479"/>
                    </a:moveTo>
                    <a:cubicBezTo>
                      <a:pt x="159544" y="9049"/>
                      <a:pt x="150019" y="7144"/>
                      <a:pt x="138589" y="7144"/>
                    </a:cubicBezTo>
                    <a:cubicBezTo>
                      <a:pt x="128111" y="7144"/>
                      <a:pt x="118586" y="10954"/>
                      <a:pt x="112871" y="16669"/>
                    </a:cubicBezTo>
                    <a:cubicBezTo>
                      <a:pt x="102394" y="27146"/>
                      <a:pt x="100489" y="43339"/>
                      <a:pt x="100489" y="60484"/>
                    </a:cubicBezTo>
                    <a:cubicBezTo>
                      <a:pt x="100489" y="77629"/>
                      <a:pt x="102394" y="93821"/>
                      <a:pt x="112871" y="104299"/>
                    </a:cubicBezTo>
                    <a:cubicBezTo>
                      <a:pt x="118586" y="110014"/>
                      <a:pt x="127159" y="113824"/>
                      <a:pt x="138589" y="113824"/>
                    </a:cubicBezTo>
                    <a:cubicBezTo>
                      <a:pt x="150019" y="113824"/>
                      <a:pt x="159544" y="110966"/>
                      <a:pt x="168116" y="100489"/>
                    </a:cubicBezTo>
                    <a:lnTo>
                      <a:pt x="168116" y="116681"/>
                    </a:lnTo>
                    <a:cubicBezTo>
                      <a:pt x="168116" y="134779"/>
                      <a:pt x="159544" y="149066"/>
                      <a:pt x="139541" y="149066"/>
                    </a:cubicBezTo>
                    <a:cubicBezTo>
                      <a:pt x="127159" y="149066"/>
                      <a:pt x="122396" y="145256"/>
                      <a:pt x="114776" y="138589"/>
                    </a:cubicBezTo>
                    <a:lnTo>
                      <a:pt x="105251" y="148114"/>
                    </a:lnTo>
                    <a:cubicBezTo>
                      <a:pt x="116681" y="157639"/>
                      <a:pt x="125254" y="162401"/>
                      <a:pt x="140494" y="162401"/>
                    </a:cubicBezTo>
                    <a:cubicBezTo>
                      <a:pt x="168116" y="162401"/>
                      <a:pt x="184309" y="143351"/>
                      <a:pt x="184309" y="117634"/>
                    </a:cubicBezTo>
                    <a:lnTo>
                      <a:pt x="184309" y="10001"/>
                    </a:lnTo>
                    <a:lnTo>
                      <a:pt x="169069" y="10001"/>
                    </a:lnTo>
                    <a:lnTo>
                      <a:pt x="169069" y="20479"/>
                    </a:lnTo>
                    <a:close/>
                    <a:moveTo>
                      <a:pt x="74771" y="75724"/>
                    </a:moveTo>
                    <a:cubicBezTo>
                      <a:pt x="74771" y="84296"/>
                      <a:pt x="72866" y="90011"/>
                      <a:pt x="69056" y="93821"/>
                    </a:cubicBezTo>
                    <a:cubicBezTo>
                      <a:pt x="62389" y="100489"/>
                      <a:pt x="54769" y="100489"/>
                      <a:pt x="46196" y="100489"/>
                    </a:cubicBezTo>
                    <a:cubicBezTo>
                      <a:pt x="30004" y="100489"/>
                      <a:pt x="22384" y="94774"/>
                      <a:pt x="22384" y="82391"/>
                    </a:cubicBezTo>
                    <a:cubicBezTo>
                      <a:pt x="22384" y="70009"/>
                      <a:pt x="30004" y="64294"/>
                      <a:pt x="45244" y="64294"/>
                    </a:cubicBezTo>
                    <a:lnTo>
                      <a:pt x="74771" y="64294"/>
                    </a:lnTo>
                    <a:lnTo>
                      <a:pt x="74771" y="75724"/>
                    </a:lnTo>
                    <a:close/>
                    <a:moveTo>
                      <a:pt x="48101" y="7144"/>
                    </a:moveTo>
                    <a:cubicBezTo>
                      <a:pt x="30956" y="7144"/>
                      <a:pt x="20479" y="10954"/>
                      <a:pt x="10954" y="22384"/>
                    </a:cubicBezTo>
                    <a:lnTo>
                      <a:pt x="21431" y="31909"/>
                    </a:lnTo>
                    <a:cubicBezTo>
                      <a:pt x="27146" y="23336"/>
                      <a:pt x="34766" y="19526"/>
                      <a:pt x="48101" y="19526"/>
                    </a:cubicBezTo>
                    <a:cubicBezTo>
                      <a:pt x="67151" y="19526"/>
                      <a:pt x="74771" y="27146"/>
                      <a:pt x="74771" y="42386"/>
                    </a:cubicBezTo>
                    <a:lnTo>
                      <a:pt x="74771" y="51911"/>
                    </a:lnTo>
                    <a:lnTo>
                      <a:pt x="43339" y="51911"/>
                    </a:lnTo>
                    <a:cubicBezTo>
                      <a:pt x="20479" y="51911"/>
                      <a:pt x="7144" y="63341"/>
                      <a:pt x="7144" y="82391"/>
                    </a:cubicBezTo>
                    <a:cubicBezTo>
                      <a:pt x="7144" y="90964"/>
                      <a:pt x="10001" y="98584"/>
                      <a:pt x="14764" y="103346"/>
                    </a:cubicBezTo>
                    <a:cubicBezTo>
                      <a:pt x="21431" y="110014"/>
                      <a:pt x="30004" y="112871"/>
                      <a:pt x="44291" y="112871"/>
                    </a:cubicBezTo>
                    <a:cubicBezTo>
                      <a:pt x="58579" y="112871"/>
                      <a:pt x="66199" y="110014"/>
                      <a:pt x="74771" y="101441"/>
                    </a:cubicBezTo>
                    <a:lnTo>
                      <a:pt x="74771" y="110966"/>
                    </a:lnTo>
                    <a:lnTo>
                      <a:pt x="90011" y="110966"/>
                    </a:lnTo>
                    <a:lnTo>
                      <a:pt x="90011" y="40481"/>
                    </a:lnTo>
                    <a:cubicBezTo>
                      <a:pt x="90011" y="19526"/>
                      <a:pt x="76676" y="7144"/>
                      <a:pt x="48101" y="7144"/>
                    </a:cubicBezTo>
                    <a:moveTo>
                      <a:pt x="426244" y="53816"/>
                    </a:moveTo>
                    <a:lnTo>
                      <a:pt x="409099" y="51911"/>
                    </a:lnTo>
                    <a:cubicBezTo>
                      <a:pt x="395764" y="50959"/>
                      <a:pt x="391001" y="45244"/>
                      <a:pt x="391001" y="36671"/>
                    </a:cubicBezTo>
                    <a:cubicBezTo>
                      <a:pt x="391001" y="26194"/>
                      <a:pt x="398621" y="19526"/>
                      <a:pt x="413861" y="19526"/>
                    </a:cubicBezTo>
                    <a:cubicBezTo>
                      <a:pt x="424339" y="19526"/>
                      <a:pt x="433864" y="22384"/>
                      <a:pt x="441484" y="28099"/>
                    </a:cubicBezTo>
                    <a:lnTo>
                      <a:pt x="451009" y="18574"/>
                    </a:lnTo>
                    <a:cubicBezTo>
                      <a:pt x="441484" y="10954"/>
                      <a:pt x="428149" y="7144"/>
                      <a:pt x="413861" y="7144"/>
                    </a:cubicBezTo>
                    <a:cubicBezTo>
                      <a:pt x="391954" y="7144"/>
                      <a:pt x="375761" y="18574"/>
                      <a:pt x="375761" y="37624"/>
                    </a:cubicBezTo>
                    <a:cubicBezTo>
                      <a:pt x="375761" y="54769"/>
                      <a:pt x="386239" y="64294"/>
                      <a:pt x="407194" y="65246"/>
                    </a:cubicBezTo>
                    <a:lnTo>
                      <a:pt x="424339" y="67151"/>
                    </a:lnTo>
                    <a:cubicBezTo>
                      <a:pt x="436721" y="68104"/>
                      <a:pt x="441484" y="72866"/>
                      <a:pt x="441484" y="82391"/>
                    </a:cubicBezTo>
                    <a:cubicBezTo>
                      <a:pt x="441484" y="94774"/>
                      <a:pt x="431006" y="100489"/>
                      <a:pt x="413861" y="100489"/>
                    </a:cubicBezTo>
                    <a:cubicBezTo>
                      <a:pt x="400526" y="100489"/>
                      <a:pt x="390049" y="96679"/>
                      <a:pt x="381476" y="88106"/>
                    </a:cubicBezTo>
                    <a:lnTo>
                      <a:pt x="370999" y="98584"/>
                    </a:lnTo>
                    <a:cubicBezTo>
                      <a:pt x="382429" y="110014"/>
                      <a:pt x="395764" y="113824"/>
                      <a:pt x="413861" y="113824"/>
                    </a:cubicBezTo>
                    <a:cubicBezTo>
                      <a:pt x="439579" y="113824"/>
                      <a:pt x="456724" y="102394"/>
                      <a:pt x="456724" y="82391"/>
                    </a:cubicBezTo>
                    <a:cubicBezTo>
                      <a:pt x="456724" y="62389"/>
                      <a:pt x="444341" y="55721"/>
                      <a:pt x="426244" y="53816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8B41ECE-7870-4BBB-8427-9CE6D3C16F97}"/>
                  </a:ext>
                </a:extLst>
              </p:cNvPr>
              <p:cNvSpPr/>
              <p:nvPr/>
            </p:nvSpPr>
            <p:spPr>
              <a:xfrm>
                <a:off x="3136433" y="2727075"/>
                <a:ext cx="180975" cy="114300"/>
              </a:xfrm>
              <a:custGeom>
                <a:avLst/>
                <a:gdLst/>
                <a:ahLst/>
                <a:cxnLst/>
                <a:rect l="0" t="0" r="0" b="0"/>
                <a:pathLst>
                  <a:path w="180975" h="114300">
                    <a:moveTo>
                      <a:pt x="162074" y="76676"/>
                    </a:moveTo>
                    <a:cubicBezTo>
                      <a:pt x="162074" y="81439"/>
                      <a:pt x="162074" y="86201"/>
                      <a:pt x="159217" y="90964"/>
                    </a:cubicBezTo>
                    <a:cubicBezTo>
                      <a:pt x="157312" y="94774"/>
                      <a:pt x="153502" y="97631"/>
                      <a:pt x="149692" y="99536"/>
                    </a:cubicBezTo>
                    <a:cubicBezTo>
                      <a:pt x="144929" y="101441"/>
                      <a:pt x="140167" y="102394"/>
                      <a:pt x="135404" y="102394"/>
                    </a:cubicBezTo>
                    <a:cubicBezTo>
                      <a:pt x="130642" y="102394"/>
                      <a:pt x="125879" y="102394"/>
                      <a:pt x="122069" y="101441"/>
                    </a:cubicBezTo>
                    <a:cubicBezTo>
                      <a:pt x="115402" y="99536"/>
                      <a:pt x="110639" y="95726"/>
                      <a:pt x="108734" y="89059"/>
                    </a:cubicBezTo>
                    <a:cubicBezTo>
                      <a:pt x="107782" y="82391"/>
                      <a:pt x="108734" y="74771"/>
                      <a:pt x="114449" y="70961"/>
                    </a:cubicBezTo>
                    <a:cubicBezTo>
                      <a:pt x="119212" y="67151"/>
                      <a:pt x="125879" y="66199"/>
                      <a:pt x="132547" y="66199"/>
                    </a:cubicBezTo>
                    <a:lnTo>
                      <a:pt x="161122" y="66199"/>
                    </a:lnTo>
                    <a:cubicBezTo>
                      <a:pt x="163027" y="65246"/>
                      <a:pt x="162074" y="75724"/>
                      <a:pt x="162074" y="76676"/>
                    </a:cubicBezTo>
                    <a:moveTo>
                      <a:pt x="24914" y="36671"/>
                    </a:moveTo>
                    <a:cubicBezTo>
                      <a:pt x="30629" y="23336"/>
                      <a:pt x="45869" y="17621"/>
                      <a:pt x="58252" y="22384"/>
                    </a:cubicBezTo>
                    <a:cubicBezTo>
                      <a:pt x="64919" y="24289"/>
                      <a:pt x="69682" y="29051"/>
                      <a:pt x="72539" y="34766"/>
                    </a:cubicBezTo>
                    <a:cubicBezTo>
                      <a:pt x="75397" y="40481"/>
                      <a:pt x="76349" y="47149"/>
                      <a:pt x="76349" y="53816"/>
                    </a:cubicBezTo>
                    <a:lnTo>
                      <a:pt x="21104" y="53816"/>
                    </a:lnTo>
                    <a:cubicBezTo>
                      <a:pt x="22057" y="48101"/>
                      <a:pt x="22057" y="42386"/>
                      <a:pt x="24914" y="36671"/>
                    </a:cubicBezTo>
                    <a:moveTo>
                      <a:pt x="176362" y="31909"/>
                    </a:moveTo>
                    <a:cubicBezTo>
                      <a:pt x="174457" y="24289"/>
                      <a:pt x="169694" y="17621"/>
                      <a:pt x="163027" y="13811"/>
                    </a:cubicBezTo>
                    <a:cubicBezTo>
                      <a:pt x="154454" y="9049"/>
                      <a:pt x="144929" y="7144"/>
                      <a:pt x="135404" y="7144"/>
                    </a:cubicBezTo>
                    <a:cubicBezTo>
                      <a:pt x="123974" y="7144"/>
                      <a:pt x="111592" y="9049"/>
                      <a:pt x="103019" y="17621"/>
                    </a:cubicBezTo>
                    <a:cubicBezTo>
                      <a:pt x="102067" y="18574"/>
                      <a:pt x="98257" y="22384"/>
                      <a:pt x="98257" y="23336"/>
                    </a:cubicBezTo>
                    <a:cubicBezTo>
                      <a:pt x="99209" y="24289"/>
                      <a:pt x="100162" y="25241"/>
                      <a:pt x="101114" y="26194"/>
                    </a:cubicBezTo>
                    <a:cubicBezTo>
                      <a:pt x="103019" y="28099"/>
                      <a:pt x="105877" y="30956"/>
                      <a:pt x="107782" y="32861"/>
                    </a:cubicBezTo>
                    <a:cubicBezTo>
                      <a:pt x="112544" y="26194"/>
                      <a:pt x="118259" y="22384"/>
                      <a:pt x="126832" y="21431"/>
                    </a:cubicBezTo>
                    <a:cubicBezTo>
                      <a:pt x="134452" y="20479"/>
                      <a:pt x="143977" y="20479"/>
                      <a:pt x="151597" y="24289"/>
                    </a:cubicBezTo>
                    <a:cubicBezTo>
                      <a:pt x="157312" y="27146"/>
                      <a:pt x="160169" y="32861"/>
                      <a:pt x="161122" y="39529"/>
                    </a:cubicBezTo>
                    <a:cubicBezTo>
                      <a:pt x="161122" y="40481"/>
                      <a:pt x="161122" y="53816"/>
                      <a:pt x="161122" y="53816"/>
                    </a:cubicBezTo>
                    <a:lnTo>
                      <a:pt x="132547" y="53816"/>
                    </a:lnTo>
                    <a:cubicBezTo>
                      <a:pt x="125879" y="53816"/>
                      <a:pt x="119212" y="53816"/>
                      <a:pt x="113497" y="56674"/>
                    </a:cubicBezTo>
                    <a:cubicBezTo>
                      <a:pt x="103972" y="59531"/>
                      <a:pt x="97304" y="67151"/>
                      <a:pt x="91589" y="74771"/>
                    </a:cubicBezTo>
                    <a:cubicBezTo>
                      <a:pt x="85874" y="81439"/>
                      <a:pt x="82064" y="88106"/>
                      <a:pt x="75397" y="92869"/>
                    </a:cubicBezTo>
                    <a:cubicBezTo>
                      <a:pt x="71587" y="96679"/>
                      <a:pt x="66824" y="98584"/>
                      <a:pt x="62062" y="100489"/>
                    </a:cubicBezTo>
                    <a:cubicBezTo>
                      <a:pt x="57299" y="101441"/>
                      <a:pt x="52537" y="101441"/>
                      <a:pt x="47774" y="101441"/>
                    </a:cubicBezTo>
                    <a:cubicBezTo>
                      <a:pt x="41107" y="100489"/>
                      <a:pt x="34439" y="97631"/>
                      <a:pt x="29677" y="91916"/>
                    </a:cubicBezTo>
                    <a:cubicBezTo>
                      <a:pt x="24914" y="86201"/>
                      <a:pt x="23009" y="77629"/>
                      <a:pt x="22057" y="70009"/>
                    </a:cubicBezTo>
                    <a:cubicBezTo>
                      <a:pt x="22057" y="68104"/>
                      <a:pt x="22057" y="66199"/>
                      <a:pt x="22057" y="65246"/>
                    </a:cubicBezTo>
                    <a:lnTo>
                      <a:pt x="90637" y="65246"/>
                    </a:lnTo>
                    <a:lnTo>
                      <a:pt x="92542" y="65246"/>
                    </a:lnTo>
                    <a:lnTo>
                      <a:pt x="92542" y="62389"/>
                    </a:lnTo>
                    <a:lnTo>
                      <a:pt x="92542" y="58579"/>
                    </a:lnTo>
                    <a:cubicBezTo>
                      <a:pt x="92542" y="43339"/>
                      <a:pt x="88732" y="27146"/>
                      <a:pt x="76349" y="16669"/>
                    </a:cubicBezTo>
                    <a:cubicBezTo>
                      <a:pt x="64919" y="7144"/>
                      <a:pt x="47774" y="5239"/>
                      <a:pt x="34439" y="10954"/>
                    </a:cubicBezTo>
                    <a:cubicBezTo>
                      <a:pt x="20152" y="16669"/>
                      <a:pt x="11579" y="30004"/>
                      <a:pt x="8722" y="44291"/>
                    </a:cubicBezTo>
                    <a:cubicBezTo>
                      <a:pt x="6817" y="53816"/>
                      <a:pt x="6817" y="63341"/>
                      <a:pt x="7769" y="72866"/>
                    </a:cubicBezTo>
                    <a:cubicBezTo>
                      <a:pt x="8722" y="80486"/>
                      <a:pt x="10627" y="89059"/>
                      <a:pt x="14437" y="95726"/>
                    </a:cubicBezTo>
                    <a:cubicBezTo>
                      <a:pt x="21104" y="108109"/>
                      <a:pt x="33487" y="114776"/>
                      <a:pt x="47774" y="115729"/>
                    </a:cubicBezTo>
                    <a:cubicBezTo>
                      <a:pt x="57299" y="116681"/>
                      <a:pt x="66824" y="115729"/>
                      <a:pt x="76349" y="110966"/>
                    </a:cubicBezTo>
                    <a:cubicBezTo>
                      <a:pt x="84922" y="107156"/>
                      <a:pt x="93494" y="97631"/>
                      <a:pt x="99209" y="90011"/>
                    </a:cubicBezTo>
                    <a:cubicBezTo>
                      <a:pt x="100162" y="96679"/>
                      <a:pt x="103019" y="105251"/>
                      <a:pt x="108734" y="109061"/>
                    </a:cubicBezTo>
                    <a:cubicBezTo>
                      <a:pt x="113497" y="112871"/>
                      <a:pt x="120164" y="113824"/>
                      <a:pt x="125879" y="114776"/>
                    </a:cubicBezTo>
                    <a:cubicBezTo>
                      <a:pt x="133499" y="115729"/>
                      <a:pt x="141119" y="115729"/>
                      <a:pt x="147787" y="113824"/>
                    </a:cubicBezTo>
                    <a:cubicBezTo>
                      <a:pt x="153502" y="111919"/>
                      <a:pt x="159217" y="109061"/>
                      <a:pt x="163979" y="104299"/>
                    </a:cubicBezTo>
                    <a:lnTo>
                      <a:pt x="163979" y="113824"/>
                    </a:lnTo>
                    <a:cubicBezTo>
                      <a:pt x="163979" y="113824"/>
                      <a:pt x="164932" y="113824"/>
                      <a:pt x="164932" y="113824"/>
                    </a:cubicBezTo>
                    <a:cubicBezTo>
                      <a:pt x="165884" y="113824"/>
                      <a:pt x="179219" y="113824"/>
                      <a:pt x="179219" y="113824"/>
                    </a:cubicBezTo>
                    <a:lnTo>
                      <a:pt x="179219" y="55721"/>
                    </a:lnTo>
                    <a:cubicBezTo>
                      <a:pt x="177314" y="48101"/>
                      <a:pt x="178267" y="39529"/>
                      <a:pt x="176362" y="31909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CBF7964-F13C-4E3F-84A2-27790B2159F1}"/>
                  </a:ext>
                </a:extLst>
              </p:cNvPr>
              <p:cNvSpPr/>
              <p:nvPr/>
            </p:nvSpPr>
            <p:spPr>
              <a:xfrm>
                <a:off x="3397091" y="2818515"/>
                <a:ext cx="28575" cy="28575"/>
              </a:xfrm>
              <a:custGeom>
                <a:avLst/>
                <a:gdLst/>
                <a:ahLst/>
                <a:cxnLst/>
                <a:rect l="0" t="0" r="0" b="0"/>
                <a:pathLst>
                  <a:path w="28575" h="28575">
                    <a:moveTo>
                      <a:pt x="15716" y="12859"/>
                    </a:moveTo>
                    <a:lnTo>
                      <a:pt x="13811" y="12859"/>
                    </a:lnTo>
                    <a:lnTo>
                      <a:pt x="13811" y="15716"/>
                    </a:lnTo>
                    <a:lnTo>
                      <a:pt x="15716" y="15716"/>
                    </a:lnTo>
                    <a:cubicBezTo>
                      <a:pt x="16669" y="15716"/>
                      <a:pt x="17621" y="14764"/>
                      <a:pt x="17621" y="13811"/>
                    </a:cubicBezTo>
                    <a:cubicBezTo>
                      <a:pt x="17621" y="13811"/>
                      <a:pt x="16669" y="12859"/>
                      <a:pt x="15716" y="12859"/>
                    </a:cubicBezTo>
                    <a:moveTo>
                      <a:pt x="17621" y="20479"/>
                    </a:moveTo>
                    <a:lnTo>
                      <a:pt x="15716" y="16669"/>
                    </a:lnTo>
                    <a:lnTo>
                      <a:pt x="14764" y="16669"/>
                    </a:lnTo>
                    <a:lnTo>
                      <a:pt x="14764" y="20479"/>
                    </a:lnTo>
                    <a:lnTo>
                      <a:pt x="12859" y="20479"/>
                    </a:lnTo>
                    <a:lnTo>
                      <a:pt x="12859" y="10954"/>
                    </a:lnTo>
                    <a:lnTo>
                      <a:pt x="15716" y="10954"/>
                    </a:lnTo>
                    <a:cubicBezTo>
                      <a:pt x="17621" y="10954"/>
                      <a:pt x="18574" y="11906"/>
                      <a:pt x="18574" y="13811"/>
                    </a:cubicBezTo>
                    <a:cubicBezTo>
                      <a:pt x="18574" y="14764"/>
                      <a:pt x="17621" y="15716"/>
                      <a:pt x="16669" y="16669"/>
                    </a:cubicBezTo>
                    <a:lnTo>
                      <a:pt x="18574" y="20479"/>
                    </a:lnTo>
                    <a:lnTo>
                      <a:pt x="17621" y="20479"/>
                    </a:lnTo>
                    <a:close/>
                    <a:moveTo>
                      <a:pt x="15716" y="9049"/>
                    </a:moveTo>
                    <a:cubicBezTo>
                      <a:pt x="11906" y="9049"/>
                      <a:pt x="9049" y="11906"/>
                      <a:pt x="9049" y="15716"/>
                    </a:cubicBezTo>
                    <a:cubicBezTo>
                      <a:pt x="9049" y="19526"/>
                      <a:pt x="11906" y="22384"/>
                      <a:pt x="15716" y="22384"/>
                    </a:cubicBezTo>
                    <a:cubicBezTo>
                      <a:pt x="19526" y="22384"/>
                      <a:pt x="22384" y="19526"/>
                      <a:pt x="22384" y="15716"/>
                    </a:cubicBezTo>
                    <a:cubicBezTo>
                      <a:pt x="22384" y="11906"/>
                      <a:pt x="19526" y="9049"/>
                      <a:pt x="15716" y="9049"/>
                    </a:cubicBezTo>
                    <a:moveTo>
                      <a:pt x="15716" y="24289"/>
                    </a:moveTo>
                    <a:cubicBezTo>
                      <a:pt x="10954" y="24289"/>
                      <a:pt x="7144" y="20479"/>
                      <a:pt x="7144" y="15716"/>
                    </a:cubicBezTo>
                    <a:cubicBezTo>
                      <a:pt x="7144" y="10954"/>
                      <a:pt x="10954" y="7144"/>
                      <a:pt x="15716" y="7144"/>
                    </a:cubicBezTo>
                    <a:cubicBezTo>
                      <a:pt x="20479" y="7144"/>
                      <a:pt x="24289" y="10954"/>
                      <a:pt x="24289" y="15716"/>
                    </a:cubicBezTo>
                    <a:cubicBezTo>
                      <a:pt x="24289" y="20479"/>
                      <a:pt x="19526" y="24289"/>
                      <a:pt x="15716" y="24289"/>
                    </a:cubicBezTo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PT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2428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Mé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B9B552-EEE0-4404-8B01-0D8703D3A510}"/>
              </a:ext>
            </a:extLst>
          </p:cNvPr>
          <p:cNvGrpSpPr/>
          <p:nvPr userDrawn="1"/>
        </p:nvGrpSpPr>
        <p:grpSpPr>
          <a:xfrm>
            <a:off x="152400" y="6286674"/>
            <a:ext cx="11899900" cy="502269"/>
            <a:chOff x="152400" y="6286674"/>
            <a:chExt cx="11899900" cy="502269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70F5CA0-570B-4563-AC2A-CA22D4E3C5C5}"/>
                </a:ext>
              </a:extLst>
            </p:cNvPr>
            <p:cNvGrpSpPr/>
            <p:nvPr/>
          </p:nvGrpSpPr>
          <p:grpSpPr>
            <a:xfrm>
              <a:off x="152400" y="6286674"/>
              <a:ext cx="11899900" cy="0"/>
              <a:chOff x="-1371600" y="6360106"/>
              <a:chExt cx="11899900" cy="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BC79F18-AB9F-46DD-BF0A-9AC86BB063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600" y="6360106"/>
                <a:ext cx="11899900" cy="0"/>
              </a:xfrm>
              <a:prstGeom prst="line">
                <a:avLst/>
              </a:prstGeom>
              <a:noFill/>
              <a:ln w="9525">
                <a:solidFill>
                  <a:srgbClr val="6365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C80B52D-1D48-46C7-A618-351451794C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2000" y="6360106"/>
                <a:ext cx="90000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40F417C-7FB0-4FC8-B3A5-BEEA612B67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6" t="28522" r="7440" b="28522"/>
            <a:stretch/>
          </p:blipFill>
          <p:spPr>
            <a:xfrm>
              <a:off x="5666485" y="6350531"/>
              <a:ext cx="859030" cy="4384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730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Médis c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384AE664-E535-4413-9E49-979FC4A5F0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C32499F3-C966-479D-B0AB-3A8ADA31C9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46" name="Retângulo 42">
            <a:extLst>
              <a:ext uri="{FF2B5EF4-FFF2-40B4-BE49-F238E27FC236}">
                <a16:creationId xmlns:a16="http://schemas.microsoft.com/office/drawing/2014/main" id="{21E8D0AC-534C-4AED-A74C-713F605C464B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CA9291-AFA0-471F-A791-1B72CC872BF3}"/>
              </a:ext>
            </a:extLst>
          </p:cNvPr>
          <p:cNvGrpSpPr/>
          <p:nvPr userDrawn="1"/>
        </p:nvGrpSpPr>
        <p:grpSpPr>
          <a:xfrm>
            <a:off x="152400" y="6286674"/>
            <a:ext cx="11899900" cy="502269"/>
            <a:chOff x="152400" y="6286674"/>
            <a:chExt cx="11899900" cy="50226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4AB4E5E-327D-45B4-BD05-5100B993A3AB}"/>
                </a:ext>
              </a:extLst>
            </p:cNvPr>
            <p:cNvGrpSpPr/>
            <p:nvPr/>
          </p:nvGrpSpPr>
          <p:grpSpPr>
            <a:xfrm>
              <a:off x="152400" y="6286674"/>
              <a:ext cx="11899900" cy="0"/>
              <a:chOff x="-1371600" y="6360106"/>
              <a:chExt cx="11899900" cy="0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DA68730-3D45-42D5-BF64-4B528CF37C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600" y="6360106"/>
                <a:ext cx="11899900" cy="0"/>
              </a:xfrm>
              <a:prstGeom prst="line">
                <a:avLst/>
              </a:prstGeom>
              <a:noFill/>
              <a:ln w="9525">
                <a:solidFill>
                  <a:srgbClr val="6365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B32BA0A-AA50-438D-BAAD-38487C36F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2000" y="6360106"/>
                <a:ext cx="90000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E718B96-0D48-4473-86E0-14D684CAB8E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6" t="28522" r="7440" b="28522"/>
            <a:stretch/>
          </p:blipFill>
          <p:spPr>
            <a:xfrm>
              <a:off x="5666485" y="6350531"/>
              <a:ext cx="859030" cy="4384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606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Ocide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03709304-5AC1-4A7C-BB95-9E43EA29BB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789" y="6346121"/>
            <a:ext cx="1292422" cy="43425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CDCCC3D-CB0A-4680-B50E-45B7C28BDAA6}"/>
              </a:ext>
            </a:extLst>
          </p:cNvPr>
          <p:cNvGrpSpPr/>
          <p:nvPr/>
        </p:nvGrpSpPr>
        <p:grpSpPr>
          <a:xfrm>
            <a:off x="152400" y="6286674"/>
            <a:ext cx="11899900" cy="0"/>
            <a:chOff x="-1371600" y="6360106"/>
            <a:chExt cx="11899900" cy="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EB28077-567C-43D8-A58B-5917577125F2}"/>
                </a:ext>
              </a:extLst>
            </p:cNvPr>
            <p:cNvCxnSpPr>
              <a:cxnSpLocks/>
            </p:cNvCxnSpPr>
            <p:nvPr/>
          </p:nvCxnSpPr>
          <p:spPr>
            <a:xfrm>
              <a:off x="-1371600" y="6360106"/>
              <a:ext cx="11899900" cy="0"/>
            </a:xfrm>
            <a:prstGeom prst="line">
              <a:avLst/>
            </a:prstGeom>
            <a:noFill/>
            <a:ln w="9525">
              <a:solidFill>
                <a:srgbClr val="63656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5691384-E6F0-4B83-829D-3A3313938F91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6360106"/>
              <a:ext cx="9000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152900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Ocidental c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E348F7C-9178-4795-AE4F-A62F4F3BE99C}"/>
              </a:ext>
            </a:extLst>
          </p:cNvPr>
          <p:cNvGrpSpPr/>
          <p:nvPr/>
        </p:nvGrpSpPr>
        <p:grpSpPr>
          <a:xfrm>
            <a:off x="152400" y="6286674"/>
            <a:ext cx="11899900" cy="0"/>
            <a:chOff x="-1371600" y="6360106"/>
            <a:chExt cx="11899900" cy="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B09D6ED-609E-47E3-BA04-B8E45905B8BC}"/>
                </a:ext>
              </a:extLst>
            </p:cNvPr>
            <p:cNvCxnSpPr>
              <a:cxnSpLocks/>
            </p:cNvCxnSpPr>
            <p:nvPr/>
          </p:nvCxnSpPr>
          <p:spPr>
            <a:xfrm>
              <a:off x="-1371600" y="6360106"/>
              <a:ext cx="11899900" cy="0"/>
            </a:xfrm>
            <a:prstGeom prst="line">
              <a:avLst/>
            </a:prstGeom>
            <a:noFill/>
            <a:ln w="9525">
              <a:solidFill>
                <a:srgbClr val="63656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957B6CB-88D7-4F8F-BC54-7F7327E0D75B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6360106"/>
              <a:ext cx="9000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E31778C-154F-4414-B602-DBC3F775B6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352C274C-2817-4315-9399-333FAB81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44" name="Retângulo 42">
            <a:extLst>
              <a:ext uri="{FF2B5EF4-FFF2-40B4-BE49-F238E27FC236}">
                <a16:creationId xmlns:a16="http://schemas.microsoft.com/office/drawing/2014/main" id="{F9012B76-9BD0-4811-9450-836375337BD0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pic>
        <p:nvPicPr>
          <p:cNvPr id="10" name="Picture 9" descr="A close up of a logo&#10;&#10;Description automatically generated">
            <a:extLst>
              <a:ext uri="{FF2B5EF4-FFF2-40B4-BE49-F238E27FC236}">
                <a16:creationId xmlns:a16="http://schemas.microsoft.com/office/drawing/2014/main" id="{198AF94E-72AF-4FB0-9BA2-806F0412C7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789" y="6346121"/>
            <a:ext cx="1292422" cy="43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97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Di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200A4D5-BEC3-41C4-929E-4037A6FC1F5B}"/>
              </a:ext>
            </a:extLst>
          </p:cNvPr>
          <p:cNvGrpSpPr/>
          <p:nvPr/>
        </p:nvGrpSpPr>
        <p:grpSpPr>
          <a:xfrm>
            <a:off x="152400" y="6286674"/>
            <a:ext cx="11899900" cy="0"/>
            <a:chOff x="-1371600" y="6360106"/>
            <a:chExt cx="11899900" cy="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EB82A7-6914-480C-9950-D9B8BFA027DF}"/>
                </a:ext>
              </a:extLst>
            </p:cNvPr>
            <p:cNvCxnSpPr>
              <a:cxnSpLocks/>
            </p:cNvCxnSpPr>
            <p:nvPr/>
          </p:nvCxnSpPr>
          <p:spPr>
            <a:xfrm>
              <a:off x="-1371600" y="6360106"/>
              <a:ext cx="11899900" cy="0"/>
            </a:xfrm>
            <a:prstGeom prst="line">
              <a:avLst/>
            </a:prstGeom>
            <a:noFill/>
            <a:ln w="9525">
              <a:solidFill>
                <a:srgbClr val="63656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3038C5C-F1C2-4125-A065-4EF107F3DA84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6360106"/>
              <a:ext cx="9000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45B7907-FB18-400C-97A0-AF47747DD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850" y="6443911"/>
            <a:ext cx="1396030" cy="29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9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Direct c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48088EB-1D02-45D2-B517-1B49E90A31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850" y="6443911"/>
            <a:ext cx="1396030" cy="290264"/>
          </a:xfrm>
          <a:prstGeom prst="rect">
            <a:avLst/>
          </a:prstGeom>
        </p:spPr>
      </p:pic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8A708747-A454-46C7-8852-0AE907F6C2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1FA4F400-BCCD-4FD6-BA13-FFDF897E4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7" name="Retângulo 42">
            <a:extLst>
              <a:ext uri="{FF2B5EF4-FFF2-40B4-BE49-F238E27FC236}">
                <a16:creationId xmlns:a16="http://schemas.microsoft.com/office/drawing/2014/main" id="{AB0D2658-A68D-48EF-BE37-E82C42EA34BC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9C05BF-BDAC-46E6-850C-0767670940E5}"/>
              </a:ext>
            </a:extLst>
          </p:cNvPr>
          <p:cNvGrpSpPr/>
          <p:nvPr/>
        </p:nvGrpSpPr>
        <p:grpSpPr>
          <a:xfrm>
            <a:off x="152400" y="6286674"/>
            <a:ext cx="11899900" cy="0"/>
            <a:chOff x="-1371600" y="6360106"/>
            <a:chExt cx="11899900" cy="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FDAF182-D874-46C4-8964-D6040CAF5B87}"/>
                </a:ext>
              </a:extLst>
            </p:cNvPr>
            <p:cNvCxnSpPr>
              <a:cxnSpLocks/>
            </p:cNvCxnSpPr>
            <p:nvPr/>
          </p:nvCxnSpPr>
          <p:spPr>
            <a:xfrm>
              <a:off x="-1371600" y="6360106"/>
              <a:ext cx="11899900" cy="0"/>
            </a:xfrm>
            <a:prstGeom prst="line">
              <a:avLst/>
            </a:prstGeom>
            <a:noFill/>
            <a:ln w="9525">
              <a:solidFill>
                <a:srgbClr val="63656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AB5EFD1-DCA4-4BCE-8814-2171A38540B8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6360106"/>
              <a:ext cx="9000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1967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Re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C6EC988-7B9B-4953-8A78-5C72CACC4661}"/>
              </a:ext>
            </a:extLst>
          </p:cNvPr>
          <p:cNvGrpSpPr/>
          <p:nvPr userDrawn="1"/>
        </p:nvGrpSpPr>
        <p:grpSpPr>
          <a:xfrm>
            <a:off x="152400" y="6286674"/>
            <a:ext cx="11899900" cy="492863"/>
            <a:chOff x="152400" y="6286674"/>
            <a:chExt cx="11899900" cy="49286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200A4D5-BEC3-41C4-929E-4037A6FC1F5B}"/>
                </a:ext>
              </a:extLst>
            </p:cNvPr>
            <p:cNvGrpSpPr/>
            <p:nvPr/>
          </p:nvGrpSpPr>
          <p:grpSpPr>
            <a:xfrm>
              <a:off x="152400" y="6286674"/>
              <a:ext cx="11899900" cy="0"/>
              <a:chOff x="-1371600" y="6360106"/>
              <a:chExt cx="11899900" cy="0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7EB82A7-6914-480C-9950-D9B8BFA02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600" y="6360106"/>
                <a:ext cx="11899900" cy="0"/>
              </a:xfrm>
              <a:prstGeom prst="line">
                <a:avLst/>
              </a:prstGeom>
              <a:noFill/>
              <a:ln w="9525">
                <a:solidFill>
                  <a:srgbClr val="6365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3038C5C-F1C2-4125-A065-4EF107F3DA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2000" y="6360106"/>
                <a:ext cx="900000" cy="0"/>
              </a:xfrm>
              <a:prstGeom prst="line">
                <a:avLst/>
              </a:prstGeom>
              <a:noFill/>
              <a:ln w="28575">
                <a:solidFill>
                  <a:srgbClr val="FC9E0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0BD10120-BB8B-4D53-8047-27395C0C35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79447" y="6418701"/>
              <a:ext cx="833107" cy="360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370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Repara c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8A708747-A454-46C7-8852-0AE907F6C2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buClr>
                <a:srgbClr val="FC9E00"/>
              </a:buCl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1FA4F400-BCCD-4FD6-BA13-FFDF897E4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7" name="Retângulo 42">
            <a:extLst>
              <a:ext uri="{FF2B5EF4-FFF2-40B4-BE49-F238E27FC236}">
                <a16:creationId xmlns:a16="http://schemas.microsoft.com/office/drawing/2014/main" id="{AB0D2658-A68D-48EF-BE37-E82C42EA34BC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8F9A09-02C7-4385-B945-51503BDFDE68}"/>
              </a:ext>
            </a:extLst>
          </p:cNvPr>
          <p:cNvGrpSpPr/>
          <p:nvPr userDrawn="1"/>
        </p:nvGrpSpPr>
        <p:grpSpPr>
          <a:xfrm>
            <a:off x="152400" y="6286674"/>
            <a:ext cx="11899900" cy="492863"/>
            <a:chOff x="152400" y="6286674"/>
            <a:chExt cx="11899900" cy="49286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7A28ABD-1652-40B9-BD84-073D0B01BE4B}"/>
                </a:ext>
              </a:extLst>
            </p:cNvPr>
            <p:cNvGrpSpPr/>
            <p:nvPr/>
          </p:nvGrpSpPr>
          <p:grpSpPr>
            <a:xfrm>
              <a:off x="152400" y="6286674"/>
              <a:ext cx="11899900" cy="0"/>
              <a:chOff x="-1371600" y="6360106"/>
              <a:chExt cx="11899900" cy="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1D2E29D-A21B-492B-8E4F-D151EEADE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1371600" y="6360106"/>
                <a:ext cx="11899900" cy="0"/>
              </a:xfrm>
              <a:prstGeom prst="line">
                <a:avLst/>
              </a:prstGeom>
              <a:noFill/>
              <a:ln w="9525">
                <a:solidFill>
                  <a:srgbClr val="636566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8DE8A5-152D-44E1-B73B-7AA8C57706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22000" y="6360106"/>
                <a:ext cx="900000" cy="0"/>
              </a:xfrm>
              <a:prstGeom prst="line">
                <a:avLst/>
              </a:prstGeom>
              <a:noFill/>
              <a:ln w="28575">
                <a:solidFill>
                  <a:srgbClr val="FC9E00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12397EE-3270-434B-9DC4-EF7F531276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679447" y="6418701"/>
              <a:ext cx="833107" cy="360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26093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Pensoes c/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6A46345-5E2B-4AE4-816A-850BA8E1DF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0" t="29091" r="24930" b="30652"/>
          <a:stretch/>
        </p:blipFill>
        <p:spPr>
          <a:xfrm>
            <a:off x="5673724" y="6385837"/>
            <a:ext cx="847726" cy="364208"/>
          </a:xfrm>
          <a:prstGeom prst="rect">
            <a:avLst/>
          </a:prstGeom>
        </p:spPr>
      </p:pic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8A708747-A454-46C7-8852-0AE907F6C2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buClr>
                <a:srgbClr val="FC9E00"/>
              </a:buCl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1FA4F400-BCCD-4FD6-BA13-FFDF897E4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7" name="Retângulo 42">
            <a:extLst>
              <a:ext uri="{FF2B5EF4-FFF2-40B4-BE49-F238E27FC236}">
                <a16:creationId xmlns:a16="http://schemas.microsoft.com/office/drawing/2014/main" id="{AB0D2658-A68D-48EF-BE37-E82C42EA34BC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A28ABD-1652-40B9-BD84-073D0B01BE4B}"/>
              </a:ext>
            </a:extLst>
          </p:cNvPr>
          <p:cNvGrpSpPr/>
          <p:nvPr/>
        </p:nvGrpSpPr>
        <p:grpSpPr>
          <a:xfrm>
            <a:off x="152400" y="6286674"/>
            <a:ext cx="11899900" cy="0"/>
            <a:chOff x="-1371600" y="6360106"/>
            <a:chExt cx="11899900" cy="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D2E29D-A21B-492B-8E4F-D151EEADE997}"/>
                </a:ext>
              </a:extLst>
            </p:cNvPr>
            <p:cNvCxnSpPr>
              <a:cxnSpLocks/>
            </p:cNvCxnSpPr>
            <p:nvPr/>
          </p:nvCxnSpPr>
          <p:spPr>
            <a:xfrm>
              <a:off x="-1371600" y="6360106"/>
              <a:ext cx="11899900" cy="0"/>
            </a:xfrm>
            <a:prstGeom prst="line">
              <a:avLst/>
            </a:prstGeom>
            <a:noFill/>
            <a:ln w="9525">
              <a:solidFill>
                <a:srgbClr val="63656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8DE8A5-152D-44E1-B73B-7AA8C577065A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6360106"/>
              <a:ext cx="900000" cy="0"/>
            </a:xfrm>
            <a:prstGeom prst="line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544616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mplate Pens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9200A4D5-BEC3-41C4-929E-4037A6FC1F5B}"/>
              </a:ext>
            </a:extLst>
          </p:cNvPr>
          <p:cNvGrpSpPr/>
          <p:nvPr/>
        </p:nvGrpSpPr>
        <p:grpSpPr>
          <a:xfrm>
            <a:off x="152400" y="6286674"/>
            <a:ext cx="11899900" cy="0"/>
            <a:chOff x="-1371600" y="6360106"/>
            <a:chExt cx="11899900" cy="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7EB82A7-6914-480C-9950-D9B8BFA027DF}"/>
                </a:ext>
              </a:extLst>
            </p:cNvPr>
            <p:cNvCxnSpPr>
              <a:cxnSpLocks/>
            </p:cNvCxnSpPr>
            <p:nvPr/>
          </p:nvCxnSpPr>
          <p:spPr>
            <a:xfrm>
              <a:off x="-1371600" y="6360106"/>
              <a:ext cx="11899900" cy="0"/>
            </a:xfrm>
            <a:prstGeom prst="line">
              <a:avLst/>
            </a:prstGeom>
            <a:noFill/>
            <a:ln w="9525">
              <a:solidFill>
                <a:srgbClr val="63656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3038C5C-F1C2-4125-A065-4EF107F3DA84}"/>
                </a:ext>
              </a:extLst>
            </p:cNvPr>
            <p:cNvCxnSpPr>
              <a:cxnSpLocks/>
            </p:cNvCxnSpPr>
            <p:nvPr/>
          </p:nvCxnSpPr>
          <p:spPr>
            <a:xfrm>
              <a:off x="4122000" y="6360106"/>
              <a:ext cx="900000" cy="0"/>
            </a:xfrm>
            <a:prstGeom prst="line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56CA13B2-A578-4312-821B-5EF2CE628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0" t="29091" r="24930" b="30652"/>
          <a:stretch/>
        </p:blipFill>
        <p:spPr>
          <a:xfrm>
            <a:off x="5673724" y="6385837"/>
            <a:ext cx="847726" cy="3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65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25732D-8B92-4F55-8B4E-E3AC0F1D38E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800"/>
          </a:p>
        </p:txBody>
      </p:sp>
    </p:spTree>
    <p:extLst>
      <p:ext uri="{BB962C8B-B14F-4D97-AF65-F5344CB8AC3E}">
        <p14:creationId xmlns:p14="http://schemas.microsoft.com/office/powerpoint/2010/main" val="162467213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25732D-8B92-4F55-8B4E-E3AC0F1D38E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800"/>
          </a:p>
        </p:txBody>
      </p:sp>
      <p:pic>
        <p:nvPicPr>
          <p:cNvPr id="4" name="Picture 3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C58F94C1-4693-45FC-AB27-66D926EFDA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453" y="1481081"/>
            <a:ext cx="6465094" cy="363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82472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Ageas G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D56E12D3-21C6-42FD-B5B8-55AB720491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3018" y="1014503"/>
            <a:ext cx="6043582" cy="4773840"/>
          </a:xfrm>
          <a:prstGeom prst="rect">
            <a:avLst/>
          </a:prstGeom>
        </p:spPr>
      </p:pic>
      <p:sp>
        <p:nvSpPr>
          <p:cNvPr id="80" name="Retângulo 42">
            <a:extLst>
              <a:ext uri="{FF2B5EF4-FFF2-40B4-BE49-F238E27FC236}">
                <a16:creationId xmlns:a16="http://schemas.microsoft.com/office/drawing/2014/main" id="{C5E22E1A-DCD4-49C8-AF46-585AFDC4503A}"/>
              </a:ext>
            </a:extLst>
          </p:cNvPr>
          <p:cNvSpPr/>
          <p:nvPr userDrawn="1"/>
        </p:nvSpPr>
        <p:spPr>
          <a:xfrm>
            <a:off x="-134" y="1"/>
            <a:ext cx="5793164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100000">
                <a:srgbClr val="EE562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D0E1FEB-EF13-45A9-AFB2-A5D00DA28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2F13099-68D0-4315-B0CB-08F194BB2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8C82C085-A409-4678-86C6-0C75FACC67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82" name="Retângulo 42">
            <a:extLst>
              <a:ext uri="{FF2B5EF4-FFF2-40B4-BE49-F238E27FC236}">
                <a16:creationId xmlns:a16="http://schemas.microsoft.com/office/drawing/2014/main" id="{D6012B38-BB41-401C-9174-4F0BB509F7D1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3" name="Retângulo 42">
            <a:extLst>
              <a:ext uri="{FF2B5EF4-FFF2-40B4-BE49-F238E27FC236}">
                <a16:creationId xmlns:a16="http://schemas.microsoft.com/office/drawing/2014/main" id="{8EF749C8-5442-4D81-909F-DD0ED7A0147D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4" name="Retângulo 42">
            <a:extLst>
              <a:ext uri="{FF2B5EF4-FFF2-40B4-BE49-F238E27FC236}">
                <a16:creationId xmlns:a16="http://schemas.microsoft.com/office/drawing/2014/main" id="{86C06A08-D0AF-4E73-A386-BC9E1FFB334A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13209166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Ag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945CDB48-303A-408A-8854-A44B3F2492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99" y="729014"/>
            <a:ext cx="4419601" cy="2484666"/>
          </a:xfrm>
          <a:prstGeom prst="rect">
            <a:avLst/>
          </a:prstGeom>
        </p:spPr>
      </p:pic>
      <p:sp>
        <p:nvSpPr>
          <p:cNvPr id="30" name="Retângulo 42">
            <a:extLst>
              <a:ext uri="{FF2B5EF4-FFF2-40B4-BE49-F238E27FC236}">
                <a16:creationId xmlns:a16="http://schemas.microsoft.com/office/drawing/2014/main" id="{A477B8E7-399C-4665-B99A-F514F0B3EBA2}"/>
              </a:ext>
            </a:extLst>
          </p:cNvPr>
          <p:cNvSpPr/>
          <p:nvPr userDrawn="1"/>
        </p:nvSpPr>
        <p:spPr>
          <a:xfrm>
            <a:off x="0" y="-4761"/>
            <a:ext cx="5793029" cy="6862762"/>
          </a:xfrm>
          <a:prstGeom prst="rect">
            <a:avLst/>
          </a:prstGeom>
          <a:gradFill flip="none" rotWithShape="1">
            <a:gsLst>
              <a:gs pos="50000">
                <a:srgbClr val="BA0666"/>
              </a:gs>
              <a:gs pos="0">
                <a:schemeClr val="accent4">
                  <a:lumMod val="75000"/>
                </a:schemeClr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F15B9679-1486-4490-A210-C1BB72BDB7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9D99BCA8-8674-414A-A134-3B68DEC6BD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5" name="Text Placeholder 33">
            <a:extLst>
              <a:ext uri="{FF2B5EF4-FFF2-40B4-BE49-F238E27FC236}">
                <a16:creationId xmlns:a16="http://schemas.microsoft.com/office/drawing/2014/main" id="{7421C072-265A-44D2-A2E2-7FE863D08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6" name="Retângulo 42">
            <a:extLst>
              <a:ext uri="{FF2B5EF4-FFF2-40B4-BE49-F238E27FC236}">
                <a16:creationId xmlns:a16="http://schemas.microsoft.com/office/drawing/2014/main" id="{1E4C0890-4D51-4E2E-84B5-7B62981B7BD4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7" name="Retângulo 42">
            <a:extLst>
              <a:ext uri="{FF2B5EF4-FFF2-40B4-BE49-F238E27FC236}">
                <a16:creationId xmlns:a16="http://schemas.microsoft.com/office/drawing/2014/main" id="{843826B2-BA70-4B4F-A375-7B98274606A3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8" name="Retângulo 42">
            <a:extLst>
              <a:ext uri="{FF2B5EF4-FFF2-40B4-BE49-F238E27FC236}">
                <a16:creationId xmlns:a16="http://schemas.microsoft.com/office/drawing/2014/main" id="{2E147320-046E-4ECB-9CA4-AFD0692EEB37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3124A94-E8C1-4B14-8EB9-840D0E1F69D3}"/>
              </a:ext>
            </a:extLst>
          </p:cNvPr>
          <p:cNvSpPr/>
          <p:nvPr userDrawn="1"/>
        </p:nvSpPr>
        <p:spPr>
          <a:xfrm rot="10800000">
            <a:off x="8573626" y="3312058"/>
            <a:ext cx="1127737" cy="53044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6F253A2-3954-4195-AF1C-0D5661F22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8516" y="3482321"/>
            <a:ext cx="2877957" cy="290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865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837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4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Mé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42">
            <a:extLst>
              <a:ext uri="{FF2B5EF4-FFF2-40B4-BE49-F238E27FC236}">
                <a16:creationId xmlns:a16="http://schemas.microsoft.com/office/drawing/2014/main" id="{D5F6CA55-41C2-4ABA-A31F-186454799177}"/>
              </a:ext>
            </a:extLst>
          </p:cNvPr>
          <p:cNvSpPr/>
          <p:nvPr userDrawn="1"/>
        </p:nvSpPr>
        <p:spPr>
          <a:xfrm>
            <a:off x="0" y="-4761"/>
            <a:ext cx="5775384" cy="6862762"/>
          </a:xfrm>
          <a:prstGeom prst="rect">
            <a:avLst/>
          </a:prstGeom>
          <a:gradFill flip="none" rotWithShape="1">
            <a:gsLst>
              <a:gs pos="100000">
                <a:srgbClr val="56C2AD"/>
              </a:gs>
              <a:gs pos="5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F9CE9F9B-6436-487D-B200-E5893ABDF3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45" name="Text Placeholder 31">
            <a:extLst>
              <a:ext uri="{FF2B5EF4-FFF2-40B4-BE49-F238E27FC236}">
                <a16:creationId xmlns:a16="http://schemas.microsoft.com/office/drawing/2014/main" id="{8D395E19-915B-466D-8F14-0F75AFFEC2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8931DBF1-32ED-4D21-9C20-A53AB1B3AF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47" name="Retângulo 42">
            <a:extLst>
              <a:ext uri="{FF2B5EF4-FFF2-40B4-BE49-F238E27FC236}">
                <a16:creationId xmlns:a16="http://schemas.microsoft.com/office/drawing/2014/main" id="{32111B8C-5475-41C7-9814-9D4360599BF3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48" name="Retângulo 42">
            <a:extLst>
              <a:ext uri="{FF2B5EF4-FFF2-40B4-BE49-F238E27FC236}">
                <a16:creationId xmlns:a16="http://schemas.microsoft.com/office/drawing/2014/main" id="{4E8D3D26-C567-4B89-AC44-9A175CC65288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49" name="Retângulo 42">
            <a:extLst>
              <a:ext uri="{FF2B5EF4-FFF2-40B4-BE49-F238E27FC236}">
                <a16:creationId xmlns:a16="http://schemas.microsoft.com/office/drawing/2014/main" id="{329CD31E-96A1-4A22-AD7C-67CF2845B983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E96028E-6B5B-409A-9987-3E2D120A3541}"/>
              </a:ext>
            </a:extLst>
          </p:cNvPr>
          <p:cNvSpPr/>
          <p:nvPr userDrawn="1"/>
        </p:nvSpPr>
        <p:spPr>
          <a:xfrm rot="10800000">
            <a:off x="8573626" y="3312058"/>
            <a:ext cx="1127737" cy="53044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9BDB4DF-DDA7-4FF4-9325-410D133688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6" t="28522" r="7440" b="28522"/>
          <a:stretch/>
        </p:blipFill>
        <p:spPr>
          <a:xfrm>
            <a:off x="7569461" y="3924070"/>
            <a:ext cx="3136065" cy="1600514"/>
          </a:xfrm>
          <a:prstGeom prst="rect">
            <a:avLst/>
          </a:prstGeom>
        </p:spPr>
      </p:pic>
      <p:pic>
        <p:nvPicPr>
          <p:cNvPr id="12" name="Picture 11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15749AE8-4EDE-4014-9999-94F9842C87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99" y="729014"/>
            <a:ext cx="4419601" cy="24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596513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Ocide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6FF3CC0B-CAA9-42AD-B868-2C3F7E2846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715" y="3817257"/>
            <a:ext cx="4651572" cy="1562928"/>
          </a:xfrm>
          <a:prstGeom prst="rect">
            <a:avLst/>
          </a:prstGeom>
        </p:spPr>
      </p:pic>
      <p:sp>
        <p:nvSpPr>
          <p:cNvPr id="12" name="Retângulo 42">
            <a:extLst>
              <a:ext uri="{FF2B5EF4-FFF2-40B4-BE49-F238E27FC236}">
                <a16:creationId xmlns:a16="http://schemas.microsoft.com/office/drawing/2014/main" id="{138196A7-24D1-4D20-B575-B61E8C38143F}"/>
              </a:ext>
            </a:extLst>
          </p:cNvPr>
          <p:cNvSpPr/>
          <p:nvPr userDrawn="1"/>
        </p:nvSpPr>
        <p:spPr>
          <a:xfrm>
            <a:off x="0" y="0"/>
            <a:ext cx="5793029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50000">
                <a:schemeClr val="accent3"/>
              </a:gs>
              <a:gs pos="100000">
                <a:schemeClr val="accent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45260B30-22C4-4FB1-B679-BDCA9AEBAE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1FD0B7C8-8FB1-45CE-B734-693B4A6F97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79E8C11C-DC4A-4B48-86E0-91578A7CB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7" name="Retângulo 42">
            <a:extLst>
              <a:ext uri="{FF2B5EF4-FFF2-40B4-BE49-F238E27FC236}">
                <a16:creationId xmlns:a16="http://schemas.microsoft.com/office/drawing/2014/main" id="{CB73040B-5A66-4EA2-B870-72CCFA64E35E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8" name="Retângulo 42">
            <a:extLst>
              <a:ext uri="{FF2B5EF4-FFF2-40B4-BE49-F238E27FC236}">
                <a16:creationId xmlns:a16="http://schemas.microsoft.com/office/drawing/2014/main" id="{A9582C20-1F1E-4641-A798-1E7B6B419A66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9" name="Retângulo 42">
            <a:extLst>
              <a:ext uri="{FF2B5EF4-FFF2-40B4-BE49-F238E27FC236}">
                <a16:creationId xmlns:a16="http://schemas.microsoft.com/office/drawing/2014/main" id="{1E84100F-F97D-486F-9E0A-705E0E73BA04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E9D8A9-AB36-4AED-8D7B-2D85C2F4D8E7}"/>
              </a:ext>
            </a:extLst>
          </p:cNvPr>
          <p:cNvSpPr/>
          <p:nvPr userDrawn="1"/>
        </p:nvSpPr>
        <p:spPr>
          <a:xfrm rot="10800000">
            <a:off x="8573626" y="3312058"/>
            <a:ext cx="1127737" cy="53044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5" name="Picture 1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3C4CA07D-E94A-4F74-BEF6-1FD73913C8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99" y="729014"/>
            <a:ext cx="4419601" cy="24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5587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i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13F4EE-3401-4947-9BA6-5413A6C545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74073" y="4097284"/>
            <a:ext cx="3365252" cy="845944"/>
          </a:xfrm>
          <a:prstGeom prst="rect">
            <a:avLst/>
          </a:prstGeom>
        </p:spPr>
      </p:pic>
      <p:sp>
        <p:nvSpPr>
          <p:cNvPr id="29" name="Retângulo 42">
            <a:extLst>
              <a:ext uri="{FF2B5EF4-FFF2-40B4-BE49-F238E27FC236}">
                <a16:creationId xmlns:a16="http://schemas.microsoft.com/office/drawing/2014/main" id="{30EB8595-209E-4533-AFBF-C2E8C2E97E0E}"/>
              </a:ext>
            </a:extLst>
          </p:cNvPr>
          <p:cNvSpPr/>
          <p:nvPr userDrawn="1"/>
        </p:nvSpPr>
        <p:spPr>
          <a:xfrm>
            <a:off x="1" y="-4761"/>
            <a:ext cx="5795457" cy="6862762"/>
          </a:xfrm>
          <a:prstGeom prst="rect">
            <a:avLst/>
          </a:prstGeom>
          <a:gradFill flip="none" rotWithShape="1">
            <a:gsLst>
              <a:gs pos="50000">
                <a:srgbClr val="44B5C0"/>
              </a:gs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2ABBD862-886B-4981-A81E-4BA676B7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3FA97B88-9645-4F2F-AC52-6407D45009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3" name="Text Placeholder 33">
            <a:extLst>
              <a:ext uri="{FF2B5EF4-FFF2-40B4-BE49-F238E27FC236}">
                <a16:creationId xmlns:a16="http://schemas.microsoft.com/office/drawing/2014/main" id="{6F020FA3-AF60-46EC-9B65-38F64CCCA4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4" name="Retângulo 42">
            <a:extLst>
              <a:ext uri="{FF2B5EF4-FFF2-40B4-BE49-F238E27FC236}">
                <a16:creationId xmlns:a16="http://schemas.microsoft.com/office/drawing/2014/main" id="{EC1F3215-39AF-4947-AFF0-7E693ACE8153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5" name="Retângulo 42">
            <a:extLst>
              <a:ext uri="{FF2B5EF4-FFF2-40B4-BE49-F238E27FC236}">
                <a16:creationId xmlns:a16="http://schemas.microsoft.com/office/drawing/2014/main" id="{FDF9A186-5E68-4162-9586-E00908957481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6" name="Retângulo 42">
            <a:extLst>
              <a:ext uri="{FF2B5EF4-FFF2-40B4-BE49-F238E27FC236}">
                <a16:creationId xmlns:a16="http://schemas.microsoft.com/office/drawing/2014/main" id="{3DB11296-ABAE-4903-9AA5-DA093362918C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D4475E1-4203-4B48-8347-389754666AEB}"/>
              </a:ext>
            </a:extLst>
          </p:cNvPr>
          <p:cNvSpPr/>
          <p:nvPr userDrawn="1"/>
        </p:nvSpPr>
        <p:spPr>
          <a:xfrm rot="10800000">
            <a:off x="8573626" y="3312058"/>
            <a:ext cx="1127737" cy="53044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2" name="Picture 11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F1BD6AA9-1842-48E0-8715-9C8050BBCD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99" y="729014"/>
            <a:ext cx="4419601" cy="24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56542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Re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42">
            <a:extLst>
              <a:ext uri="{FF2B5EF4-FFF2-40B4-BE49-F238E27FC236}">
                <a16:creationId xmlns:a16="http://schemas.microsoft.com/office/drawing/2014/main" id="{30EB8595-209E-4533-AFBF-C2E8C2E97E0E}"/>
              </a:ext>
            </a:extLst>
          </p:cNvPr>
          <p:cNvSpPr/>
          <p:nvPr userDrawn="1"/>
        </p:nvSpPr>
        <p:spPr>
          <a:xfrm>
            <a:off x="1" y="-4761"/>
            <a:ext cx="5795457" cy="6862762"/>
          </a:xfrm>
          <a:prstGeom prst="rect">
            <a:avLst/>
          </a:prstGeom>
          <a:solidFill>
            <a:srgbClr val="FC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2ABBD862-886B-4981-A81E-4BA676B7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3FA97B88-9645-4F2F-AC52-6407D45009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3" name="Text Placeholder 33">
            <a:extLst>
              <a:ext uri="{FF2B5EF4-FFF2-40B4-BE49-F238E27FC236}">
                <a16:creationId xmlns:a16="http://schemas.microsoft.com/office/drawing/2014/main" id="{6F020FA3-AF60-46EC-9B65-38F64CCCA4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4" name="Retângulo 42">
            <a:extLst>
              <a:ext uri="{FF2B5EF4-FFF2-40B4-BE49-F238E27FC236}">
                <a16:creationId xmlns:a16="http://schemas.microsoft.com/office/drawing/2014/main" id="{EC1F3215-39AF-4947-AFF0-7E693ACE8153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5" name="Retângulo 42">
            <a:extLst>
              <a:ext uri="{FF2B5EF4-FFF2-40B4-BE49-F238E27FC236}">
                <a16:creationId xmlns:a16="http://schemas.microsoft.com/office/drawing/2014/main" id="{FDF9A186-5E68-4162-9586-E00908957481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6" name="Retângulo 42">
            <a:extLst>
              <a:ext uri="{FF2B5EF4-FFF2-40B4-BE49-F238E27FC236}">
                <a16:creationId xmlns:a16="http://schemas.microsoft.com/office/drawing/2014/main" id="{3DB11296-ABAE-4903-9AA5-DA093362918C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D4475E1-4203-4B48-8347-389754666AEB}"/>
              </a:ext>
            </a:extLst>
          </p:cNvPr>
          <p:cNvSpPr/>
          <p:nvPr userDrawn="1"/>
        </p:nvSpPr>
        <p:spPr>
          <a:xfrm rot="10800000">
            <a:off x="8573626" y="3312058"/>
            <a:ext cx="1127737" cy="53044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rgbClr val="FC9E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336917-C761-44FC-9115-468919C500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61545" y="3996310"/>
            <a:ext cx="2151896" cy="932031"/>
          </a:xfrm>
          <a:prstGeom prst="rect">
            <a:avLst/>
          </a:prstGeom>
        </p:spPr>
      </p:pic>
      <p:pic>
        <p:nvPicPr>
          <p:cNvPr id="12" name="Picture 11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D4EF3A50-4059-4E54-800D-AF1A9713B0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99" y="729014"/>
            <a:ext cx="4419601" cy="24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2339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Pens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FEA4FC4E-067B-4700-B0B7-3E60CFF123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2" t="25585" r="23732" b="28257"/>
          <a:stretch/>
        </p:blipFill>
        <p:spPr>
          <a:xfrm>
            <a:off x="7955323" y="3810823"/>
            <a:ext cx="2365628" cy="1112171"/>
          </a:xfrm>
          <a:prstGeom prst="rect">
            <a:avLst/>
          </a:prstGeom>
        </p:spPr>
      </p:pic>
      <p:sp>
        <p:nvSpPr>
          <p:cNvPr id="29" name="Retângulo 42">
            <a:extLst>
              <a:ext uri="{FF2B5EF4-FFF2-40B4-BE49-F238E27FC236}">
                <a16:creationId xmlns:a16="http://schemas.microsoft.com/office/drawing/2014/main" id="{30EB8595-209E-4533-AFBF-C2E8C2E97E0E}"/>
              </a:ext>
            </a:extLst>
          </p:cNvPr>
          <p:cNvSpPr/>
          <p:nvPr userDrawn="1"/>
        </p:nvSpPr>
        <p:spPr>
          <a:xfrm>
            <a:off x="1" y="-4761"/>
            <a:ext cx="5795457" cy="686276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1" name="Text Placeholder 29">
            <a:extLst>
              <a:ext uri="{FF2B5EF4-FFF2-40B4-BE49-F238E27FC236}">
                <a16:creationId xmlns:a16="http://schemas.microsoft.com/office/drawing/2014/main" id="{2ABBD862-886B-4981-A81E-4BA676B754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6116" y="1455916"/>
            <a:ext cx="5340665" cy="166828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2" name="Text Placeholder 31">
            <a:extLst>
              <a:ext uri="{FF2B5EF4-FFF2-40B4-BE49-F238E27FC236}">
                <a16:creationId xmlns:a16="http://schemas.microsoft.com/office/drawing/2014/main" id="{3FA97B88-9645-4F2F-AC52-6407D45009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752" y="4044238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3" name="Text Placeholder 33">
            <a:extLst>
              <a:ext uri="{FF2B5EF4-FFF2-40B4-BE49-F238E27FC236}">
                <a16:creationId xmlns:a16="http://schemas.microsoft.com/office/drawing/2014/main" id="{6F020FA3-AF60-46EC-9B65-38F64CCCA4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12" y="5305792"/>
            <a:ext cx="5757873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74" name="Retângulo 42">
            <a:extLst>
              <a:ext uri="{FF2B5EF4-FFF2-40B4-BE49-F238E27FC236}">
                <a16:creationId xmlns:a16="http://schemas.microsoft.com/office/drawing/2014/main" id="{EC1F3215-39AF-4947-AFF0-7E693ACE8153}"/>
              </a:ext>
            </a:extLst>
          </p:cNvPr>
          <p:cNvSpPr/>
          <p:nvPr userDrawn="1"/>
        </p:nvSpPr>
        <p:spPr>
          <a:xfrm>
            <a:off x="2056447" y="3641949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5" name="Retângulo 42">
            <a:extLst>
              <a:ext uri="{FF2B5EF4-FFF2-40B4-BE49-F238E27FC236}">
                <a16:creationId xmlns:a16="http://schemas.microsoft.com/office/drawing/2014/main" id="{FDF9A186-5E68-4162-9586-E00908957481}"/>
              </a:ext>
            </a:extLst>
          </p:cNvPr>
          <p:cNvSpPr/>
          <p:nvPr userDrawn="1"/>
        </p:nvSpPr>
        <p:spPr>
          <a:xfrm>
            <a:off x="2056447" y="4901931"/>
            <a:ext cx="1680000" cy="91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6" name="Retângulo 42">
            <a:extLst>
              <a:ext uri="{FF2B5EF4-FFF2-40B4-BE49-F238E27FC236}">
                <a16:creationId xmlns:a16="http://schemas.microsoft.com/office/drawing/2014/main" id="{3DB11296-ABAE-4903-9AA5-DA093362918C}"/>
              </a:ext>
            </a:extLst>
          </p:cNvPr>
          <p:cNvSpPr/>
          <p:nvPr userDrawn="1"/>
        </p:nvSpPr>
        <p:spPr>
          <a:xfrm>
            <a:off x="5929329" y="1"/>
            <a:ext cx="151931" cy="6862763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D4475E1-4203-4B48-8347-389754666AEB}"/>
              </a:ext>
            </a:extLst>
          </p:cNvPr>
          <p:cNvSpPr/>
          <p:nvPr userDrawn="1"/>
        </p:nvSpPr>
        <p:spPr>
          <a:xfrm rot="10800000">
            <a:off x="8573626" y="3312058"/>
            <a:ext cx="1127737" cy="53044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3" name="Picture 12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EA9CBF96-BBF9-4BCC-8DCA-B4DA74D573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899" y="729014"/>
            <a:ext cx="4419601" cy="248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3551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G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42">
            <a:extLst>
              <a:ext uri="{FF2B5EF4-FFF2-40B4-BE49-F238E27FC236}">
                <a16:creationId xmlns:a16="http://schemas.microsoft.com/office/drawing/2014/main" id="{CD648792-EE0C-48F0-AD6F-8EF4C06F329C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2302279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Ag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2">
            <a:extLst>
              <a:ext uri="{FF2B5EF4-FFF2-40B4-BE49-F238E27FC236}">
                <a16:creationId xmlns:a16="http://schemas.microsoft.com/office/drawing/2014/main" id="{EE9BB289-A471-4238-AAE4-BBDCDBADD6B2}"/>
              </a:ext>
            </a:extLst>
          </p:cNvPr>
          <p:cNvSpPr/>
          <p:nvPr userDrawn="1"/>
        </p:nvSpPr>
        <p:spPr>
          <a:xfrm>
            <a:off x="0" y="0"/>
            <a:ext cx="12192000" cy="68675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15483666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Mé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42">
            <a:extLst>
              <a:ext uri="{FF2B5EF4-FFF2-40B4-BE49-F238E27FC236}">
                <a16:creationId xmlns:a16="http://schemas.microsoft.com/office/drawing/2014/main" id="{CD648792-EE0C-48F0-AD6F-8EF4C06F329C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rgbClr val="56C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5625302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Ocide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2">
            <a:extLst>
              <a:ext uri="{FF2B5EF4-FFF2-40B4-BE49-F238E27FC236}">
                <a16:creationId xmlns:a16="http://schemas.microsoft.com/office/drawing/2014/main" id="{D27722DB-8399-4724-BD2E-738196F6B9A7}"/>
              </a:ext>
            </a:extLst>
          </p:cNvPr>
          <p:cNvSpPr/>
          <p:nvPr userDrawn="1"/>
        </p:nvSpPr>
        <p:spPr>
          <a:xfrm>
            <a:off x="0" y="-9526"/>
            <a:ext cx="12192000" cy="68675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8109945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Di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42">
            <a:extLst>
              <a:ext uri="{FF2B5EF4-FFF2-40B4-BE49-F238E27FC236}">
                <a16:creationId xmlns:a16="http://schemas.microsoft.com/office/drawing/2014/main" id="{CD648792-EE0C-48F0-AD6F-8EF4C06F329C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326002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Re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42">
            <a:extLst>
              <a:ext uri="{FF2B5EF4-FFF2-40B4-BE49-F238E27FC236}">
                <a16:creationId xmlns:a16="http://schemas.microsoft.com/office/drawing/2014/main" id="{CD648792-EE0C-48F0-AD6F-8EF4C06F329C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rgbClr val="FC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9335539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Pens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2">
            <a:extLst>
              <a:ext uri="{FF2B5EF4-FFF2-40B4-BE49-F238E27FC236}">
                <a16:creationId xmlns:a16="http://schemas.microsoft.com/office/drawing/2014/main" id="{B852C6F4-BABF-42E9-B637-C29B3AA7C474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0" name="Retângulo 42">
            <a:extLst>
              <a:ext uri="{FF2B5EF4-FFF2-40B4-BE49-F238E27FC236}">
                <a16:creationId xmlns:a16="http://schemas.microsoft.com/office/drawing/2014/main" id="{83A8F9A1-CF85-42E6-8EB2-FAB244CA658A}"/>
              </a:ext>
            </a:extLst>
          </p:cNvPr>
          <p:cNvSpPr/>
          <p:nvPr userDrawn="1"/>
        </p:nvSpPr>
        <p:spPr>
          <a:xfrm>
            <a:off x="4667655" y="3996535"/>
            <a:ext cx="2888845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67E7A-EF6B-41E3-8EC8-1B9FD675408C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206851" y="2099498"/>
            <a:ext cx="3778299" cy="1892300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Nº</a:t>
            </a:r>
            <a:endParaRPr lang="pt-PT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851" y="4296099"/>
            <a:ext cx="3778299" cy="6143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95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8064279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120F44-9253-4C99-9AE5-96F93F5D91E6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80571" y="1585914"/>
            <a:ext cx="5220000" cy="4611687"/>
          </a:xfrm>
        </p:spPr>
        <p:txBody>
          <a:bodyPr anchor="ctr">
            <a:normAutofit/>
          </a:bodyPr>
          <a:lstStyle>
            <a:lvl1pPr algn="ctr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A6FB2-687F-4017-A202-D79E392E9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2705" y="480601"/>
            <a:ext cx="10159195" cy="59055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9" name="Retângulo 42">
            <a:extLst>
              <a:ext uri="{FF2B5EF4-FFF2-40B4-BE49-F238E27FC236}">
                <a16:creationId xmlns:a16="http://schemas.microsoft.com/office/drawing/2014/main" id="{337BF4A8-D345-4E70-BF9F-50B7FA18249A}"/>
              </a:ext>
            </a:extLst>
          </p:cNvPr>
          <p:cNvSpPr/>
          <p:nvPr userDrawn="1"/>
        </p:nvSpPr>
        <p:spPr>
          <a:xfrm>
            <a:off x="1" y="586741"/>
            <a:ext cx="1235880" cy="3352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" name="Table Placeholder 10">
            <a:extLst>
              <a:ext uri="{FF2B5EF4-FFF2-40B4-BE49-F238E27FC236}">
                <a16:creationId xmlns:a16="http://schemas.microsoft.com/office/drawing/2014/main" id="{CA838421-666E-4FF6-BC60-9094E8DEF1B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6391431" y="1585914"/>
            <a:ext cx="5220000" cy="4611687"/>
          </a:xfrm>
        </p:spPr>
        <p:txBody>
          <a:bodyPr anchor="ctr">
            <a:normAutofit/>
          </a:bodyPr>
          <a:lstStyle>
            <a:lvl1pPr algn="ctr"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034828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0160-DAEE-40E4-A8F3-185456BF4A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2389" y="1277937"/>
            <a:ext cx="11266709" cy="4892400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BA6FB2-687F-4017-A202-D79E392E9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66709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" name="Retângulo 42">
            <a:extLst>
              <a:ext uri="{FF2B5EF4-FFF2-40B4-BE49-F238E27FC236}">
                <a16:creationId xmlns:a16="http://schemas.microsoft.com/office/drawing/2014/main" id="{277B987E-A59D-41B8-993B-36936D69AFA1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14512442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aix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0160-DAEE-40E4-A8F3-185456BF4A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3121" y="1416950"/>
            <a:ext cx="4992744" cy="2162632"/>
          </a:xfrm>
          <a:ln w="12700">
            <a:solidFill>
              <a:srgbClr val="636566"/>
            </a:solidFill>
          </a:ln>
        </p:spPr>
        <p:txBody>
          <a:bodyPr lIns="504000" tIns="468000" rIns="288000" anchor="t">
            <a:normAutofit/>
          </a:bodyPr>
          <a:lstStyle>
            <a:lvl1pPr marL="180975" indent="0"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6C1CCA6-35CF-4430-9C22-AAA2EB22AE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7349" y="1241439"/>
            <a:ext cx="3584292" cy="42126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BF712-1B78-4343-A5F7-2AE3AF9BA2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3121" y="1944905"/>
            <a:ext cx="1080000" cy="922337"/>
          </a:xfr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5400" b="1">
                <a:solidFill>
                  <a:srgbClr val="D3077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dirty="0"/>
              <a:t>Nº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467FE1C-27B2-40D4-AB76-0D12D51E9E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551" y="1416950"/>
            <a:ext cx="4992744" cy="2162632"/>
          </a:xfrm>
          <a:ln w="12700">
            <a:solidFill>
              <a:srgbClr val="636566"/>
            </a:solidFill>
          </a:ln>
        </p:spPr>
        <p:txBody>
          <a:bodyPr lIns="504000" tIns="468000" rIns="288000" anchor="t">
            <a:normAutofit/>
          </a:bodyPr>
          <a:lstStyle>
            <a:lvl1pPr marL="180975" indent="0"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73D1222A-2EDA-4886-B4ED-C29E8D4FC9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36778" y="1241439"/>
            <a:ext cx="3584292" cy="42126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AE1D6C2E-A556-4057-A482-51473657FE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9935" y="1944905"/>
            <a:ext cx="1080000" cy="922337"/>
          </a:xfr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dirty="0"/>
              <a:t>Nº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D6EB6F5-DBAE-4A5F-AAA1-E41386D995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3121" y="4029171"/>
            <a:ext cx="4992744" cy="2162632"/>
          </a:xfrm>
          <a:ln w="12700">
            <a:solidFill>
              <a:srgbClr val="636566"/>
            </a:solidFill>
          </a:ln>
        </p:spPr>
        <p:txBody>
          <a:bodyPr lIns="504000" tIns="468000" rIns="288000" anchor="t">
            <a:normAutofit/>
          </a:bodyPr>
          <a:lstStyle>
            <a:lvl1pPr marL="180975" indent="0"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00A50EB2-D696-4941-B05E-86F749BF0E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7349" y="3853660"/>
            <a:ext cx="3584292" cy="42126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27CA7548-3C9B-436A-9FB6-E7CBB6338B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505" y="4557126"/>
            <a:ext cx="1080000" cy="922337"/>
          </a:xfr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5400" b="1">
                <a:solidFill>
                  <a:srgbClr val="EE562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dirty="0"/>
              <a:t>Nº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2BA035D-FE1C-4A31-A70C-FF5F775A43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32551" y="4029171"/>
            <a:ext cx="4992744" cy="2162632"/>
          </a:xfrm>
          <a:ln w="12700">
            <a:solidFill>
              <a:srgbClr val="636566"/>
            </a:solidFill>
          </a:ln>
        </p:spPr>
        <p:txBody>
          <a:bodyPr lIns="504000" tIns="468000" rIns="288000" anchor="t">
            <a:normAutofit/>
          </a:bodyPr>
          <a:lstStyle>
            <a:lvl1pPr marL="180975" indent="0"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88497FB5-5381-4250-8F35-7386304DBA0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36778" y="3853660"/>
            <a:ext cx="3584292" cy="421269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7A1FBD69-0B4C-4023-A5D4-B01B984091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89935" y="4557126"/>
            <a:ext cx="1080000" cy="922337"/>
          </a:xfr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dirty="0"/>
              <a:t>Nº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069094C-077D-4F2A-8D4C-DD1E9E1C1B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352906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9" name="Retângulo 42">
            <a:extLst>
              <a:ext uri="{FF2B5EF4-FFF2-40B4-BE49-F238E27FC236}">
                <a16:creationId xmlns:a16="http://schemas.microsoft.com/office/drawing/2014/main" id="{F662701C-6050-4B9C-ADF0-AB08F2CAB35B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103558340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2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C1E94610-A9E9-47B5-BFA7-7C73830FE5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23912" y="1585655"/>
            <a:ext cx="5400000" cy="4615120"/>
          </a:xfrm>
          <a:ln>
            <a:solidFill>
              <a:srgbClr val="636566"/>
            </a:solidFill>
          </a:ln>
        </p:spPr>
        <p:txBody>
          <a:bodyPr lIns="324000" tIns="396000" rIns="288000" anchor="t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90160-DAEE-40E4-A8F3-185456BF4A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090" y="1585655"/>
            <a:ext cx="5400000" cy="4615120"/>
          </a:xfrm>
          <a:ln>
            <a:solidFill>
              <a:srgbClr val="636566"/>
            </a:solidFill>
          </a:ln>
        </p:spPr>
        <p:txBody>
          <a:bodyPr lIns="324000" tIns="396000" rIns="288000" anchor="t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defRPr sz="1200"/>
            </a:lvl2pPr>
            <a:lvl3pPr algn="l">
              <a:defRPr sz="1200"/>
            </a:lvl3pPr>
            <a:lvl4pPr algn="l">
              <a:defRPr sz="1200"/>
            </a:lvl4pPr>
            <a:lvl5pPr algn="l"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4B8277F-FAA4-45A9-A351-E54BC08D8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4844" y="1371108"/>
            <a:ext cx="4698136" cy="421269"/>
          </a:xfrm>
          <a:gradFill>
            <a:gsLst>
              <a:gs pos="11000">
                <a:schemeClr val="accent1"/>
              </a:gs>
              <a:gs pos="83000">
                <a:schemeClr val="accent2"/>
              </a:gs>
            </a:gsLst>
            <a:lin ang="0" scaled="0"/>
          </a:gra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6C1CCA6-35CF-4430-9C22-AAA2EB22AE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022" y="1371108"/>
            <a:ext cx="4698136" cy="421269"/>
          </a:xfrm>
          <a:gradFill>
            <a:gsLst>
              <a:gs pos="0">
                <a:schemeClr val="accent4"/>
              </a:gs>
              <a:gs pos="100000">
                <a:schemeClr val="accent3"/>
              </a:gs>
            </a:gsLst>
            <a:lin ang="0" scaled="0"/>
          </a:gra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B0A66C5-24EA-42F4-8171-86914623A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352906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1" name="Retângulo 42">
            <a:extLst>
              <a:ext uri="{FF2B5EF4-FFF2-40B4-BE49-F238E27FC236}">
                <a16:creationId xmlns:a16="http://schemas.microsoft.com/office/drawing/2014/main" id="{3BB8F980-B44A-4280-A98B-6BEFF83CFA5A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2935711997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608A794-C6B2-49A6-9784-21613880C9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792" y="1926032"/>
            <a:ext cx="3552000" cy="4274743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6C1CCA6-35CF-4430-9C22-AAA2EB22AE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91" y="1253952"/>
            <a:ext cx="3571403" cy="421269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C2C60FB-71F0-4671-909E-5DE8867F29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1849" y="1253952"/>
            <a:ext cx="3571403" cy="421269"/>
          </a:xfrm>
          <a:solidFill>
            <a:schemeClr val="accent3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4125E91A-0526-41F5-87A7-A8AB87FAB2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3892" y="1253952"/>
            <a:ext cx="3571403" cy="421269"/>
          </a:xfrm>
          <a:solidFill>
            <a:schemeClr val="accent4"/>
          </a:solidFill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</a:t>
            </a:r>
            <a:endParaRPr lang="pt-PT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AA44B60-EC77-4280-8ECF-31B34F0D159D}"/>
              </a:ext>
            </a:extLst>
          </p:cNvPr>
          <p:cNvCxnSpPr>
            <a:cxnSpLocks/>
          </p:cNvCxnSpPr>
          <p:nvPr userDrawn="1"/>
        </p:nvCxnSpPr>
        <p:spPr>
          <a:xfrm>
            <a:off x="4204486" y="1253951"/>
            <a:ext cx="0" cy="4946824"/>
          </a:xfrm>
          <a:prstGeom prst="line">
            <a:avLst/>
          </a:prstGeom>
          <a:noFill/>
          <a:ln>
            <a:solidFill>
              <a:srgbClr val="6365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D463B08-02E0-475B-9BCC-48A5DBEBE4CA}"/>
              </a:ext>
            </a:extLst>
          </p:cNvPr>
          <p:cNvCxnSpPr>
            <a:cxnSpLocks/>
          </p:cNvCxnSpPr>
          <p:nvPr userDrawn="1"/>
        </p:nvCxnSpPr>
        <p:spPr>
          <a:xfrm>
            <a:off x="8096432" y="1253951"/>
            <a:ext cx="0" cy="4946824"/>
          </a:xfrm>
          <a:prstGeom prst="line">
            <a:avLst/>
          </a:prstGeom>
          <a:noFill/>
          <a:ln>
            <a:solidFill>
              <a:srgbClr val="63656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8F6FD720-B516-4AD8-8158-7A56B64202FD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4370693" y="1926032"/>
            <a:ext cx="3552000" cy="4274743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69A5671-2CA0-4B92-B25E-70EAB78DDB56}"/>
              </a:ext>
            </a:extLst>
          </p:cNvPr>
          <p:cNvSpPr>
            <a:spLocks noGrp="1"/>
          </p:cNvSpPr>
          <p:nvPr userDrawn="1">
            <p:ph type="body" sz="quarter" idx="19"/>
          </p:nvPr>
        </p:nvSpPr>
        <p:spPr>
          <a:xfrm>
            <a:off x="8263593" y="1926032"/>
            <a:ext cx="3552000" cy="4274743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3DE9908-07B3-41EA-8842-A00C116744B0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72389" y="362346"/>
            <a:ext cx="11352906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8" name="Retângulo 42">
            <a:extLst>
              <a:ext uri="{FF2B5EF4-FFF2-40B4-BE49-F238E27FC236}">
                <a16:creationId xmlns:a16="http://schemas.microsoft.com/office/drawing/2014/main" id="{A6AD4A26-E71C-4EBA-BD87-E9152CA4B64C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138589805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Quad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42">
            <a:extLst>
              <a:ext uri="{FF2B5EF4-FFF2-40B4-BE49-F238E27FC236}">
                <a16:creationId xmlns:a16="http://schemas.microsoft.com/office/drawing/2014/main" id="{263E8725-3635-4583-8DED-516153445941}"/>
              </a:ext>
            </a:extLst>
          </p:cNvPr>
          <p:cNvSpPr/>
          <p:nvPr/>
        </p:nvSpPr>
        <p:spPr>
          <a:xfrm>
            <a:off x="1" y="1174750"/>
            <a:ext cx="3053049" cy="2520000"/>
          </a:xfrm>
          <a:prstGeom prst="rect">
            <a:avLst/>
          </a:prstGeom>
          <a:solidFill>
            <a:srgbClr val="D307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 dirty="0"/>
          </a:p>
        </p:txBody>
      </p:sp>
      <p:sp>
        <p:nvSpPr>
          <p:cNvPr id="15" name="Retângulo 42">
            <a:extLst>
              <a:ext uri="{FF2B5EF4-FFF2-40B4-BE49-F238E27FC236}">
                <a16:creationId xmlns:a16="http://schemas.microsoft.com/office/drawing/2014/main" id="{23736B79-C07A-464C-A550-238B99371B61}"/>
              </a:ext>
            </a:extLst>
          </p:cNvPr>
          <p:cNvSpPr/>
          <p:nvPr/>
        </p:nvSpPr>
        <p:spPr>
          <a:xfrm>
            <a:off x="3053050" y="3683000"/>
            <a:ext cx="3053049" cy="2520000"/>
          </a:xfrm>
          <a:prstGeom prst="rect">
            <a:avLst/>
          </a:prstGeom>
          <a:solidFill>
            <a:srgbClr val="EE5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 dirty="0"/>
          </a:p>
        </p:txBody>
      </p:sp>
      <p:sp>
        <p:nvSpPr>
          <p:cNvPr id="18" name="Retângulo 42">
            <a:extLst>
              <a:ext uri="{FF2B5EF4-FFF2-40B4-BE49-F238E27FC236}">
                <a16:creationId xmlns:a16="http://schemas.microsoft.com/office/drawing/2014/main" id="{F1050070-A21B-4703-98E9-E1D794022A85}"/>
              </a:ext>
            </a:extLst>
          </p:cNvPr>
          <p:cNvSpPr/>
          <p:nvPr/>
        </p:nvSpPr>
        <p:spPr>
          <a:xfrm>
            <a:off x="6096001" y="1174750"/>
            <a:ext cx="3053049" cy="2520000"/>
          </a:xfrm>
          <a:prstGeom prst="rect">
            <a:avLst/>
          </a:prstGeom>
          <a:solidFill>
            <a:srgbClr val="56C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20" name="Retângulo 42">
            <a:extLst>
              <a:ext uri="{FF2B5EF4-FFF2-40B4-BE49-F238E27FC236}">
                <a16:creationId xmlns:a16="http://schemas.microsoft.com/office/drawing/2014/main" id="{CF9729CF-3AE5-4540-80DB-1231E535A271}"/>
              </a:ext>
            </a:extLst>
          </p:cNvPr>
          <p:cNvSpPr/>
          <p:nvPr/>
        </p:nvSpPr>
        <p:spPr>
          <a:xfrm>
            <a:off x="9138952" y="3683000"/>
            <a:ext cx="3053049" cy="2520000"/>
          </a:xfrm>
          <a:prstGeom prst="rect">
            <a:avLst/>
          </a:prstGeom>
          <a:solidFill>
            <a:srgbClr val="58C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608A794-C6B2-49A6-9784-21613880C9C1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20924" y="2495364"/>
            <a:ext cx="2611200" cy="933636"/>
          </a:xfrm>
        </p:spPr>
        <p:txBody>
          <a:bodyPr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6" name="Retângulo 42">
            <a:extLst>
              <a:ext uri="{FF2B5EF4-FFF2-40B4-BE49-F238E27FC236}">
                <a16:creationId xmlns:a16="http://schemas.microsoft.com/office/drawing/2014/main" id="{1DA623A7-1B63-44CE-8EEF-C650B56F235D}"/>
              </a:ext>
            </a:extLst>
          </p:cNvPr>
          <p:cNvSpPr/>
          <p:nvPr/>
        </p:nvSpPr>
        <p:spPr>
          <a:xfrm>
            <a:off x="10033746" y="4784744"/>
            <a:ext cx="1289604" cy="77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000"/>
          </a:p>
        </p:txBody>
      </p:sp>
      <p:sp>
        <p:nvSpPr>
          <p:cNvPr id="55" name="Retângulo 42">
            <a:extLst>
              <a:ext uri="{FF2B5EF4-FFF2-40B4-BE49-F238E27FC236}">
                <a16:creationId xmlns:a16="http://schemas.microsoft.com/office/drawing/2014/main" id="{DECE1103-3210-459B-B010-FE8531556C7B}"/>
              </a:ext>
            </a:extLst>
          </p:cNvPr>
          <p:cNvSpPr/>
          <p:nvPr/>
        </p:nvSpPr>
        <p:spPr>
          <a:xfrm>
            <a:off x="6972955" y="2355788"/>
            <a:ext cx="1289604" cy="77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000"/>
          </a:p>
        </p:txBody>
      </p:sp>
      <p:sp>
        <p:nvSpPr>
          <p:cNvPr id="64" name="Retângulo 42">
            <a:extLst>
              <a:ext uri="{FF2B5EF4-FFF2-40B4-BE49-F238E27FC236}">
                <a16:creationId xmlns:a16="http://schemas.microsoft.com/office/drawing/2014/main" id="{ECB1B0A0-A8F5-42F2-B8B7-81B21B40BC38}"/>
              </a:ext>
            </a:extLst>
          </p:cNvPr>
          <p:cNvSpPr/>
          <p:nvPr/>
        </p:nvSpPr>
        <p:spPr>
          <a:xfrm>
            <a:off x="3930095" y="4784745"/>
            <a:ext cx="1289604" cy="77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000"/>
          </a:p>
        </p:txBody>
      </p:sp>
      <p:sp>
        <p:nvSpPr>
          <p:cNvPr id="80" name="Retângulo 42">
            <a:extLst>
              <a:ext uri="{FF2B5EF4-FFF2-40B4-BE49-F238E27FC236}">
                <a16:creationId xmlns:a16="http://schemas.microsoft.com/office/drawing/2014/main" id="{73D22F23-94D7-4DC1-BE22-222545305468}"/>
              </a:ext>
            </a:extLst>
          </p:cNvPr>
          <p:cNvSpPr/>
          <p:nvPr/>
        </p:nvSpPr>
        <p:spPr>
          <a:xfrm>
            <a:off x="881723" y="2356190"/>
            <a:ext cx="1289604" cy="779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00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CB309280-25FD-4711-8ABE-386E517503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2156" y="2495364"/>
            <a:ext cx="2611200" cy="933636"/>
          </a:xfrm>
        </p:spPr>
        <p:txBody>
          <a:bodyPr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16749485-89A7-41B9-904E-8E52C09E4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56224" y="1452346"/>
            <a:ext cx="2611200" cy="1964808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4B109643-51BB-4C69-903F-0D2EE1D40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58739" y="1452346"/>
            <a:ext cx="2611200" cy="1964808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  <a:endParaRPr lang="pt-PT" dirty="0"/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2E5DC6E8-8A6A-4D3F-ABC7-4439B88D2B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69296" y="4932479"/>
            <a:ext cx="2611200" cy="1031982"/>
          </a:xfrm>
        </p:spPr>
        <p:txBody>
          <a:bodyPr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7EA39D74-5A06-413F-AABB-1CB7BC72D8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50736" y="4932479"/>
            <a:ext cx="2611200" cy="1031982"/>
          </a:xfrm>
        </p:spPr>
        <p:txBody>
          <a:bodyPr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B96EBC4-F439-4BBF-8066-16948F4C4B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97550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4" name="Retângulo 42">
            <a:extLst>
              <a:ext uri="{FF2B5EF4-FFF2-40B4-BE49-F238E27FC236}">
                <a16:creationId xmlns:a16="http://schemas.microsoft.com/office/drawing/2014/main" id="{DACE6176-74FB-4DE9-A7E5-711B660E858E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D8574851-BC54-431C-928F-5CDC047704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7078" y="3960596"/>
            <a:ext cx="2611200" cy="1964808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  <a:endParaRPr lang="pt-PT" dirty="0"/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E52AE3BD-D8F4-45CB-921D-D18E37670C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0871" y="3960596"/>
            <a:ext cx="2611200" cy="1964808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spcBef>
                <a:spcPts val="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4171896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7CA8B67-868F-45CF-8F5B-7D7DB71FD1A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146799" y="2946653"/>
            <a:ext cx="5748867" cy="3254123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A723E7D-033B-4229-B86B-BDD677C82B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46800" y="1261102"/>
            <a:ext cx="5748201" cy="1393198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228EEF0-7FB8-49C0-AD18-92C00E2934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68091" y="1261101"/>
            <a:ext cx="5494560" cy="4939674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15422D-9917-4CE5-8302-B81AC8BB0A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0" name="Retângulo 42">
            <a:extLst>
              <a:ext uri="{FF2B5EF4-FFF2-40B4-BE49-F238E27FC236}">
                <a16:creationId xmlns:a16="http://schemas.microsoft.com/office/drawing/2014/main" id="{C23B2C53-6F66-48AB-9486-1AB2EFD4CDB0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423238927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7CA8B67-868F-45CF-8F5B-7D7DB71FD1A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002840" y="1358740"/>
            <a:ext cx="4323920" cy="2206149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D36EB5-D059-4D10-A783-3137F50C87F5}"/>
              </a:ext>
            </a:extLst>
          </p:cNvPr>
          <p:cNvSpPr/>
          <p:nvPr userDrawn="1"/>
        </p:nvSpPr>
        <p:spPr>
          <a:xfrm rot="16200000">
            <a:off x="1991876" y="-239273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5578F-FEBD-42EE-88D6-26ECD4727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652" y="1057275"/>
            <a:ext cx="3549649" cy="425450"/>
          </a:xfrm>
          <a:solidFill>
            <a:schemeClr val="accent1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0" name="Chart Placeholder 5">
            <a:extLst>
              <a:ext uri="{FF2B5EF4-FFF2-40B4-BE49-F238E27FC236}">
                <a16:creationId xmlns:a16="http://schemas.microsoft.com/office/drawing/2014/main" id="{FB7F3880-0E49-4268-A7C4-B69B1DCDAFA5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851003" y="1358740"/>
            <a:ext cx="4323920" cy="2206149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B840B1-1BE2-4D03-BAA1-00F100F1626E}"/>
              </a:ext>
            </a:extLst>
          </p:cNvPr>
          <p:cNvSpPr/>
          <p:nvPr userDrawn="1"/>
        </p:nvSpPr>
        <p:spPr>
          <a:xfrm rot="16200000">
            <a:off x="7840039" y="-239273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CCE230E0-E2B4-4525-9D20-CC9824B05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38814" y="1057275"/>
            <a:ext cx="3549649" cy="425450"/>
          </a:xfrm>
          <a:solidFill>
            <a:schemeClr val="accent3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4" name="Chart Placeholder 5">
            <a:extLst>
              <a:ext uri="{FF2B5EF4-FFF2-40B4-BE49-F238E27FC236}">
                <a16:creationId xmlns:a16="http://schemas.microsoft.com/office/drawing/2014/main" id="{67155280-97BF-4070-AE74-9293BD0FA5FC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1002841" y="4072363"/>
            <a:ext cx="4323920" cy="2206149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08FFB6-66B6-4554-9827-3F2EBD60E77F}"/>
              </a:ext>
            </a:extLst>
          </p:cNvPr>
          <p:cNvSpPr/>
          <p:nvPr userDrawn="1"/>
        </p:nvSpPr>
        <p:spPr>
          <a:xfrm rot="16200000">
            <a:off x="1991879" y="2479858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E938D481-02C3-4566-B084-1A69EC6FEF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90653" y="3770898"/>
            <a:ext cx="3549649" cy="425450"/>
          </a:xfrm>
          <a:solidFill>
            <a:schemeClr val="accent2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7" name="Chart Placeholder 5">
            <a:extLst>
              <a:ext uri="{FF2B5EF4-FFF2-40B4-BE49-F238E27FC236}">
                <a16:creationId xmlns:a16="http://schemas.microsoft.com/office/drawing/2014/main" id="{D33C56B7-C98C-4369-95A7-91676B31DF70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851004" y="4072363"/>
            <a:ext cx="4323920" cy="2206149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2C2594-FECD-4B36-AB26-5A8569FDC9AF}"/>
              </a:ext>
            </a:extLst>
          </p:cNvPr>
          <p:cNvSpPr/>
          <p:nvPr userDrawn="1"/>
        </p:nvSpPr>
        <p:spPr>
          <a:xfrm rot="16200000">
            <a:off x="7840040" y="2474350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32A69A8-6121-4ADB-8612-E87787BADE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8816" y="3770898"/>
            <a:ext cx="3549649" cy="425450"/>
          </a:xfrm>
          <a:solidFill>
            <a:schemeClr val="accent4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086EF21-DBFE-4C7E-94E0-739105EF11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1007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7" name="Retângulo 42">
            <a:extLst>
              <a:ext uri="{FF2B5EF4-FFF2-40B4-BE49-F238E27FC236}">
                <a16:creationId xmlns:a16="http://schemas.microsoft.com/office/drawing/2014/main" id="{3AB8522C-13F1-44D4-A248-271893BC71EA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50756151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4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8D36EB5-D059-4D10-A783-3137F50C87F5}"/>
              </a:ext>
            </a:extLst>
          </p:cNvPr>
          <p:cNvSpPr/>
          <p:nvPr userDrawn="1"/>
        </p:nvSpPr>
        <p:spPr>
          <a:xfrm rot="16200000">
            <a:off x="1991876" y="-201173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5578F-FEBD-42EE-88D6-26ECD4727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4799" y="1095375"/>
            <a:ext cx="3960000" cy="425450"/>
          </a:xfrm>
          <a:solidFill>
            <a:schemeClr val="accent1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B840B1-1BE2-4D03-BAA1-00F100F1626E}"/>
              </a:ext>
            </a:extLst>
          </p:cNvPr>
          <p:cNvSpPr/>
          <p:nvPr userDrawn="1"/>
        </p:nvSpPr>
        <p:spPr>
          <a:xfrm rot="16200000">
            <a:off x="7840039" y="-201173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CCE230E0-E2B4-4525-9D20-CC9824B05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32963" y="1095375"/>
            <a:ext cx="3960000" cy="425450"/>
          </a:xfrm>
          <a:solidFill>
            <a:schemeClr val="accent3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08FFB6-66B6-4554-9827-3F2EBD60E77F}"/>
              </a:ext>
            </a:extLst>
          </p:cNvPr>
          <p:cNvSpPr/>
          <p:nvPr userDrawn="1"/>
        </p:nvSpPr>
        <p:spPr>
          <a:xfrm rot="16200000">
            <a:off x="1991877" y="2483875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E938D481-02C3-4566-B084-1A69EC6FEF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84801" y="3780423"/>
            <a:ext cx="3960000" cy="425450"/>
          </a:xfrm>
          <a:solidFill>
            <a:schemeClr val="accent2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2C2594-FECD-4B36-AB26-5A8569FDC9AF}"/>
              </a:ext>
            </a:extLst>
          </p:cNvPr>
          <p:cNvSpPr/>
          <p:nvPr userDrawn="1"/>
        </p:nvSpPr>
        <p:spPr>
          <a:xfrm rot="16200000">
            <a:off x="7840040" y="2483875"/>
            <a:ext cx="2345848" cy="5338996"/>
          </a:xfrm>
          <a:prstGeom prst="rect">
            <a:avLst/>
          </a:prstGeom>
          <a:noFill/>
          <a:ln>
            <a:solidFill>
              <a:srgbClr val="6365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32A69A8-6121-4ADB-8612-E87787BADE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32964" y="3780423"/>
            <a:ext cx="3960000" cy="425450"/>
          </a:xfrm>
          <a:solidFill>
            <a:schemeClr val="accent4"/>
          </a:solidFill>
        </p:spPr>
        <p:txBody>
          <a:bodyPr anchor="ctr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CB9E4-0F24-4383-9FE8-184D8B7890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1651" y="1570441"/>
            <a:ext cx="46863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CCCB8A3-8FFA-4319-963B-E84AE768C7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69813" y="1570441"/>
            <a:ext cx="46863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0BCF7F-6B05-409F-B8B4-4C2C5874D9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69813" y="4253498"/>
            <a:ext cx="46863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2AF189F-EA36-403C-B803-EF7CAF3AE92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650" y="4253498"/>
            <a:ext cx="46863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81BBD2D-FA26-4247-983D-04431BD5D2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21007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8" name="Retângulo 42">
            <a:extLst>
              <a:ext uri="{FF2B5EF4-FFF2-40B4-BE49-F238E27FC236}">
                <a16:creationId xmlns:a16="http://schemas.microsoft.com/office/drawing/2014/main" id="{8AFEC7B5-AA3D-4A7C-B4B6-3F9F5667DC0B}"/>
              </a:ext>
            </a:extLst>
          </p:cNvPr>
          <p:cNvSpPr/>
          <p:nvPr userDrawn="1"/>
        </p:nvSpPr>
        <p:spPr>
          <a:xfrm rot="16200000">
            <a:off x="126035" y="612547"/>
            <a:ext cx="590549" cy="90144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2141232457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ullets 4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B5578F-FEBD-42EE-88D6-26ECD47275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90" y="1220233"/>
            <a:ext cx="3960000" cy="425450"/>
          </a:xfrm>
          <a:solidFill>
            <a:schemeClr val="accent1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CCE230E0-E2B4-4525-9D20-CC9824B05AB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3910" y="1220233"/>
            <a:ext cx="3960000" cy="425450"/>
          </a:xfrm>
          <a:solidFill>
            <a:schemeClr val="accent3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E938D481-02C3-4566-B084-1A69EC6FEF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8090" y="3807110"/>
            <a:ext cx="3960000" cy="425450"/>
          </a:xfrm>
          <a:solidFill>
            <a:schemeClr val="accent2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232A69A8-6121-4ADB-8612-E87787BADE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03910" y="3807110"/>
            <a:ext cx="3960000" cy="425450"/>
          </a:xfrm>
          <a:solidFill>
            <a:schemeClr val="accent4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CB9E4-0F24-4383-9FE8-184D8B7890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8091" y="1695299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CCCB8A3-8FFA-4319-963B-E84AE768C7D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03911" y="1695299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0BCF7F-6B05-409F-B8B4-4C2C5874D9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03911" y="4280185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2AF189F-EA36-403C-B803-EF7CAF3AE92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8091" y="4280185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1B36F-7644-489A-9A5A-BC6883496F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3" name="Retângulo 42">
            <a:extLst>
              <a:ext uri="{FF2B5EF4-FFF2-40B4-BE49-F238E27FC236}">
                <a16:creationId xmlns:a16="http://schemas.microsoft.com/office/drawing/2014/main" id="{2C093A85-4B0B-4EEF-A313-980EABB96213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446792981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s 4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A68CC5D-B815-4513-9EEC-B95D714182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2" name="Retângulo 42">
            <a:extLst>
              <a:ext uri="{FF2B5EF4-FFF2-40B4-BE49-F238E27FC236}">
                <a16:creationId xmlns:a16="http://schemas.microsoft.com/office/drawing/2014/main" id="{79F23E68-3CD6-4F66-8251-E3FAC2C44D82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4FEAFA1-6E18-4A0A-9E44-EFAB2C14DD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90" y="1220233"/>
            <a:ext cx="3960000" cy="425450"/>
          </a:xfrm>
          <a:solidFill>
            <a:schemeClr val="accent1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FBE52933-DFAD-4F9B-B866-22545AF64E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8090" y="3807110"/>
            <a:ext cx="3960000" cy="425450"/>
          </a:xfrm>
          <a:solidFill>
            <a:schemeClr val="accent2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DADA915-9B06-4C88-ACE8-DEE2B7917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8091" y="1695299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3E58E7A-6433-4CC7-A9F6-9F70DB3DAE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8091" y="4280185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8810751-7D46-404E-AF10-5EC3826E60D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03909" y="1695299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0C5A09B-1B8F-4B22-9332-0E080827043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03909" y="4280185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5659489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s 4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DB5DE0D-D4F1-472A-B736-AC148E7B8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90" y="1220233"/>
            <a:ext cx="3960000" cy="425450"/>
          </a:xfrm>
          <a:solidFill>
            <a:schemeClr val="accent3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648E137D-CB00-4052-8EE8-8966D233F8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8090" y="3807110"/>
            <a:ext cx="3960000" cy="425450"/>
          </a:xfrm>
          <a:solidFill>
            <a:schemeClr val="accent4"/>
          </a:solidFill>
        </p:spPr>
        <p:txBody>
          <a:bodyPr anchor="ctr"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0C725FA-D795-4CA0-A35A-623391CC9C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1" name="Retângulo 42">
            <a:extLst>
              <a:ext uri="{FF2B5EF4-FFF2-40B4-BE49-F238E27FC236}">
                <a16:creationId xmlns:a16="http://schemas.microsoft.com/office/drawing/2014/main" id="{67C5B9AA-5DB6-402B-85D9-198AA592DB38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E27E1B8-C1CE-41CC-AAE4-958E4921E7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03911" y="1695299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20FF8A7-8C37-480A-BFCD-020BC94F16C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03911" y="4280185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EB1BD28-6E03-4222-91F2-DD5CAA1048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8089" y="1695299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6F0E882-D467-4060-B77D-885A313AE86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8089" y="4280185"/>
            <a:ext cx="5220000" cy="1896659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9687509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ullets 4 Co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DC1D7A6-EEFD-49EA-AECB-86DBF4E5F7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1" name="Retângulo 42">
            <a:extLst>
              <a:ext uri="{FF2B5EF4-FFF2-40B4-BE49-F238E27FC236}">
                <a16:creationId xmlns:a16="http://schemas.microsoft.com/office/drawing/2014/main" id="{C88DC4CE-DB21-4F7A-B835-64E44EAFF039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D1DD7CE-16D5-459D-B69E-D0065A2EB9F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8091" y="1403198"/>
            <a:ext cx="5400000" cy="2160000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B207792-04DF-4711-B391-52B24DE4E5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23911" y="1403198"/>
            <a:ext cx="5400000" cy="2160000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r>
              <a:rPr lang="en-US" dirty="0"/>
              <a:t>Edit Master text styles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E5623"/>
              </a:buClr>
              <a:buSzTx/>
              <a:tabLst/>
              <a:defRPr/>
            </a:pP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174ACC7-E45C-40EA-96AC-43FF08FFE3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23911" y="3988084"/>
            <a:ext cx="5400000" cy="2160000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8ED0836-E605-4794-A711-4168D035F3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8091" y="3988084"/>
            <a:ext cx="5400000" cy="2160000"/>
          </a:xfr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44423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228EEF0-7FB8-49C0-AD18-92C00E29347D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68091" y="1247345"/>
            <a:ext cx="11422612" cy="4953430"/>
          </a:xfrm>
        </p:spPr>
        <p:txBody>
          <a:bodyPr anchor="ctr">
            <a:normAutofit/>
          </a:bodyPr>
          <a:lstStyle>
            <a:lvl1pPr algn="ctr">
              <a:defRPr sz="2000" b="1"/>
            </a:lvl1pPr>
          </a:lstStyle>
          <a:p>
            <a:endParaRPr lang="pt-PT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C2EBBA6-8E75-4FE7-AED9-E2FAB5A7E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8" name="Retângulo 42">
            <a:extLst>
              <a:ext uri="{FF2B5EF4-FFF2-40B4-BE49-F238E27FC236}">
                <a16:creationId xmlns:a16="http://schemas.microsoft.com/office/drawing/2014/main" id="{97F71385-7E46-4855-9EDC-B39BC4E93294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518179033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4E3B9CE-0FAF-46B0-ADB4-57EC2A632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4457" y="4180816"/>
            <a:ext cx="2595319" cy="208699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FCD1BF-5285-4CA5-91B3-499A789F1F19}"/>
              </a:ext>
            </a:extLst>
          </p:cNvPr>
          <p:cNvSpPr/>
          <p:nvPr userDrawn="1"/>
        </p:nvSpPr>
        <p:spPr>
          <a:xfrm rot="16200000">
            <a:off x="4843461" y="-4843464"/>
            <a:ext cx="2505075" cy="12192001"/>
          </a:xfrm>
          <a:prstGeom prst="rect">
            <a:avLst/>
          </a:prstGeom>
          <a:solidFill>
            <a:srgbClr val="63656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EFA1D710-0330-4E69-9A06-857C52F1B4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56078" y="1360300"/>
            <a:ext cx="6266956" cy="765134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 spc="450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</a:t>
            </a:r>
            <a:endParaRPr lang="pt-PT" dirty="0"/>
          </a:p>
        </p:txBody>
      </p:sp>
      <p:sp>
        <p:nvSpPr>
          <p:cNvPr id="24" name="Retângulo 42">
            <a:extLst>
              <a:ext uri="{FF2B5EF4-FFF2-40B4-BE49-F238E27FC236}">
                <a16:creationId xmlns:a16="http://schemas.microsoft.com/office/drawing/2014/main" id="{06501C0E-B4FA-48E9-98F0-623896DBF622}"/>
              </a:ext>
            </a:extLst>
          </p:cNvPr>
          <p:cNvSpPr/>
          <p:nvPr userDrawn="1"/>
        </p:nvSpPr>
        <p:spPr>
          <a:xfrm>
            <a:off x="1054125" y="3894365"/>
            <a:ext cx="921625" cy="77404"/>
          </a:xfrm>
          <a:prstGeom prst="rect">
            <a:avLst/>
          </a:prstGeom>
          <a:solidFill>
            <a:srgbClr val="636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0" name="Retângulo 42">
            <a:extLst>
              <a:ext uri="{FF2B5EF4-FFF2-40B4-BE49-F238E27FC236}">
                <a16:creationId xmlns:a16="http://schemas.microsoft.com/office/drawing/2014/main" id="{48B3B5DE-3988-4519-ADFD-305C22323BF5}"/>
              </a:ext>
            </a:extLst>
          </p:cNvPr>
          <p:cNvSpPr/>
          <p:nvPr userDrawn="1"/>
        </p:nvSpPr>
        <p:spPr>
          <a:xfrm>
            <a:off x="4085416" y="3894365"/>
            <a:ext cx="921625" cy="77404"/>
          </a:xfrm>
          <a:prstGeom prst="rect">
            <a:avLst/>
          </a:prstGeom>
          <a:solidFill>
            <a:srgbClr val="636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1" name="Retângulo 42">
            <a:extLst>
              <a:ext uri="{FF2B5EF4-FFF2-40B4-BE49-F238E27FC236}">
                <a16:creationId xmlns:a16="http://schemas.microsoft.com/office/drawing/2014/main" id="{96E89447-EAC0-4951-A82E-6A472D7F73AE}"/>
              </a:ext>
            </a:extLst>
          </p:cNvPr>
          <p:cNvSpPr/>
          <p:nvPr userDrawn="1"/>
        </p:nvSpPr>
        <p:spPr>
          <a:xfrm>
            <a:off x="7223973" y="3894365"/>
            <a:ext cx="921625" cy="77404"/>
          </a:xfrm>
          <a:prstGeom prst="rect">
            <a:avLst/>
          </a:prstGeom>
          <a:solidFill>
            <a:srgbClr val="636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2" name="Retângulo 42">
            <a:extLst>
              <a:ext uri="{FF2B5EF4-FFF2-40B4-BE49-F238E27FC236}">
                <a16:creationId xmlns:a16="http://schemas.microsoft.com/office/drawing/2014/main" id="{1879BAD9-DE4F-4961-80B1-687F36B6F265}"/>
              </a:ext>
            </a:extLst>
          </p:cNvPr>
          <p:cNvSpPr/>
          <p:nvPr userDrawn="1"/>
        </p:nvSpPr>
        <p:spPr>
          <a:xfrm>
            <a:off x="10349370" y="3894365"/>
            <a:ext cx="921625" cy="77404"/>
          </a:xfrm>
          <a:prstGeom prst="rect">
            <a:avLst/>
          </a:prstGeom>
          <a:solidFill>
            <a:srgbClr val="636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599B33A9-0580-4F88-AAA4-62177CFC7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84305" y="4180816"/>
            <a:ext cx="2595319" cy="208699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791A76C8-B99A-4A9B-8615-B0F95DAF44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7125" y="4180816"/>
            <a:ext cx="2595319" cy="208699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FC46C478-B675-4349-9004-2D939B802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22546" y="4180816"/>
            <a:ext cx="2595319" cy="208699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9ADCE6C1-8BDE-47C2-9AF2-BC9B43926F9D}"/>
              </a:ext>
            </a:extLst>
          </p:cNvPr>
          <p:cNvSpPr/>
          <p:nvPr userDrawn="1"/>
        </p:nvSpPr>
        <p:spPr>
          <a:xfrm>
            <a:off x="1054125" y="441334"/>
            <a:ext cx="3508580" cy="2177792"/>
          </a:xfrm>
          <a:prstGeom prst="wedgeRectCallout">
            <a:avLst>
              <a:gd name="adj1" fmla="val -29152"/>
              <a:gd name="adj2" fmla="val 74839"/>
            </a:avLst>
          </a:prstGeom>
          <a:gradFill flip="none" rotWithShape="1">
            <a:gsLst>
              <a:gs pos="0">
                <a:srgbClr val="D30773"/>
              </a:gs>
              <a:gs pos="100000">
                <a:srgbClr val="EE5623"/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896A831-559A-4019-81F3-6910D8F3DF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82502" y="711468"/>
            <a:ext cx="2641933" cy="1630016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</a:t>
            </a:r>
            <a:br>
              <a:rPr lang="en-US" dirty="0"/>
            </a:br>
            <a:r>
              <a:rPr lang="en-US" dirty="0"/>
              <a:t>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347425848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centagens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9A115017-23C1-44BC-A4C8-61C6EA1BE5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490" y="2002187"/>
            <a:ext cx="5206176" cy="93637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BA723E7D-033B-4229-B86B-BDD677C82B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091" y="1313565"/>
            <a:ext cx="2096747" cy="58889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40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N%</a:t>
            </a:r>
            <a:endParaRPr lang="pt-PT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9E1307-4E99-4D7B-B9E9-8F2DF3D0A726}"/>
              </a:ext>
            </a:extLst>
          </p:cNvPr>
          <p:cNvCxnSpPr>
            <a:cxnSpLocks/>
          </p:cNvCxnSpPr>
          <p:nvPr userDrawn="1"/>
        </p:nvCxnSpPr>
        <p:spPr>
          <a:xfrm>
            <a:off x="577950" y="1935701"/>
            <a:ext cx="997975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8F635B62-C111-42F7-9476-69CFA2E19C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24239" y="2002187"/>
            <a:ext cx="5206176" cy="93637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BC09E86-7121-4E7D-A4AE-40FA2A9967D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2840" y="1313565"/>
            <a:ext cx="2096747" cy="58889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40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N%</a:t>
            </a:r>
            <a:endParaRPr lang="pt-PT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5B076A-EA0D-4ED2-B5A2-0C1F8D6309F9}"/>
              </a:ext>
            </a:extLst>
          </p:cNvPr>
          <p:cNvCxnSpPr>
            <a:cxnSpLocks/>
          </p:cNvCxnSpPr>
          <p:nvPr userDrawn="1"/>
        </p:nvCxnSpPr>
        <p:spPr>
          <a:xfrm>
            <a:off x="6372699" y="1935701"/>
            <a:ext cx="997975" cy="0"/>
          </a:xfrm>
          <a:prstGeom prst="line">
            <a:avLst/>
          </a:prstGeom>
          <a:ln w="57150">
            <a:solidFill>
              <a:srgbClr val="58C6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80760B0E-AD3A-4AC0-902B-C6BE7312AA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4239" y="3647334"/>
            <a:ext cx="5206176" cy="93637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EFF69EB-0FFF-4C05-AECF-CDB5F3DE0C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2840" y="2958713"/>
            <a:ext cx="2096747" cy="58889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40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N%</a:t>
            </a:r>
            <a:endParaRPr lang="pt-PT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786E54D-E20A-47AE-AC6F-5AC36615D057}"/>
              </a:ext>
            </a:extLst>
          </p:cNvPr>
          <p:cNvCxnSpPr>
            <a:cxnSpLocks/>
          </p:cNvCxnSpPr>
          <p:nvPr userDrawn="1"/>
        </p:nvCxnSpPr>
        <p:spPr>
          <a:xfrm>
            <a:off x="6372699" y="3580849"/>
            <a:ext cx="997975" cy="0"/>
          </a:xfrm>
          <a:prstGeom prst="line">
            <a:avLst/>
          </a:prstGeom>
          <a:ln w="57150">
            <a:solidFill>
              <a:srgbClr val="EE56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A4F4953C-9F87-43F4-BC0B-D246C767592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9490" y="3647334"/>
            <a:ext cx="5206176" cy="93637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00FB78B3-6E63-407D-8F1E-62D69A05782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8091" y="2958713"/>
            <a:ext cx="2096747" cy="58889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40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N%</a:t>
            </a:r>
            <a:endParaRPr lang="pt-PT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769D6F-4BC2-4DD9-94F9-E4C99F0716B7}"/>
              </a:ext>
            </a:extLst>
          </p:cNvPr>
          <p:cNvCxnSpPr>
            <a:cxnSpLocks/>
          </p:cNvCxnSpPr>
          <p:nvPr userDrawn="1"/>
        </p:nvCxnSpPr>
        <p:spPr>
          <a:xfrm>
            <a:off x="577950" y="3580849"/>
            <a:ext cx="997975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5E9ED8B-4611-458E-A45F-65C7733CE9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24239" y="5278344"/>
            <a:ext cx="5206176" cy="93637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BB9708D-E338-4BE3-95FD-577C8A662F2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2840" y="4589722"/>
            <a:ext cx="2096747" cy="58889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40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N%</a:t>
            </a:r>
            <a:endParaRPr lang="pt-PT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D1BC12-D880-4D5D-B7EF-74508BCC7C98}"/>
              </a:ext>
            </a:extLst>
          </p:cNvPr>
          <p:cNvCxnSpPr>
            <a:cxnSpLocks/>
          </p:cNvCxnSpPr>
          <p:nvPr userDrawn="1"/>
        </p:nvCxnSpPr>
        <p:spPr>
          <a:xfrm>
            <a:off x="6372699" y="5211858"/>
            <a:ext cx="997975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6B62A189-8041-431A-81CC-42DFF8462A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29490" y="5278344"/>
            <a:ext cx="5206176" cy="93637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4288920-A155-41F4-8261-37D47A2D6D5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8091" y="4589722"/>
            <a:ext cx="2096747" cy="588894"/>
          </a:xfrm>
        </p:spPr>
        <p:txBody>
          <a:bodyPr>
            <a:noAutofit/>
          </a:bodyPr>
          <a:lstStyle>
            <a:lvl1pPr algn="l">
              <a:spcBef>
                <a:spcPts val="0"/>
              </a:spcBef>
              <a:defRPr sz="4000" b="1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N%</a:t>
            </a:r>
            <a:endParaRPr lang="pt-PT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A118B96-A654-45AD-B865-35DBA47BC0D0}"/>
              </a:ext>
            </a:extLst>
          </p:cNvPr>
          <p:cNvCxnSpPr>
            <a:cxnSpLocks/>
          </p:cNvCxnSpPr>
          <p:nvPr userDrawn="1"/>
        </p:nvCxnSpPr>
        <p:spPr>
          <a:xfrm>
            <a:off x="577950" y="5211858"/>
            <a:ext cx="99797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4A33DF50-03FE-4B92-A7E1-B0475C64FA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389" y="362346"/>
            <a:ext cx="11422612" cy="590550"/>
          </a:xfrm>
        </p:spPr>
        <p:txBody>
          <a:bodyPr anchor="t">
            <a:noAutofit/>
          </a:bodyPr>
          <a:lstStyle>
            <a:lvl1pPr>
              <a:spcBef>
                <a:spcPts val="0"/>
              </a:spcBef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5" name="Retângulo 42">
            <a:extLst>
              <a:ext uri="{FF2B5EF4-FFF2-40B4-BE49-F238E27FC236}">
                <a16:creationId xmlns:a16="http://schemas.microsoft.com/office/drawing/2014/main" id="{F038C08F-D309-4958-8EE8-0535C4770406}"/>
              </a:ext>
            </a:extLst>
          </p:cNvPr>
          <p:cNvSpPr/>
          <p:nvPr userDrawn="1"/>
        </p:nvSpPr>
        <p:spPr>
          <a:xfrm rot="16200000">
            <a:off x="126889" y="611693"/>
            <a:ext cx="590549" cy="91853"/>
          </a:xfrm>
          <a:prstGeom prst="rect">
            <a:avLst/>
          </a:prstGeom>
          <a:gradFill>
            <a:gsLst>
              <a:gs pos="0">
                <a:schemeClr val="accent4"/>
              </a:gs>
              <a:gs pos="43000">
                <a:schemeClr val="accent3"/>
              </a:gs>
              <a:gs pos="74000">
                <a:schemeClr val="accent1"/>
              </a:gs>
              <a:gs pos="96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</p:spTree>
    <p:extLst>
      <p:ext uri="{BB962C8B-B14F-4D97-AF65-F5344CB8AC3E}">
        <p14:creationId xmlns:p14="http://schemas.microsoft.com/office/powerpoint/2010/main" val="2222077092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tângulo 42">
            <a:extLst>
              <a:ext uri="{FF2B5EF4-FFF2-40B4-BE49-F238E27FC236}">
                <a16:creationId xmlns:a16="http://schemas.microsoft.com/office/drawing/2014/main" id="{CD648792-EE0C-48F0-AD6F-8EF4C06F329C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53357" y="2989164"/>
            <a:ext cx="7485289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E318D4-A2D6-4B64-A23B-54C8B3048B05}"/>
              </a:ext>
            </a:extLst>
          </p:cNvPr>
          <p:cNvSpPr/>
          <p:nvPr userDrawn="1"/>
        </p:nvSpPr>
        <p:spPr>
          <a:xfrm rot="16200000">
            <a:off x="3581399" y="-1404539"/>
            <a:ext cx="5029202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386372-FDBB-4988-85BC-EAB58590CD21}"/>
              </a:ext>
            </a:extLst>
          </p:cNvPr>
          <p:cNvCxnSpPr>
            <a:cxnSpLocks/>
          </p:cNvCxnSpPr>
          <p:nvPr/>
        </p:nvCxnSpPr>
        <p:spPr>
          <a:xfrm>
            <a:off x="5590525" y="4825373"/>
            <a:ext cx="1010953" cy="0"/>
          </a:xfrm>
          <a:prstGeom prst="line">
            <a:avLst/>
          </a:prstGeom>
          <a:noFill/>
          <a:ln w="762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64C289-9B23-4F74-B131-AD862C1253C2}"/>
              </a:ext>
            </a:extLst>
          </p:cNvPr>
          <p:cNvGrpSpPr/>
          <p:nvPr/>
        </p:nvGrpSpPr>
        <p:grpSpPr>
          <a:xfrm rot="16200000">
            <a:off x="6022715" y="1825687"/>
            <a:ext cx="146570" cy="486842"/>
            <a:chOff x="6562794" y="2381428"/>
            <a:chExt cx="167433" cy="58260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B266A1F-2F5F-4554-8723-FC429C46922B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D9AE01-3A9A-4417-B714-D4D080E789C8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6234962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s Ag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42">
            <a:extLst>
              <a:ext uri="{FF2B5EF4-FFF2-40B4-BE49-F238E27FC236}">
                <a16:creationId xmlns:a16="http://schemas.microsoft.com/office/drawing/2014/main" id="{24C0F9CE-6256-42DC-8009-4A96B79E817E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rgbClr val="D307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036046" y="2682242"/>
            <a:ext cx="8119911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16" name="Retângulo 42">
            <a:extLst>
              <a:ext uri="{FF2B5EF4-FFF2-40B4-BE49-F238E27FC236}">
                <a16:creationId xmlns:a16="http://schemas.microsoft.com/office/drawing/2014/main" id="{FB37BF6E-99AF-47EE-A8C9-995CD0D3A139}"/>
              </a:ext>
            </a:extLst>
          </p:cNvPr>
          <p:cNvSpPr/>
          <p:nvPr/>
        </p:nvSpPr>
        <p:spPr>
          <a:xfrm>
            <a:off x="3752851" y="3744496"/>
            <a:ext cx="4562804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4E9BBF-816B-41AC-9EC2-49348E78B56D}"/>
              </a:ext>
            </a:extLst>
          </p:cNvPr>
          <p:cNvGrpSpPr/>
          <p:nvPr/>
        </p:nvGrpSpPr>
        <p:grpSpPr>
          <a:xfrm rot="16200000">
            <a:off x="6048745" y="3984651"/>
            <a:ext cx="94512" cy="313927"/>
            <a:chOff x="6562794" y="2381428"/>
            <a:chExt cx="167433" cy="58260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7FC7BA-2099-49D5-9E93-FAD2D32048EC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D9BF46-08F9-469B-B637-6A39FF3ABC16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2776915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s Médi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42">
            <a:extLst>
              <a:ext uri="{FF2B5EF4-FFF2-40B4-BE49-F238E27FC236}">
                <a16:creationId xmlns:a16="http://schemas.microsoft.com/office/drawing/2014/main" id="{B473EC50-C6B7-4C69-9AD9-0A3E01149830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036046" y="2682242"/>
            <a:ext cx="8119911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16" name="Retângulo 42">
            <a:extLst>
              <a:ext uri="{FF2B5EF4-FFF2-40B4-BE49-F238E27FC236}">
                <a16:creationId xmlns:a16="http://schemas.microsoft.com/office/drawing/2014/main" id="{FB37BF6E-99AF-47EE-A8C9-995CD0D3A139}"/>
              </a:ext>
            </a:extLst>
          </p:cNvPr>
          <p:cNvSpPr/>
          <p:nvPr/>
        </p:nvSpPr>
        <p:spPr>
          <a:xfrm>
            <a:off x="3752851" y="3744496"/>
            <a:ext cx="4562804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4E9BBF-816B-41AC-9EC2-49348E78B56D}"/>
              </a:ext>
            </a:extLst>
          </p:cNvPr>
          <p:cNvGrpSpPr/>
          <p:nvPr/>
        </p:nvGrpSpPr>
        <p:grpSpPr>
          <a:xfrm rot="16200000">
            <a:off x="6048745" y="3984651"/>
            <a:ext cx="94512" cy="313927"/>
            <a:chOff x="6562794" y="2381428"/>
            <a:chExt cx="167433" cy="58260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7FC7BA-2099-49D5-9E93-FAD2D32048EC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D9BF46-08F9-469B-B637-6A39FF3ABC16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2622318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s Ocide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42">
            <a:extLst>
              <a:ext uri="{FF2B5EF4-FFF2-40B4-BE49-F238E27FC236}">
                <a16:creationId xmlns:a16="http://schemas.microsoft.com/office/drawing/2014/main" id="{93CD06FB-F378-4D8D-AD7C-C2B4F9E220A3}"/>
              </a:ext>
            </a:extLst>
          </p:cNvPr>
          <p:cNvSpPr/>
          <p:nvPr userDrawn="1"/>
        </p:nvSpPr>
        <p:spPr>
          <a:xfrm>
            <a:off x="0" y="0"/>
            <a:ext cx="12192000" cy="68675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036046" y="2682242"/>
            <a:ext cx="8119911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16" name="Retângulo 42">
            <a:extLst>
              <a:ext uri="{FF2B5EF4-FFF2-40B4-BE49-F238E27FC236}">
                <a16:creationId xmlns:a16="http://schemas.microsoft.com/office/drawing/2014/main" id="{FB37BF6E-99AF-47EE-A8C9-995CD0D3A139}"/>
              </a:ext>
            </a:extLst>
          </p:cNvPr>
          <p:cNvSpPr/>
          <p:nvPr/>
        </p:nvSpPr>
        <p:spPr>
          <a:xfrm>
            <a:off x="3752851" y="3744496"/>
            <a:ext cx="4562804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4E9BBF-816B-41AC-9EC2-49348E78B56D}"/>
              </a:ext>
            </a:extLst>
          </p:cNvPr>
          <p:cNvGrpSpPr/>
          <p:nvPr/>
        </p:nvGrpSpPr>
        <p:grpSpPr>
          <a:xfrm rot="16200000">
            <a:off x="6048745" y="3984651"/>
            <a:ext cx="94512" cy="313927"/>
            <a:chOff x="6562794" y="2381428"/>
            <a:chExt cx="167433" cy="58260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7FC7BA-2099-49D5-9E93-FAD2D32048EC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D9BF46-08F9-469B-B637-6A39FF3ABC16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6153051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s Di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42">
            <a:extLst>
              <a:ext uri="{FF2B5EF4-FFF2-40B4-BE49-F238E27FC236}">
                <a16:creationId xmlns:a16="http://schemas.microsoft.com/office/drawing/2014/main" id="{B473EC50-C6B7-4C69-9AD9-0A3E01149830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036046" y="2682242"/>
            <a:ext cx="8119911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16" name="Retângulo 42">
            <a:extLst>
              <a:ext uri="{FF2B5EF4-FFF2-40B4-BE49-F238E27FC236}">
                <a16:creationId xmlns:a16="http://schemas.microsoft.com/office/drawing/2014/main" id="{FB37BF6E-99AF-47EE-A8C9-995CD0D3A139}"/>
              </a:ext>
            </a:extLst>
          </p:cNvPr>
          <p:cNvSpPr/>
          <p:nvPr/>
        </p:nvSpPr>
        <p:spPr>
          <a:xfrm>
            <a:off x="3752851" y="3744496"/>
            <a:ext cx="4562804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4E9BBF-816B-41AC-9EC2-49348E78B56D}"/>
              </a:ext>
            </a:extLst>
          </p:cNvPr>
          <p:cNvGrpSpPr/>
          <p:nvPr/>
        </p:nvGrpSpPr>
        <p:grpSpPr>
          <a:xfrm rot="16200000">
            <a:off x="6048745" y="3984651"/>
            <a:ext cx="94512" cy="313927"/>
            <a:chOff x="6562794" y="2381428"/>
            <a:chExt cx="167433" cy="58260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7FC7BA-2099-49D5-9E93-FAD2D32048EC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D9BF46-08F9-469B-B637-6A39FF3ABC16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1096425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s Re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42">
            <a:extLst>
              <a:ext uri="{FF2B5EF4-FFF2-40B4-BE49-F238E27FC236}">
                <a16:creationId xmlns:a16="http://schemas.microsoft.com/office/drawing/2014/main" id="{B473EC50-C6B7-4C69-9AD9-0A3E01149830}"/>
              </a:ext>
            </a:extLst>
          </p:cNvPr>
          <p:cNvSpPr/>
          <p:nvPr userDrawn="1"/>
        </p:nvSpPr>
        <p:spPr>
          <a:xfrm>
            <a:off x="0" y="-4763"/>
            <a:ext cx="12192000" cy="6867526"/>
          </a:xfrm>
          <a:prstGeom prst="rect">
            <a:avLst/>
          </a:prstGeom>
          <a:solidFill>
            <a:srgbClr val="FC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036046" y="2682242"/>
            <a:ext cx="8119911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16" name="Retângulo 42">
            <a:extLst>
              <a:ext uri="{FF2B5EF4-FFF2-40B4-BE49-F238E27FC236}">
                <a16:creationId xmlns:a16="http://schemas.microsoft.com/office/drawing/2014/main" id="{FB37BF6E-99AF-47EE-A8C9-995CD0D3A139}"/>
              </a:ext>
            </a:extLst>
          </p:cNvPr>
          <p:cNvSpPr/>
          <p:nvPr/>
        </p:nvSpPr>
        <p:spPr>
          <a:xfrm>
            <a:off x="3752851" y="3744496"/>
            <a:ext cx="4562804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4E9BBF-816B-41AC-9EC2-49348E78B56D}"/>
              </a:ext>
            </a:extLst>
          </p:cNvPr>
          <p:cNvGrpSpPr/>
          <p:nvPr/>
        </p:nvGrpSpPr>
        <p:grpSpPr>
          <a:xfrm rot="16200000">
            <a:off x="6048745" y="3984651"/>
            <a:ext cx="94512" cy="313927"/>
            <a:chOff x="6562794" y="2381428"/>
            <a:chExt cx="167433" cy="58260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7FC7BA-2099-49D5-9E93-FAD2D32048EC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D9BF46-08F9-469B-B637-6A39FF3ABC16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8088026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exos Pens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42">
            <a:extLst>
              <a:ext uri="{FF2B5EF4-FFF2-40B4-BE49-F238E27FC236}">
                <a16:creationId xmlns:a16="http://schemas.microsoft.com/office/drawing/2014/main" id="{F8F63B7F-81E0-44C1-B4FE-B5BC4939696B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E4CC0C-DB6C-4479-A3D8-AEBF24C427C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036046" y="2682242"/>
            <a:ext cx="8119911" cy="989438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</a:t>
            </a:r>
            <a:endParaRPr lang="pt-PT" dirty="0"/>
          </a:p>
        </p:txBody>
      </p:sp>
      <p:sp>
        <p:nvSpPr>
          <p:cNvPr id="16" name="Retângulo 42">
            <a:extLst>
              <a:ext uri="{FF2B5EF4-FFF2-40B4-BE49-F238E27FC236}">
                <a16:creationId xmlns:a16="http://schemas.microsoft.com/office/drawing/2014/main" id="{FB37BF6E-99AF-47EE-A8C9-995CD0D3A139}"/>
              </a:ext>
            </a:extLst>
          </p:cNvPr>
          <p:cNvSpPr/>
          <p:nvPr/>
        </p:nvSpPr>
        <p:spPr>
          <a:xfrm>
            <a:off x="3752851" y="3744496"/>
            <a:ext cx="4562804" cy="70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74E9BBF-816B-41AC-9EC2-49348E78B56D}"/>
              </a:ext>
            </a:extLst>
          </p:cNvPr>
          <p:cNvGrpSpPr/>
          <p:nvPr/>
        </p:nvGrpSpPr>
        <p:grpSpPr>
          <a:xfrm rot="16200000">
            <a:off x="6048745" y="3984651"/>
            <a:ext cx="94512" cy="313927"/>
            <a:chOff x="6562794" y="2381428"/>
            <a:chExt cx="167433" cy="58260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37FC7BA-2099-49D5-9E93-FAD2D32048EC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ED9BF46-08F9-469B-B637-6A39FF3ABC16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246340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Ageas G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 descr="A picture containing food, drawing&#10;&#10;Description automatically generated">
            <a:extLst>
              <a:ext uri="{FF2B5EF4-FFF2-40B4-BE49-F238E27FC236}">
                <a16:creationId xmlns:a16="http://schemas.microsoft.com/office/drawing/2014/main" id="{867A6BD9-43C0-4D27-A06E-C1A39442A2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344" y="124589"/>
            <a:ext cx="5517733" cy="3044011"/>
          </a:xfrm>
          <a:prstGeom prst="rect">
            <a:avLst/>
          </a:prstGeom>
        </p:spPr>
      </p:pic>
      <p:sp>
        <p:nvSpPr>
          <p:cNvPr id="80" name="Retângulo 42">
            <a:extLst>
              <a:ext uri="{FF2B5EF4-FFF2-40B4-BE49-F238E27FC236}">
                <a16:creationId xmlns:a16="http://schemas.microsoft.com/office/drawing/2014/main" id="{C5E22E1A-DCD4-49C8-AF46-585AFDC4503A}"/>
              </a:ext>
            </a:extLst>
          </p:cNvPr>
          <p:cNvSpPr/>
          <p:nvPr userDrawn="1"/>
        </p:nvSpPr>
        <p:spPr>
          <a:xfrm>
            <a:off x="0" y="3250975"/>
            <a:ext cx="12192000" cy="3611788"/>
          </a:xfrm>
          <a:prstGeom prst="rect">
            <a:avLst/>
          </a:prstGeom>
          <a:gradFill flip="none" rotWithShape="1">
            <a:gsLst>
              <a:gs pos="0">
                <a:srgbClr val="D30773"/>
              </a:gs>
              <a:gs pos="95575">
                <a:srgbClr val="58C6D1"/>
              </a:gs>
              <a:gs pos="74000">
                <a:srgbClr val="56C1A8"/>
              </a:gs>
              <a:gs pos="43000">
                <a:srgbClr val="EE562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D0E1FEB-EF13-45A9-AFB2-A5D00DA28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211637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72F13099-68D0-4315-B0CB-08F194BB20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8C82C085-A409-4678-86C6-0C75FACC67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189564668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Ag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A2796F74-D3E2-4750-93EC-A284BFCA9C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84" y="686523"/>
            <a:ext cx="3421119" cy="1923327"/>
          </a:xfrm>
          <a:prstGeom prst="rect">
            <a:avLst/>
          </a:prstGeom>
        </p:spPr>
      </p:pic>
      <p:sp>
        <p:nvSpPr>
          <p:cNvPr id="31" name="Retângulo 42">
            <a:extLst>
              <a:ext uri="{FF2B5EF4-FFF2-40B4-BE49-F238E27FC236}">
                <a16:creationId xmlns:a16="http://schemas.microsoft.com/office/drawing/2014/main" id="{850EDE90-2296-4445-9B7D-A1B0A4C7AD8A}"/>
              </a:ext>
            </a:extLst>
          </p:cNvPr>
          <p:cNvSpPr/>
          <p:nvPr userDrawn="1"/>
        </p:nvSpPr>
        <p:spPr>
          <a:xfrm>
            <a:off x="0" y="3250976"/>
            <a:ext cx="12192000" cy="3607025"/>
          </a:xfrm>
          <a:prstGeom prst="rect">
            <a:avLst/>
          </a:prstGeom>
          <a:gradFill flip="none" rotWithShape="1">
            <a:gsLst>
              <a:gs pos="50000">
                <a:srgbClr val="BA0666"/>
              </a:gs>
              <a:gs pos="0">
                <a:schemeClr val="accent4">
                  <a:lumMod val="75000"/>
                </a:schemeClr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306041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70D9D03-D9F8-4A65-8143-A3762DCA5491}"/>
              </a:ext>
            </a:extLst>
          </p:cNvPr>
          <p:cNvSpPr/>
          <p:nvPr/>
        </p:nvSpPr>
        <p:spPr>
          <a:xfrm>
            <a:off x="5492751" y="2592773"/>
            <a:ext cx="1206500" cy="28575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 sz="1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756EC3-85CF-47E5-BED0-126B1BC5CF71}"/>
              </a:ext>
            </a:extLst>
          </p:cNvPr>
          <p:cNvSpPr/>
          <p:nvPr userDrawn="1"/>
        </p:nvSpPr>
        <p:spPr>
          <a:xfrm rot="5400000">
            <a:off x="5610000" y="1789270"/>
            <a:ext cx="972000" cy="45719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90A755F-F8EE-4F48-B76C-A6FAC6D72E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218" y="164737"/>
            <a:ext cx="2933962" cy="2964764"/>
          </a:xfrm>
          <a:prstGeom prst="rect">
            <a:avLst/>
          </a:prstGeom>
        </p:spPr>
      </p:pic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A35ADDC9-D5CD-42AF-AFEF-CD8CE311F9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0" name="Text Placeholder 31">
            <a:extLst>
              <a:ext uri="{FF2B5EF4-FFF2-40B4-BE49-F238E27FC236}">
                <a16:creationId xmlns:a16="http://schemas.microsoft.com/office/drawing/2014/main" id="{6FA85FF9-A040-479E-8BF6-31CE4E1F6D5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1" name="Text Placeholder 33">
            <a:extLst>
              <a:ext uri="{FF2B5EF4-FFF2-40B4-BE49-F238E27FC236}">
                <a16:creationId xmlns:a16="http://schemas.microsoft.com/office/drawing/2014/main" id="{084494BD-E31F-404E-8802-2F9FAB8C605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207993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Mé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42">
            <a:extLst>
              <a:ext uri="{FF2B5EF4-FFF2-40B4-BE49-F238E27FC236}">
                <a16:creationId xmlns:a16="http://schemas.microsoft.com/office/drawing/2014/main" id="{D5F6CA55-41C2-4ABA-A31F-186454799177}"/>
              </a:ext>
            </a:extLst>
          </p:cNvPr>
          <p:cNvSpPr/>
          <p:nvPr userDrawn="1"/>
        </p:nvSpPr>
        <p:spPr>
          <a:xfrm>
            <a:off x="0" y="3250976"/>
            <a:ext cx="12192000" cy="3607025"/>
          </a:xfrm>
          <a:prstGeom prst="rect">
            <a:avLst/>
          </a:prstGeom>
          <a:gradFill flip="none" rotWithShape="1">
            <a:gsLst>
              <a:gs pos="100000">
                <a:srgbClr val="56C2AD"/>
              </a:gs>
              <a:gs pos="5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306041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6D44BAA2-BE87-4BCD-9D43-670720C30F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1" name="Text Placeholder 31">
            <a:extLst>
              <a:ext uri="{FF2B5EF4-FFF2-40B4-BE49-F238E27FC236}">
                <a16:creationId xmlns:a16="http://schemas.microsoft.com/office/drawing/2014/main" id="{04AF42F4-5658-462A-B2DC-9035A05178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2" name="Text Placeholder 33">
            <a:extLst>
              <a:ext uri="{FF2B5EF4-FFF2-40B4-BE49-F238E27FC236}">
                <a16:creationId xmlns:a16="http://schemas.microsoft.com/office/drawing/2014/main" id="{5B953771-5672-4AC2-A501-534E10983E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A903E84-BE47-43E2-A559-76FE75D08B85}"/>
              </a:ext>
            </a:extLst>
          </p:cNvPr>
          <p:cNvSpPr/>
          <p:nvPr userDrawn="1"/>
        </p:nvSpPr>
        <p:spPr>
          <a:xfrm rot="5400000">
            <a:off x="5610000" y="1789270"/>
            <a:ext cx="972000" cy="45719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76E4C5C-B8AD-4A99-8E1D-FE02D09104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76" t="28522" r="7440" b="28522"/>
          <a:stretch/>
        </p:blipFill>
        <p:spPr>
          <a:xfrm>
            <a:off x="7164069" y="1113097"/>
            <a:ext cx="2522949" cy="1287605"/>
          </a:xfrm>
          <a:prstGeom prst="rect">
            <a:avLst/>
          </a:prstGeom>
        </p:spPr>
      </p:pic>
      <p:pic>
        <p:nvPicPr>
          <p:cNvPr id="13" name="Picture 12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1EA25505-8D83-4788-8F46-0D3E5355B1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84" y="686523"/>
            <a:ext cx="3421119" cy="192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24658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Ocide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F7E699FF-34B0-4A2C-81F0-43C8102528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944" y="1233715"/>
            <a:ext cx="4143571" cy="1392240"/>
          </a:xfrm>
          <a:prstGeom prst="rect">
            <a:avLst/>
          </a:prstGeom>
        </p:spPr>
      </p:pic>
      <p:sp>
        <p:nvSpPr>
          <p:cNvPr id="13" name="Retângulo 42">
            <a:extLst>
              <a:ext uri="{FF2B5EF4-FFF2-40B4-BE49-F238E27FC236}">
                <a16:creationId xmlns:a16="http://schemas.microsoft.com/office/drawing/2014/main" id="{B20B4046-1A28-4C80-89C2-3B17A8E558B8}"/>
              </a:ext>
            </a:extLst>
          </p:cNvPr>
          <p:cNvSpPr/>
          <p:nvPr userDrawn="1"/>
        </p:nvSpPr>
        <p:spPr>
          <a:xfrm>
            <a:off x="0" y="3250976"/>
            <a:ext cx="12192000" cy="3607025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75000"/>
                </a:schemeClr>
              </a:gs>
              <a:gs pos="50000">
                <a:schemeClr val="accent3"/>
              </a:gs>
              <a:gs pos="100000">
                <a:schemeClr val="accent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306041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2F371792-31C9-440C-AC12-7E53512247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7" name="Text Placeholder 31">
            <a:extLst>
              <a:ext uri="{FF2B5EF4-FFF2-40B4-BE49-F238E27FC236}">
                <a16:creationId xmlns:a16="http://schemas.microsoft.com/office/drawing/2014/main" id="{BCE0CF0D-F1AD-4CF6-A286-675D62A0D8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8" name="Text Placeholder 33">
            <a:extLst>
              <a:ext uri="{FF2B5EF4-FFF2-40B4-BE49-F238E27FC236}">
                <a16:creationId xmlns:a16="http://schemas.microsoft.com/office/drawing/2014/main" id="{55114D82-D5E0-41F5-9DCE-F220200ADD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F8F044A-E78B-4030-B355-D9BFF4DCFBE7}"/>
              </a:ext>
            </a:extLst>
          </p:cNvPr>
          <p:cNvSpPr/>
          <p:nvPr userDrawn="1"/>
        </p:nvSpPr>
        <p:spPr>
          <a:xfrm rot="5400000">
            <a:off x="5610000" y="1789270"/>
            <a:ext cx="972000" cy="45719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5" name="Picture 14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7139A1E7-9AF4-49A7-81A8-B2F5FFA887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84" y="686523"/>
            <a:ext cx="3421119" cy="192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1960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ir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900D6C-2A6A-434A-9B4A-6CC2A9B67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4124" y="1326129"/>
            <a:ext cx="3866719" cy="972001"/>
          </a:xfrm>
          <a:prstGeom prst="rect">
            <a:avLst/>
          </a:prstGeom>
        </p:spPr>
      </p:pic>
      <p:sp>
        <p:nvSpPr>
          <p:cNvPr id="29" name="Retângulo 42">
            <a:extLst>
              <a:ext uri="{FF2B5EF4-FFF2-40B4-BE49-F238E27FC236}">
                <a16:creationId xmlns:a16="http://schemas.microsoft.com/office/drawing/2014/main" id="{30EB8595-209E-4533-AFBF-C2E8C2E97E0E}"/>
              </a:ext>
            </a:extLst>
          </p:cNvPr>
          <p:cNvSpPr/>
          <p:nvPr userDrawn="1"/>
        </p:nvSpPr>
        <p:spPr>
          <a:xfrm>
            <a:off x="0" y="3250976"/>
            <a:ext cx="12192000" cy="3607025"/>
          </a:xfrm>
          <a:prstGeom prst="rect">
            <a:avLst/>
          </a:prstGeom>
          <a:gradFill flip="none" rotWithShape="1">
            <a:gsLst>
              <a:gs pos="50000">
                <a:srgbClr val="44B5C0"/>
              </a:gs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306041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25205DB8-41AA-458A-A0A3-3ACCB4EB89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2932D0FA-6636-44AC-942F-674C8267D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9" name="Text Placeholder 33">
            <a:extLst>
              <a:ext uri="{FF2B5EF4-FFF2-40B4-BE49-F238E27FC236}">
                <a16:creationId xmlns:a16="http://schemas.microsoft.com/office/drawing/2014/main" id="{5E15C505-3DC4-417C-9EFB-942CD2AF12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B418352-C237-4AEF-9D9A-45924470AB85}"/>
              </a:ext>
            </a:extLst>
          </p:cNvPr>
          <p:cNvSpPr/>
          <p:nvPr userDrawn="1"/>
        </p:nvSpPr>
        <p:spPr>
          <a:xfrm rot="5400000">
            <a:off x="5610000" y="1789270"/>
            <a:ext cx="972000" cy="45719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3" name="Picture 12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CC61CFD1-D966-4E7D-9479-F5B81071502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84" y="686523"/>
            <a:ext cx="3421119" cy="192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47345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Rep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42">
            <a:extLst>
              <a:ext uri="{FF2B5EF4-FFF2-40B4-BE49-F238E27FC236}">
                <a16:creationId xmlns:a16="http://schemas.microsoft.com/office/drawing/2014/main" id="{30EB8595-209E-4533-AFBF-C2E8C2E97E0E}"/>
              </a:ext>
            </a:extLst>
          </p:cNvPr>
          <p:cNvSpPr/>
          <p:nvPr userDrawn="1"/>
        </p:nvSpPr>
        <p:spPr>
          <a:xfrm>
            <a:off x="0" y="3250976"/>
            <a:ext cx="12192000" cy="3607025"/>
          </a:xfrm>
          <a:prstGeom prst="rect">
            <a:avLst/>
          </a:prstGeom>
          <a:solidFill>
            <a:srgbClr val="FC9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306041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25205DB8-41AA-458A-A0A3-3ACCB4EB89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2932D0FA-6636-44AC-942F-674C8267D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9" name="Text Placeholder 33">
            <a:extLst>
              <a:ext uri="{FF2B5EF4-FFF2-40B4-BE49-F238E27FC236}">
                <a16:creationId xmlns:a16="http://schemas.microsoft.com/office/drawing/2014/main" id="{5E15C505-3DC4-417C-9EFB-942CD2AF12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B418352-C237-4AEF-9D9A-45924470AB85}"/>
              </a:ext>
            </a:extLst>
          </p:cNvPr>
          <p:cNvSpPr/>
          <p:nvPr userDrawn="1"/>
        </p:nvSpPr>
        <p:spPr>
          <a:xfrm rot="5400000">
            <a:off x="5610000" y="1789270"/>
            <a:ext cx="972000" cy="45719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rgbClr val="FC9E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8F350D-2BBF-4E7B-B81A-F5180829B9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8795" y="1282911"/>
            <a:ext cx="2432199" cy="1053436"/>
          </a:xfrm>
          <a:prstGeom prst="rect">
            <a:avLst/>
          </a:prstGeom>
        </p:spPr>
      </p:pic>
      <p:pic>
        <p:nvPicPr>
          <p:cNvPr id="13" name="Picture 12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2EA66C88-F442-439D-B7D2-7671361857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84" y="686523"/>
            <a:ext cx="3421119" cy="192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59044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pa Penso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8EBA0B71-8769-44AC-B73A-C2458D08B7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2" t="25585" r="23732" b="28257"/>
          <a:stretch/>
        </p:blipFill>
        <p:spPr>
          <a:xfrm>
            <a:off x="6790569" y="1078825"/>
            <a:ext cx="2648744" cy="1245275"/>
          </a:xfrm>
          <a:prstGeom prst="rect">
            <a:avLst/>
          </a:prstGeom>
        </p:spPr>
      </p:pic>
      <p:sp>
        <p:nvSpPr>
          <p:cNvPr id="29" name="Retângulo 42">
            <a:extLst>
              <a:ext uri="{FF2B5EF4-FFF2-40B4-BE49-F238E27FC236}">
                <a16:creationId xmlns:a16="http://schemas.microsoft.com/office/drawing/2014/main" id="{30EB8595-209E-4533-AFBF-C2E8C2E97E0E}"/>
              </a:ext>
            </a:extLst>
          </p:cNvPr>
          <p:cNvSpPr/>
          <p:nvPr userDrawn="1"/>
        </p:nvSpPr>
        <p:spPr>
          <a:xfrm>
            <a:off x="0" y="3250976"/>
            <a:ext cx="12192000" cy="360702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13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171C-FB90-43D1-A046-7DCA4A66B6F1}"/>
              </a:ext>
            </a:extLst>
          </p:cNvPr>
          <p:cNvSpPr/>
          <p:nvPr userDrawn="1"/>
        </p:nvSpPr>
        <p:spPr>
          <a:xfrm rot="16200000">
            <a:off x="4306041" y="-2958703"/>
            <a:ext cx="3768726" cy="96670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71" tIns="34286" rIns="68571" bIns="342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PT" sz="135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F5FF72-9DEF-4E7B-9A81-4D5612E4C28E}"/>
              </a:ext>
            </a:extLst>
          </p:cNvPr>
          <p:cNvGrpSpPr/>
          <p:nvPr userDrawn="1"/>
        </p:nvGrpSpPr>
        <p:grpSpPr>
          <a:xfrm rot="16200000">
            <a:off x="6048744" y="3386994"/>
            <a:ext cx="94512" cy="313927"/>
            <a:chOff x="6562794" y="2381428"/>
            <a:chExt cx="167433" cy="58260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04E0A5-4F9C-4A72-B492-CB5376F490BD}"/>
                </a:ext>
              </a:extLst>
            </p:cNvPr>
            <p:cNvCxnSpPr/>
            <p:nvPr/>
          </p:nvCxnSpPr>
          <p:spPr>
            <a:xfrm rot="10800000">
              <a:off x="6562794" y="2674997"/>
              <a:ext cx="165052" cy="289036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02C68CF-6A80-405A-81F0-3D0780D8248E}"/>
                </a:ext>
              </a:extLst>
            </p:cNvPr>
            <p:cNvCxnSpPr/>
            <p:nvPr/>
          </p:nvCxnSpPr>
          <p:spPr>
            <a:xfrm rot="10800000" flipV="1">
              <a:off x="6565175" y="2381428"/>
              <a:ext cx="165052" cy="289035"/>
            </a:xfrm>
            <a:prstGeom prst="line">
              <a:avLst/>
            </a:prstGeom>
            <a:ln w="38100" cap="rnd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25205DB8-41AA-458A-A0A3-3ACCB4EB89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1044" y="4166275"/>
            <a:ext cx="9889912" cy="647700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8" name="Text Placeholder 31">
            <a:extLst>
              <a:ext uri="{FF2B5EF4-FFF2-40B4-BE49-F238E27FC236}">
                <a16:creationId xmlns:a16="http://schemas.microsoft.com/office/drawing/2014/main" id="{2932D0FA-6636-44AC-942F-674C8267D0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4304" y="5203111"/>
            <a:ext cx="3983393" cy="547257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59" name="Text Placeholder 33">
            <a:extLst>
              <a:ext uri="{FF2B5EF4-FFF2-40B4-BE49-F238E27FC236}">
                <a16:creationId xmlns:a16="http://schemas.microsoft.com/office/drawing/2014/main" id="{5E15C505-3DC4-417C-9EFB-942CD2AF12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44562" y="6139504"/>
            <a:ext cx="6302876" cy="333534"/>
          </a:xfrm>
        </p:spPr>
        <p:txBody>
          <a:bodyPr anchor="ctr">
            <a:noAutofit/>
          </a:bodyPr>
          <a:lstStyle>
            <a:lvl1pPr algn="ctr">
              <a:spcBef>
                <a:spcPts val="0"/>
              </a:spcBef>
              <a:defRPr sz="1600" spc="4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  <a:endParaRPr lang="pt-PT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7B418352-C237-4AEF-9D9A-45924470AB85}"/>
              </a:ext>
            </a:extLst>
          </p:cNvPr>
          <p:cNvSpPr/>
          <p:nvPr userDrawn="1"/>
        </p:nvSpPr>
        <p:spPr>
          <a:xfrm rot="5400000">
            <a:off x="5610000" y="1789270"/>
            <a:ext cx="972000" cy="45719"/>
          </a:xfrm>
          <a:custGeom>
            <a:avLst/>
            <a:gdLst/>
            <a:ahLst/>
            <a:cxnLst/>
            <a:rect l="0" t="0" r="0" b="0"/>
            <a:pathLst>
              <a:path w="904875" h="28575">
                <a:moveTo>
                  <a:pt x="7144" y="7144"/>
                </a:moveTo>
                <a:lnTo>
                  <a:pt x="902494" y="7144"/>
                </a:lnTo>
                <a:lnTo>
                  <a:pt x="902494" y="30004"/>
                </a:lnTo>
                <a:lnTo>
                  <a:pt x="7144" y="30004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pt-PT"/>
          </a:p>
        </p:txBody>
      </p:sp>
      <p:pic>
        <p:nvPicPr>
          <p:cNvPr id="13" name="Picture 12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3FC08FC0-DE35-48AE-BD81-03C826122B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884" y="686523"/>
            <a:ext cx="3421119" cy="192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84078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tags" Target="../tags/tag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89BF314-C3AA-5153-8313-BE3B9D17B8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3258095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05" imgH="405" progId="TCLayout.ActiveDocument.1">
                  <p:embed/>
                </p:oleObj>
              </mc:Choice>
              <mc:Fallback>
                <p:oleObj name="think-cell Slide" r:id="rId62" imgW="405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BF314-C3AA-5153-8313-BE3B9D17B8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 descr="A picture containing drawing, food&#10;&#10;Description automatically generated">
            <a:extLst>
              <a:ext uri="{FF2B5EF4-FFF2-40B4-BE49-F238E27FC236}">
                <a16:creationId xmlns:a16="http://schemas.microsoft.com/office/drawing/2014/main" id="{BEDCE5C6-5835-42A8-AC4B-A995F7F5B82A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9975" y="6289612"/>
            <a:ext cx="926307" cy="52076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D1F7F7-EFDC-439C-A8AD-57DA268D1422}"/>
              </a:ext>
            </a:extLst>
          </p:cNvPr>
          <p:cNvSpPr txBox="1"/>
          <p:nvPr userDrawn="1"/>
        </p:nvSpPr>
        <p:spPr>
          <a:xfrm>
            <a:off x="117643" y="6550766"/>
            <a:ext cx="4562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79A6D1A3-2C54-491A-9112-D5C7064466EC}" type="slidenum">
              <a:rPr lang="pt-PT" sz="900" smtClean="0">
                <a:solidFill>
                  <a:srgbClr val="6365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pt-PT" sz="900" dirty="0">
              <a:solidFill>
                <a:srgbClr val="6365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5CA59C-6908-4048-8888-C741A46AE8D6}"/>
              </a:ext>
            </a:extLst>
          </p:cNvPr>
          <p:cNvCxnSpPr>
            <a:cxnSpLocks/>
          </p:cNvCxnSpPr>
          <p:nvPr userDrawn="1"/>
        </p:nvCxnSpPr>
        <p:spPr>
          <a:xfrm>
            <a:off x="191648" y="6608762"/>
            <a:ext cx="0" cy="127576"/>
          </a:xfrm>
          <a:prstGeom prst="line">
            <a:avLst/>
          </a:prstGeom>
          <a:ln w="12700">
            <a:solidFill>
              <a:srgbClr val="636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F9ACAE-3835-4D70-96FB-C4F7B215FA6D}"/>
              </a:ext>
            </a:extLst>
          </p:cNvPr>
          <p:cNvCxnSpPr>
            <a:cxnSpLocks/>
          </p:cNvCxnSpPr>
          <p:nvPr userDrawn="1"/>
        </p:nvCxnSpPr>
        <p:spPr>
          <a:xfrm>
            <a:off x="489265" y="6608762"/>
            <a:ext cx="0" cy="127576"/>
          </a:xfrm>
          <a:prstGeom prst="line">
            <a:avLst/>
          </a:prstGeom>
          <a:ln w="12700">
            <a:solidFill>
              <a:srgbClr val="6365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59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712" r:id="rId10"/>
    <p:sldLayoutId id="2147483713" r:id="rId11"/>
    <p:sldLayoutId id="2147483718" r:id="rId12"/>
    <p:sldLayoutId id="214748371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708" r:id="rId21"/>
    <p:sldLayoutId id="2147483717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709" r:id="rId28"/>
    <p:sldLayoutId id="2147483716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710" r:id="rId51"/>
    <p:sldLayoutId id="2147483715" r:id="rId52"/>
    <p:sldLayoutId id="2147483703" r:id="rId53"/>
    <p:sldLayoutId id="2147483704" r:id="rId54"/>
    <p:sldLayoutId id="2147483705" r:id="rId55"/>
    <p:sldLayoutId id="2147483706" r:id="rId56"/>
    <p:sldLayoutId id="2147483707" r:id="rId57"/>
    <p:sldLayoutId id="2147483711" r:id="rId58"/>
    <p:sldLayoutId id="2147483714" r:id="rId5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C1A8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30773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EE5623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36566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QUATRO PERGUNTAS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BOAS PRÁTICAS · BUSINESS ANALYTICS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TECHNICAL AREA MOTOR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Entrei a 1 de julho. Tinha quatro perguntas.</a:t>
            </a:r>
            <a:br/>
            <a:r>
              <a:rPr sz="1400" b="0"/>
              <a:t>Simples de fazer — e, no início, difíceis de responder</a:t>
            </a:r>
          </a:p>
        </p:txBody>
      </p:sp>
      <p:pic>
        <p:nvPicPr>
          <p:cNvPr id="4" name="Picture 3" descr="rib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2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égua 2"/>
          <p:cNvSpPr/>
          <p:nvPr/>
        </p:nvSpPr>
        <p:spPr>
          <a:xfrm>
            <a:off x="1572768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Painel"/>
          <p:cNvSpPr/>
          <p:nvPr/>
        </p:nvSpPr>
        <p:spPr>
          <a:xfrm>
            <a:off x="571500" y="1397000"/>
            <a:ext cx="11049000" cy="4089400"/>
          </a:xfrm>
          <a:prstGeom prst="roundRect">
            <a:avLst>
              <a:gd name="adj" fmla="val 9000"/>
            </a:avLst>
          </a:prstGeom>
          <a:solidFill>
            <a:srgbClr val="EFEF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1" name="Rótulo dimensão"/>
          <p:cNvSpPr/>
          <p:nvPr/>
        </p:nvSpPr>
        <p:spPr>
          <a:xfrm>
            <a:off x="787400" y="2438400"/>
            <a:ext cx="1397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Dimensão</a:t>
            </a:r>
          </a:p>
        </p:txBody>
      </p:sp>
      <p:sp>
        <p:nvSpPr>
          <p:cNvPr id="902" name="Rótulo pergunta"/>
          <p:cNvSpPr/>
          <p:nvPr/>
        </p:nvSpPr>
        <p:spPr>
          <a:xfrm>
            <a:off x="787400" y="3505200"/>
            <a:ext cx="1397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A pergunta</a:t>
            </a:r>
          </a:p>
        </p:txBody>
      </p:sp>
      <p:sp>
        <p:nvSpPr>
          <p:cNvPr id="903" name="Cartão 01"/>
          <p:cNvSpPr/>
          <p:nvPr/>
        </p:nvSpPr>
        <p:spPr>
          <a:xfrm>
            <a:off x="2286000" y="1574800"/>
            <a:ext cx="2159000" cy="3022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4" name="Número 01"/>
          <p:cNvSpPr/>
          <p:nvPr/>
        </p:nvSpPr>
        <p:spPr>
          <a:xfrm>
            <a:off x="3098800" y="1778000"/>
            <a:ext cx="533400" cy="533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3077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400" b="1" dirty="0">
                <a:solidFill>
                  <a:srgbClr val="D30773"/>
                </a:solidFill>
              </a:rPr>
              <a:t>01</a:t>
            </a:r>
          </a:p>
        </p:txBody>
      </p:sp>
      <p:sp>
        <p:nvSpPr>
          <p:cNvPr id="905" name="Dimensão 01"/>
          <p:cNvSpPr/>
          <p:nvPr/>
        </p:nvSpPr>
        <p:spPr>
          <a:xfrm>
            <a:off x="2362200" y="2438400"/>
            <a:ext cx="2006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600" b="1" dirty="0">
                <a:solidFill>
                  <a:srgbClr val="D30773"/>
                </a:solidFill>
              </a:rPr>
              <a:t>Âmbito</a:t>
            </a:r>
          </a:p>
        </p:txBody>
      </p:sp>
      <p:sp>
        <p:nvSpPr>
          <p:cNvPr id="906" name="Divisor 01"/>
          <p:cNvSpPr/>
          <p:nvPr/>
        </p:nvSpPr>
        <p:spPr>
          <a:xfrm>
            <a:off x="2540000" y="30226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7" name="Pergunta 01"/>
          <p:cNvSpPr/>
          <p:nvPr/>
        </p:nvSpPr>
        <p:spPr>
          <a:xfrm>
            <a:off x="2438400" y="3175000"/>
            <a:ext cx="1854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2000" b="1" dirty="0">
                <a:solidFill>
                  <a:srgbClr val="141414"/>
                </a:solidFill>
              </a:rPr>
              <a:t>O que é para entregar?</a:t>
            </a:r>
          </a:p>
        </p:txBody>
      </p:sp>
      <p:sp>
        <p:nvSpPr>
          <p:cNvPr id="908" name="Cartão 02"/>
          <p:cNvSpPr/>
          <p:nvPr/>
        </p:nvSpPr>
        <p:spPr>
          <a:xfrm>
            <a:off x="4572000" y="1574800"/>
            <a:ext cx="2159000" cy="3022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9" name="Número 02"/>
          <p:cNvSpPr/>
          <p:nvPr/>
        </p:nvSpPr>
        <p:spPr>
          <a:xfrm>
            <a:off x="5384800" y="1778000"/>
            <a:ext cx="533400" cy="533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E562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400" b="1" dirty="0">
                <a:solidFill>
                  <a:srgbClr val="EE5623"/>
                </a:solidFill>
              </a:rPr>
              <a:t>02</a:t>
            </a:r>
          </a:p>
        </p:txBody>
      </p:sp>
      <p:sp>
        <p:nvSpPr>
          <p:cNvPr id="910" name="Dimensão 02"/>
          <p:cNvSpPr/>
          <p:nvPr/>
        </p:nvSpPr>
        <p:spPr>
          <a:xfrm>
            <a:off x="4648200" y="2438400"/>
            <a:ext cx="2006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600" b="1" dirty="0">
                <a:solidFill>
                  <a:srgbClr val="EE5623"/>
                </a:solidFill>
              </a:rPr>
              <a:t>Prioridade</a:t>
            </a:r>
          </a:p>
        </p:txBody>
      </p:sp>
      <p:sp>
        <p:nvSpPr>
          <p:cNvPr id="911" name="Divisor 02"/>
          <p:cNvSpPr/>
          <p:nvPr/>
        </p:nvSpPr>
        <p:spPr>
          <a:xfrm>
            <a:off x="4826000" y="30226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2" name="Pergunta 02"/>
          <p:cNvSpPr/>
          <p:nvPr/>
        </p:nvSpPr>
        <p:spPr>
          <a:xfrm>
            <a:off x="4724400" y="3175000"/>
            <a:ext cx="1854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2000" b="1" dirty="0">
                <a:solidFill>
                  <a:srgbClr val="141414"/>
                </a:solidFill>
              </a:rPr>
              <a:t>O que é mais importante?</a:t>
            </a:r>
          </a:p>
        </p:txBody>
      </p:sp>
      <p:sp>
        <p:nvSpPr>
          <p:cNvPr id="913" name="Cartão 03"/>
          <p:cNvSpPr/>
          <p:nvPr/>
        </p:nvSpPr>
        <p:spPr>
          <a:xfrm>
            <a:off x="6858000" y="1574800"/>
            <a:ext cx="2159000" cy="3022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4" name="Número 03"/>
          <p:cNvSpPr/>
          <p:nvPr/>
        </p:nvSpPr>
        <p:spPr>
          <a:xfrm>
            <a:off x="7670800" y="1778000"/>
            <a:ext cx="533400" cy="533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86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400" b="1" dirty="0">
                <a:solidFill>
                  <a:srgbClr val="2E9E86"/>
                </a:solidFill>
              </a:rPr>
              <a:t>03</a:t>
            </a:r>
          </a:p>
        </p:txBody>
      </p:sp>
      <p:sp>
        <p:nvSpPr>
          <p:cNvPr id="915" name="Dimensão 03"/>
          <p:cNvSpPr/>
          <p:nvPr/>
        </p:nvSpPr>
        <p:spPr>
          <a:xfrm>
            <a:off x="6934200" y="2438400"/>
            <a:ext cx="2006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600" b="1" dirty="0">
                <a:solidFill>
                  <a:srgbClr val="2E9E86"/>
                </a:solidFill>
              </a:rPr>
              <a:t>Prazo</a:t>
            </a:r>
          </a:p>
        </p:txBody>
      </p:sp>
      <p:sp>
        <p:nvSpPr>
          <p:cNvPr id="916" name="Divisor 03"/>
          <p:cNvSpPr/>
          <p:nvPr/>
        </p:nvSpPr>
        <p:spPr>
          <a:xfrm>
            <a:off x="7112000" y="30226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7" name="Pergunta 03"/>
          <p:cNvSpPr/>
          <p:nvPr/>
        </p:nvSpPr>
        <p:spPr>
          <a:xfrm>
            <a:off x="7010400" y="3175000"/>
            <a:ext cx="1854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2000" b="1" dirty="0">
                <a:solidFill>
                  <a:srgbClr val="141414"/>
                </a:solidFill>
              </a:rPr>
              <a:t>Quanto tempo demora?</a:t>
            </a:r>
          </a:p>
        </p:txBody>
      </p:sp>
      <p:sp>
        <p:nvSpPr>
          <p:cNvPr id="918" name="Cartão 04"/>
          <p:cNvSpPr/>
          <p:nvPr/>
        </p:nvSpPr>
        <p:spPr>
          <a:xfrm>
            <a:off x="9144000" y="1574800"/>
            <a:ext cx="2159000" cy="30226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9" name="Número 04"/>
          <p:cNvSpPr/>
          <p:nvPr/>
        </p:nvSpPr>
        <p:spPr>
          <a:xfrm>
            <a:off x="9956800" y="1778000"/>
            <a:ext cx="533400" cy="533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9F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400" b="1" dirty="0">
                <a:solidFill>
                  <a:srgbClr val="2A9FAE"/>
                </a:solidFill>
              </a:rPr>
              <a:t>04</a:t>
            </a:r>
          </a:p>
        </p:txBody>
      </p:sp>
      <p:sp>
        <p:nvSpPr>
          <p:cNvPr id="920" name="Dimensão 04"/>
          <p:cNvSpPr/>
          <p:nvPr/>
        </p:nvSpPr>
        <p:spPr>
          <a:xfrm>
            <a:off x="9220200" y="2438400"/>
            <a:ext cx="2006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600" b="1" dirty="0">
                <a:solidFill>
                  <a:srgbClr val="2A9FAE"/>
                </a:solidFill>
              </a:rPr>
              <a:t>Responsabilidade</a:t>
            </a:r>
          </a:p>
        </p:txBody>
      </p:sp>
      <p:sp>
        <p:nvSpPr>
          <p:cNvPr id="921" name="Divisor 04"/>
          <p:cNvSpPr/>
          <p:nvPr/>
        </p:nvSpPr>
        <p:spPr>
          <a:xfrm>
            <a:off x="9398000" y="30226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22" name="Pergunta 04"/>
          <p:cNvSpPr/>
          <p:nvPr/>
        </p:nvSpPr>
        <p:spPr>
          <a:xfrm>
            <a:off x="9296400" y="3175000"/>
            <a:ext cx="18542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2000" b="1" dirty="0">
                <a:solidFill>
                  <a:srgbClr val="141414"/>
                </a:solidFill>
              </a:rPr>
              <a:t>Quem faz o quê?</a:t>
            </a:r>
          </a:p>
        </p:txBody>
      </p:sp>
      <p:sp>
        <p:nvSpPr>
          <p:cNvPr id="923" name="Mensagem"/>
          <p:cNvSpPr/>
          <p:nvPr/>
        </p:nvSpPr>
        <p:spPr>
          <a:xfrm>
            <a:off x="787400" y="4749800"/>
            <a:ext cx="10617200" cy="584200"/>
          </a:xfrm>
          <a:prstGeom prst="rect">
            <a:avLst/>
          </a:prstGeom>
          <a:noFill/>
          <a:ln>
            <a:noFill/>
          </a:ln>
        </p:spPr>
        <p:txBody>
          <a:bodyPr wrap="square" lIns="50800" tIns="0" rIns="50800" bIns="0" anchor="ctr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Nada disto é falha de alguém. </a:t>
            </a:r>
            <a:r>
              <a:rPr lang="pt-PT" sz="1400" b="0" dirty="0">
                <a:solidFill>
                  <a:srgbClr val="141414"/>
                </a:solidFill>
              </a:rPr>
              <a:t>É o que acontece quando uma equipa cresce sem parar para desenhar como trabalha.</a:t>
            </a:r>
          </a:p>
        </p:txBody>
      </p:sp>
    </p:spTree>
    <p:extLst>
      <p:ext uri="{BB962C8B-B14F-4D97-AF65-F5344CB8AC3E}">
        <p14:creationId xmlns:p14="http://schemas.microsoft.com/office/powerpoint/2010/main" val="1341692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Foi isto que as perguntas escondiam</a:t>
            </a:r>
            <a:br/>
            <a:r>
              <a:rPr sz="1400" b="0"/>
              <a:t>O que víamos no dia a dia — descreve o sistema, não as pessoas</a:t>
            </a:r>
          </a:p>
        </p:txBody>
      </p:sp>
      <p:pic>
        <p:nvPicPr>
          <p:cNvPr id="4" name="Picture 3" descr="rib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7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égua 3"/>
          <p:cNvSpPr/>
          <p:nvPr/>
        </p:nvSpPr>
        <p:spPr>
          <a:xfrm>
            <a:off x="1956816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Cab 1"/>
          <p:cNvSpPr/>
          <p:nvPr/>
        </p:nvSpPr>
        <p:spPr>
          <a:xfrm>
            <a:off x="571500" y="1270000"/>
            <a:ext cx="3302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PT" sz="1000" b="1" dirty="0">
                <a:solidFill>
                  <a:srgbClr val="636566"/>
                </a:solidFill>
                <a:latin typeface="Arial"/>
                <a:cs typeface="Arial"/>
              </a:rPr>
              <a:t>A PERGUNTA</a:t>
            </a:r>
          </a:p>
        </p:txBody>
      </p:sp>
      <p:sp>
        <p:nvSpPr>
          <p:cNvPr id="501" name="Cab 2"/>
          <p:cNvSpPr/>
          <p:nvPr/>
        </p:nvSpPr>
        <p:spPr>
          <a:xfrm>
            <a:off x="4191000" y="12700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PT" sz="1000" b="1" dirty="0">
                <a:solidFill>
                  <a:srgbClr val="636566"/>
                </a:solidFill>
                <a:latin typeface="Arial"/>
                <a:cs typeface="Arial"/>
              </a:rPr>
              <a:t>O QUE VÍAMOS</a:t>
            </a:r>
          </a:p>
        </p:txBody>
      </p:sp>
      <p:sp>
        <p:nvSpPr>
          <p:cNvPr id="502" name="Cab 3"/>
          <p:cNvSpPr/>
          <p:nvPr/>
        </p:nvSpPr>
        <p:spPr>
          <a:xfrm>
            <a:off x="7620000" y="1270000"/>
            <a:ext cx="4000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pt-PT" sz="1000" b="1" dirty="0">
                <a:solidFill>
                  <a:srgbClr val="636566"/>
                </a:solidFill>
                <a:latin typeface="Arial"/>
                <a:cs typeface="Arial"/>
              </a:rPr>
              <a:t>NO DIA A DIA</a:t>
            </a:r>
          </a:p>
        </p:txBody>
      </p:sp>
      <p:sp>
        <p:nvSpPr>
          <p:cNvPr id="503" name="Divisor topo"/>
          <p:cNvSpPr/>
          <p:nvPr/>
        </p:nvSpPr>
        <p:spPr>
          <a:xfrm>
            <a:off x="571500" y="15494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504" name="Número 1"/>
          <p:cNvSpPr/>
          <p:nvPr/>
        </p:nvSpPr>
        <p:spPr>
          <a:xfrm>
            <a:off x="571500" y="1778000"/>
            <a:ext cx="457200" cy="457200"/>
          </a:xfrm>
          <a:prstGeom prst="ellipse">
            <a:avLst/>
          </a:prstGeom>
          <a:noFill/>
          <a:ln w="25400">
            <a:solidFill>
              <a:srgbClr val="D3077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D30773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505" name="Pergunta 1"/>
          <p:cNvSpPr/>
          <p:nvPr/>
        </p:nvSpPr>
        <p:spPr>
          <a:xfrm>
            <a:off x="1168400" y="1828800"/>
            <a:ext cx="2705100" cy="355600"/>
          </a:xfrm>
          <a:prstGeom prst="roundRect">
            <a:avLst>
              <a:gd name="adj" fmla="val 50000"/>
            </a:avLst>
          </a:prstGeom>
          <a:solidFill>
            <a:srgbClr val="FBE1EE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 algn="l">
              <a:buNone/>
            </a:pPr>
            <a:r>
              <a:rPr lang="pt-PT" sz="1300" b="1" dirty="0">
                <a:solidFill>
                  <a:srgbClr val="141414"/>
                </a:solidFill>
                <a:latin typeface="Arial"/>
                <a:cs typeface="Arial"/>
              </a:rPr>
              <a:t>O que é para entregar?</a:t>
            </a:r>
          </a:p>
        </p:txBody>
      </p:sp>
      <p:sp>
        <p:nvSpPr>
          <p:cNvPr id="506" name="Sintoma 1"/>
          <p:cNvSpPr/>
          <p:nvPr/>
        </p:nvSpPr>
        <p:spPr>
          <a:xfrm>
            <a:off x="4191000" y="17526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500" b="1" dirty="0">
                <a:solidFill>
                  <a:srgbClr val="141414"/>
                </a:solidFill>
                <a:latin typeface="Arial"/>
                <a:cs typeface="Arial"/>
              </a:rPr>
              <a:t>Pedidos dispersos por vários canais</a:t>
            </a:r>
          </a:p>
        </p:txBody>
      </p:sp>
      <p:sp>
        <p:nvSpPr>
          <p:cNvPr id="507" name="Descrição 1"/>
          <p:cNvSpPr/>
          <p:nvPr/>
        </p:nvSpPr>
        <p:spPr>
          <a:xfrm>
            <a:off x="7620000" y="1727200"/>
            <a:ext cx="4000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300" b="0" dirty="0">
                <a:solidFill>
                  <a:srgbClr val="141414"/>
                </a:solidFill>
                <a:latin typeface="Arial"/>
                <a:cs typeface="Arial"/>
              </a:rPr>
              <a:t>Projetos, análises pontuais e tarefas regulares chegavam por canais diferentes.</a:t>
            </a:r>
          </a:p>
        </p:txBody>
      </p:sp>
      <p:sp>
        <p:nvSpPr>
          <p:cNvPr id="508" name="Divisor 1"/>
          <p:cNvSpPr/>
          <p:nvPr/>
        </p:nvSpPr>
        <p:spPr>
          <a:xfrm>
            <a:off x="571500" y="24130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509" name="Número 2"/>
          <p:cNvSpPr/>
          <p:nvPr/>
        </p:nvSpPr>
        <p:spPr>
          <a:xfrm>
            <a:off x="571500" y="2590800"/>
            <a:ext cx="457200" cy="457200"/>
          </a:xfrm>
          <a:prstGeom prst="ellipse">
            <a:avLst/>
          </a:prstGeom>
          <a:noFill/>
          <a:ln w="25400">
            <a:solidFill>
              <a:srgbClr val="EE562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EE562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510" name="Pergunta 2"/>
          <p:cNvSpPr/>
          <p:nvPr/>
        </p:nvSpPr>
        <p:spPr>
          <a:xfrm>
            <a:off x="1168400" y="2641600"/>
            <a:ext cx="2705100" cy="355600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 algn="l">
              <a:buNone/>
            </a:pPr>
            <a:r>
              <a:rPr lang="pt-PT" sz="1300" b="1" dirty="0">
                <a:solidFill>
                  <a:srgbClr val="141414"/>
                </a:solidFill>
                <a:latin typeface="Arial"/>
                <a:cs typeface="Arial"/>
              </a:rPr>
              <a:t>O que é mais importante?</a:t>
            </a:r>
          </a:p>
        </p:txBody>
      </p:sp>
      <p:sp>
        <p:nvSpPr>
          <p:cNvPr id="511" name="Sintoma 2"/>
          <p:cNvSpPr/>
          <p:nvPr/>
        </p:nvSpPr>
        <p:spPr>
          <a:xfrm>
            <a:off x="4191000" y="25654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500" b="1" dirty="0">
                <a:solidFill>
                  <a:srgbClr val="141414"/>
                </a:solidFill>
                <a:latin typeface="Arial"/>
                <a:cs typeface="Arial"/>
              </a:rPr>
              <a:t>Prioridade sem critério escrito</a:t>
            </a:r>
          </a:p>
        </p:txBody>
      </p:sp>
      <p:sp>
        <p:nvSpPr>
          <p:cNvPr id="512" name="Descrição 2"/>
          <p:cNvSpPr/>
          <p:nvPr/>
        </p:nvSpPr>
        <p:spPr>
          <a:xfrm>
            <a:off x="7620000" y="2540000"/>
            <a:ext cx="4000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300" b="0" dirty="0">
                <a:solidFill>
                  <a:srgbClr val="141414"/>
                </a:solidFill>
                <a:latin typeface="Arial"/>
                <a:cs typeface="Arial"/>
              </a:rPr>
              <a:t>Tudo competia pela mesma fila: a prioridade era de quem perguntava primeiro.</a:t>
            </a:r>
          </a:p>
        </p:txBody>
      </p:sp>
      <p:sp>
        <p:nvSpPr>
          <p:cNvPr id="513" name="Divisor 2"/>
          <p:cNvSpPr/>
          <p:nvPr/>
        </p:nvSpPr>
        <p:spPr>
          <a:xfrm>
            <a:off x="571500" y="32258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514" name="Número 3"/>
          <p:cNvSpPr/>
          <p:nvPr/>
        </p:nvSpPr>
        <p:spPr>
          <a:xfrm>
            <a:off x="571500" y="3403600"/>
            <a:ext cx="457200" cy="457200"/>
          </a:xfrm>
          <a:prstGeom prst="ellipse">
            <a:avLst/>
          </a:prstGeom>
          <a:noFill/>
          <a:ln w="25400">
            <a:solidFill>
              <a:srgbClr val="2E9E86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2E9E86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515" name="Pergunta 3"/>
          <p:cNvSpPr/>
          <p:nvPr/>
        </p:nvSpPr>
        <p:spPr>
          <a:xfrm>
            <a:off x="1168400" y="3454400"/>
            <a:ext cx="2705100" cy="355600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 algn="l">
              <a:buNone/>
            </a:pPr>
            <a:r>
              <a:rPr lang="pt-PT" sz="1300" b="1" dirty="0">
                <a:solidFill>
                  <a:srgbClr val="141414"/>
                </a:solidFill>
                <a:latin typeface="Arial"/>
                <a:cs typeface="Arial"/>
              </a:rPr>
              <a:t>Quanto tempo demora?</a:t>
            </a:r>
          </a:p>
        </p:txBody>
      </p:sp>
      <p:sp>
        <p:nvSpPr>
          <p:cNvPr id="516" name="Sintoma 3"/>
          <p:cNvSpPr/>
          <p:nvPr/>
        </p:nvSpPr>
        <p:spPr>
          <a:xfrm>
            <a:off x="4191000" y="33782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500" b="1" dirty="0">
                <a:solidFill>
                  <a:srgbClr val="141414"/>
                </a:solidFill>
                <a:latin typeface="Arial"/>
                <a:cs typeface="Arial"/>
              </a:rPr>
              <a:t>Prazos sem olhar à capacidade</a:t>
            </a:r>
          </a:p>
        </p:txBody>
      </p:sp>
      <p:sp>
        <p:nvSpPr>
          <p:cNvPr id="517" name="Descrição 3"/>
          <p:cNvSpPr/>
          <p:nvPr/>
        </p:nvSpPr>
        <p:spPr>
          <a:xfrm>
            <a:off x="7620000" y="3352800"/>
            <a:ext cx="4000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300" b="0" dirty="0">
                <a:solidFill>
                  <a:srgbClr val="141414"/>
                </a:solidFill>
                <a:latin typeface="Arial"/>
                <a:cs typeface="Arial"/>
              </a:rPr>
              <a:t>Prometíamos datas sem saber se cabiam: a capacidade real nunca entrava na conversa.</a:t>
            </a:r>
          </a:p>
        </p:txBody>
      </p:sp>
      <p:sp>
        <p:nvSpPr>
          <p:cNvPr id="518" name="Divisor 3"/>
          <p:cNvSpPr/>
          <p:nvPr/>
        </p:nvSpPr>
        <p:spPr>
          <a:xfrm>
            <a:off x="571500" y="40386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519" name="Número 4"/>
          <p:cNvSpPr/>
          <p:nvPr/>
        </p:nvSpPr>
        <p:spPr>
          <a:xfrm>
            <a:off x="571500" y="4216400"/>
            <a:ext cx="457200" cy="457200"/>
          </a:xfrm>
          <a:prstGeom prst="ellipse">
            <a:avLst/>
          </a:prstGeom>
          <a:noFill/>
          <a:ln w="25400">
            <a:solidFill>
              <a:srgbClr val="2A9F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2A9FA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520" name="Pergunta 4"/>
          <p:cNvSpPr/>
          <p:nvPr/>
        </p:nvSpPr>
        <p:spPr>
          <a:xfrm>
            <a:off x="1168400" y="4267200"/>
            <a:ext cx="2705100" cy="3556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 algn="l">
              <a:buNone/>
            </a:pPr>
            <a:r>
              <a:rPr lang="pt-PT" sz="1300" b="1" dirty="0">
                <a:solidFill>
                  <a:srgbClr val="141414"/>
                </a:solidFill>
                <a:latin typeface="Arial"/>
                <a:cs typeface="Arial"/>
              </a:rPr>
              <a:t>Quem faz o quê?</a:t>
            </a:r>
          </a:p>
        </p:txBody>
      </p:sp>
      <p:sp>
        <p:nvSpPr>
          <p:cNvPr id="521" name="Sintoma 4"/>
          <p:cNvSpPr/>
          <p:nvPr/>
        </p:nvSpPr>
        <p:spPr>
          <a:xfrm>
            <a:off x="4191000" y="4191000"/>
            <a:ext cx="317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500" b="1" dirty="0">
                <a:solidFill>
                  <a:srgbClr val="141414"/>
                </a:solidFill>
                <a:latin typeface="Arial"/>
                <a:cs typeface="Arial"/>
              </a:rPr>
              <a:t>Trabalho que só cada um conhecia</a:t>
            </a:r>
          </a:p>
        </p:txBody>
      </p:sp>
      <p:sp>
        <p:nvSpPr>
          <p:cNvPr id="522" name="Descrição 4"/>
          <p:cNvSpPr/>
          <p:nvPr/>
        </p:nvSpPr>
        <p:spPr>
          <a:xfrm>
            <a:off x="7620000" y="4165600"/>
            <a:ext cx="40005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300" b="0" dirty="0">
                <a:solidFill>
                  <a:srgbClr val="141414"/>
                </a:solidFill>
                <a:latin typeface="Arial"/>
                <a:cs typeface="Arial"/>
              </a:rPr>
              <a:t>Sem rituais de equipa, só conversas 1:1. Quando alguém faltava, o trabalho ficava órfão.</a:t>
            </a:r>
          </a:p>
        </p:txBody>
      </p:sp>
      <p:sp>
        <p:nvSpPr>
          <p:cNvPr id="523" name="Divisor 4"/>
          <p:cNvSpPr/>
          <p:nvPr/>
        </p:nvSpPr>
        <p:spPr>
          <a:xfrm>
            <a:off x="571500" y="48514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524" name="Nota caixa"/>
          <p:cNvSpPr/>
          <p:nvPr/>
        </p:nvSpPr>
        <p:spPr>
          <a:xfrm>
            <a:off x="571500" y="5130800"/>
            <a:ext cx="11049000" cy="508000"/>
          </a:xfrm>
          <a:prstGeom prst="roundRect">
            <a:avLst>
              <a:gd name="adj" fmla="val 25000"/>
            </a:avLst>
          </a:prstGeom>
          <a:noFill/>
          <a:ln w="9525">
            <a:solidFill>
              <a:srgbClr val="D9D9D9"/>
            </a:solidFill>
          </a:ln>
        </p:spPr>
        <p:txBody>
          <a:bodyPr wrap="square" lIns="203200" tIns="0" rIns="203200" bIns="0" anchor="ctr">
            <a:noAutofit/>
          </a:bodyPr>
          <a:lstStyle/>
          <a:p>
            <a:pPr algn="l"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Nota: </a:t>
            </a: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até agora, o trabalho não era monitorizado. Os indicadores começam a ser registados agora e vão precisar de tempo para estabilizar.</a:t>
            </a:r>
          </a:p>
        </p:txBody>
      </p:sp>
    </p:spTree>
    <p:extLst>
      <p:ext uri="{BB962C8B-B14F-4D97-AF65-F5344CB8AC3E}">
        <p14:creationId xmlns:p14="http://schemas.microsoft.com/office/powerpoint/2010/main" val="313483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As pessoas por trás das análises</a:t>
            </a:r>
            <a:br/>
            <a:r>
              <a:rPr sz="1400" b="0"/>
              <a:t>Competências complementares: atuariado e business analysis</a:t>
            </a:r>
          </a:p>
        </p:txBody>
      </p:sp>
      <p:pic>
        <p:nvPicPr>
          <p:cNvPr id="4" name="Picture 3" descr="rib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2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égua 4"/>
          <p:cNvSpPr/>
          <p:nvPr/>
        </p:nvSpPr>
        <p:spPr>
          <a:xfrm>
            <a:off x="2340864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Foto 1"/>
          <p:cNvSpPr/>
          <p:nvPr/>
        </p:nvSpPr>
        <p:spPr>
          <a:xfrm>
            <a:off x="571500" y="11176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D3077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01" name="Info 1"/>
          <p:cNvSpPr/>
          <p:nvPr/>
        </p:nvSpPr>
        <p:spPr>
          <a:xfrm>
            <a:off x="1384300" y="11938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02" name="Nome 1"/>
          <p:cNvSpPr/>
          <p:nvPr/>
        </p:nvSpPr>
        <p:spPr>
          <a:xfrm>
            <a:off x="571500" y="18542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FBE1EE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03" name="Funcao 1"/>
          <p:cNvSpPr/>
          <p:nvPr/>
        </p:nvSpPr>
        <p:spPr>
          <a:xfrm>
            <a:off x="622300" y="21844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Head of Business Analytics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04" name="Foto 2"/>
          <p:cNvSpPr/>
          <p:nvPr/>
        </p:nvSpPr>
        <p:spPr>
          <a:xfrm>
            <a:off x="571500" y="28702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EE562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05" name="Info 2"/>
          <p:cNvSpPr/>
          <p:nvPr/>
        </p:nvSpPr>
        <p:spPr>
          <a:xfrm>
            <a:off x="1384300" y="29464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06" name="Nome 2"/>
          <p:cNvSpPr/>
          <p:nvPr/>
        </p:nvSpPr>
        <p:spPr>
          <a:xfrm>
            <a:off x="571500" y="36068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07" name="Funcao 2"/>
          <p:cNvSpPr/>
          <p:nvPr/>
        </p:nvSpPr>
        <p:spPr>
          <a:xfrm>
            <a:off x="622300" y="39370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Atuário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08" name="Foto 3"/>
          <p:cNvSpPr/>
          <p:nvPr/>
        </p:nvSpPr>
        <p:spPr>
          <a:xfrm>
            <a:off x="4318000" y="28702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EE562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09" name="Info 3"/>
          <p:cNvSpPr/>
          <p:nvPr/>
        </p:nvSpPr>
        <p:spPr>
          <a:xfrm>
            <a:off x="5130800" y="29464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10" name="Nome 3"/>
          <p:cNvSpPr/>
          <p:nvPr/>
        </p:nvSpPr>
        <p:spPr>
          <a:xfrm>
            <a:off x="4318000" y="36068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11" name="Funcao 3"/>
          <p:cNvSpPr/>
          <p:nvPr/>
        </p:nvSpPr>
        <p:spPr>
          <a:xfrm>
            <a:off x="4368800" y="39370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Atuário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12" name="Foto 4"/>
          <p:cNvSpPr/>
          <p:nvPr/>
        </p:nvSpPr>
        <p:spPr>
          <a:xfrm>
            <a:off x="8064500" y="28702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2A9FAE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13" name="Info 4"/>
          <p:cNvSpPr/>
          <p:nvPr/>
        </p:nvSpPr>
        <p:spPr>
          <a:xfrm>
            <a:off x="8877300" y="29464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14" name="Nome 4"/>
          <p:cNvSpPr/>
          <p:nvPr/>
        </p:nvSpPr>
        <p:spPr>
          <a:xfrm>
            <a:off x="8064500" y="36068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15" name="Funcao 4"/>
          <p:cNvSpPr/>
          <p:nvPr/>
        </p:nvSpPr>
        <p:spPr>
          <a:xfrm>
            <a:off x="8115300" y="39370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Analista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16" name="Foto 5"/>
          <p:cNvSpPr/>
          <p:nvPr/>
        </p:nvSpPr>
        <p:spPr>
          <a:xfrm>
            <a:off x="571500" y="46228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2A9FAE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17" name="Info 5"/>
          <p:cNvSpPr/>
          <p:nvPr/>
        </p:nvSpPr>
        <p:spPr>
          <a:xfrm>
            <a:off x="1384300" y="46990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18" name="Nome 5"/>
          <p:cNvSpPr/>
          <p:nvPr/>
        </p:nvSpPr>
        <p:spPr>
          <a:xfrm>
            <a:off x="571500" y="53594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19" name="Funcao 5"/>
          <p:cNvSpPr/>
          <p:nvPr/>
        </p:nvSpPr>
        <p:spPr>
          <a:xfrm>
            <a:off x="622300" y="56896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Analista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20" name="Foto 6"/>
          <p:cNvSpPr/>
          <p:nvPr/>
        </p:nvSpPr>
        <p:spPr>
          <a:xfrm>
            <a:off x="4318000" y="46228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2A9FAE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21" name="Info 6"/>
          <p:cNvSpPr/>
          <p:nvPr/>
        </p:nvSpPr>
        <p:spPr>
          <a:xfrm>
            <a:off x="5130800" y="46990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22" name="Nome 6"/>
          <p:cNvSpPr/>
          <p:nvPr/>
        </p:nvSpPr>
        <p:spPr>
          <a:xfrm>
            <a:off x="4318000" y="53594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23" name="Funcao 6"/>
          <p:cNvSpPr/>
          <p:nvPr/>
        </p:nvSpPr>
        <p:spPr>
          <a:xfrm>
            <a:off x="4368800" y="56896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Analista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24" name="Foto 7"/>
          <p:cNvSpPr/>
          <p:nvPr/>
        </p:nvSpPr>
        <p:spPr>
          <a:xfrm>
            <a:off x="8064500" y="4622800"/>
            <a:ext cx="635000" cy="635000"/>
          </a:xfrm>
          <a:prstGeom prst="ellipse">
            <a:avLst/>
          </a:prstGeom>
          <a:solidFill>
            <a:srgbClr val="F4F5F6"/>
          </a:solidFill>
          <a:ln w="31750">
            <a:solidFill>
              <a:srgbClr val="2A9FAE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25" name="Info 7"/>
          <p:cNvSpPr/>
          <p:nvPr/>
        </p:nvSpPr>
        <p:spPr>
          <a:xfrm>
            <a:off x="8877300" y="4699000"/>
            <a:ext cx="26797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Foco / marca</a:t>
            </a:r>
          </a:p>
          <a:p>
            <a:pPr>
              <a:spcBef>
                <a:spcPts val="300"/>
              </a:spcBef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Na equipa desde —</a:t>
            </a:r>
          </a:p>
        </p:txBody>
      </p:sp>
      <p:sp>
        <p:nvSpPr>
          <p:cNvPr id="426" name="Nome 7"/>
          <p:cNvSpPr/>
          <p:nvPr/>
        </p:nvSpPr>
        <p:spPr>
          <a:xfrm>
            <a:off x="8064500" y="5359400"/>
            <a:ext cx="3492500" cy="3048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5240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Nome Apelido</a:t>
            </a:r>
          </a:p>
        </p:txBody>
      </p:sp>
      <p:sp>
        <p:nvSpPr>
          <p:cNvPr id="427" name="Funcao 7"/>
          <p:cNvSpPr/>
          <p:nvPr/>
        </p:nvSpPr>
        <p:spPr>
          <a:xfrm>
            <a:off x="8115300" y="5689600"/>
            <a:ext cx="34417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200" b="1" dirty="0">
                <a:solidFill>
                  <a:srgbClr val="141414"/>
                </a:solidFill>
                <a:latin typeface="Arial"/>
                <a:cs typeface="Arial"/>
              </a:rPr>
              <a:t>Analista</a:t>
            </a:r>
          </a:p>
          <a:p>
            <a:pPr>
              <a:buNone/>
            </a:pPr>
            <a:r>
              <a:rPr lang="pt-PT" sz="1200" b="0" dirty="0">
                <a:solidFill>
                  <a:srgbClr val="636566"/>
                </a:solidFill>
                <a:latin typeface="Arial"/>
                <a:cs typeface="Arial"/>
              </a:rPr>
              <a:t>Responsabilidade principal</a:t>
            </a:r>
          </a:p>
        </p:txBody>
      </p:sp>
      <p:sp>
        <p:nvSpPr>
          <p:cNvPr id="428" name="Divisor"/>
          <p:cNvSpPr/>
          <p:nvPr/>
        </p:nvSpPr>
        <p:spPr>
          <a:xfrm>
            <a:off x="571500" y="27178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29" name="Divisor"/>
          <p:cNvSpPr/>
          <p:nvPr/>
        </p:nvSpPr>
        <p:spPr>
          <a:xfrm>
            <a:off x="571500" y="4470400"/>
            <a:ext cx="11049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30" name="Mensagem"/>
          <p:cNvSpPr/>
          <p:nvPr/>
        </p:nvSpPr>
        <p:spPr>
          <a:xfrm>
            <a:off x="4318000" y="12446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141414"/>
                </a:solidFill>
                <a:latin typeface="Arial"/>
                <a:cs typeface="Arial"/>
              </a:rPr>
              <a:t>Três marcas, um único método de trabalho.</a:t>
            </a:r>
          </a:p>
          <a:p>
            <a:pPr>
              <a:spcBef>
                <a:spcPts val="400"/>
              </a:spcBef>
              <a:buNone/>
            </a:pPr>
            <a:r>
              <a:rPr lang="pt-PT" sz="1400" b="0" dirty="0">
                <a:solidFill>
                  <a:srgbClr val="141414"/>
                </a:solidFill>
                <a:latin typeface="Arial"/>
                <a:cs typeface="Arial"/>
              </a:rPr>
              <a:t>Cada pessoa com uma especialidade, e a equipa sabe sempre o que cada um tem em mãos.</a:t>
            </a:r>
          </a:p>
        </p:txBody>
      </p:sp>
      <p:sp>
        <p:nvSpPr>
          <p:cNvPr id="431" name="Legenda caixa"/>
          <p:cNvSpPr/>
          <p:nvPr/>
        </p:nvSpPr>
        <p:spPr>
          <a:xfrm>
            <a:off x="8826500" y="1168400"/>
            <a:ext cx="2794000" cy="1320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32" name="Legenda ponto"/>
          <p:cNvSpPr/>
          <p:nvPr/>
        </p:nvSpPr>
        <p:spPr>
          <a:xfrm>
            <a:off x="9055100" y="1422400"/>
            <a:ext cx="152400" cy="152400"/>
          </a:xfrm>
          <a:prstGeom prst="ellipse">
            <a:avLst/>
          </a:prstGeom>
          <a:solidFill>
            <a:srgbClr val="FBE1EE"/>
          </a:solidFill>
          <a:ln w="19050">
            <a:solidFill>
              <a:srgbClr val="D3077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33" name="Legenda texto"/>
          <p:cNvSpPr/>
          <p:nvPr/>
        </p:nvSpPr>
        <p:spPr>
          <a:xfrm>
            <a:off x="9334500" y="13716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141414"/>
                </a:solidFill>
                <a:latin typeface="Arial"/>
                <a:cs typeface="Arial"/>
              </a:rPr>
              <a:t>Coordenação</a:t>
            </a:r>
          </a:p>
        </p:txBody>
      </p:sp>
      <p:sp>
        <p:nvSpPr>
          <p:cNvPr id="434" name="Legenda ponto"/>
          <p:cNvSpPr/>
          <p:nvPr/>
        </p:nvSpPr>
        <p:spPr>
          <a:xfrm>
            <a:off x="9055100" y="1752600"/>
            <a:ext cx="152400" cy="152400"/>
          </a:xfrm>
          <a:prstGeom prst="ellipse">
            <a:avLst/>
          </a:prstGeom>
          <a:solidFill>
            <a:srgbClr val="FDE7DD"/>
          </a:solidFill>
          <a:ln w="19050">
            <a:solidFill>
              <a:srgbClr val="EE5623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35" name="Legenda texto"/>
          <p:cNvSpPr/>
          <p:nvPr/>
        </p:nvSpPr>
        <p:spPr>
          <a:xfrm>
            <a:off x="9334500" y="17018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141414"/>
                </a:solidFill>
                <a:latin typeface="Arial"/>
                <a:cs typeface="Arial"/>
              </a:rPr>
              <a:t>Atuariado</a:t>
            </a:r>
          </a:p>
        </p:txBody>
      </p:sp>
      <p:sp>
        <p:nvSpPr>
          <p:cNvPr id="436" name="Legenda ponto"/>
          <p:cNvSpPr/>
          <p:nvPr/>
        </p:nvSpPr>
        <p:spPr>
          <a:xfrm>
            <a:off x="9055100" y="2082800"/>
            <a:ext cx="152400" cy="152400"/>
          </a:xfrm>
          <a:prstGeom prst="ellipse">
            <a:avLst/>
          </a:prstGeom>
          <a:solidFill>
            <a:srgbClr val="DDF3F5"/>
          </a:solidFill>
          <a:ln w="19050">
            <a:solidFill>
              <a:srgbClr val="2A9FAE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437" name="Legenda texto"/>
          <p:cNvSpPr/>
          <p:nvPr/>
        </p:nvSpPr>
        <p:spPr>
          <a:xfrm>
            <a:off x="9334500" y="2032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pt-PT" sz="1200" b="0" dirty="0">
                <a:solidFill>
                  <a:srgbClr val="141414"/>
                </a:solidFill>
                <a:latin typeface="Arial"/>
                <a:cs typeface="Arial"/>
              </a:rPr>
              <a:t>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506581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 que fazemos</a:t>
            </a:r>
            <a:br/>
            <a:r>
              <a:rPr sz="1400" b="0"/>
              <a:t>Business Analytics · Motor — Ageas Seguros, Seguro Direto e Ocidental</a:t>
            </a:r>
          </a:p>
        </p:txBody>
      </p:sp>
      <p:sp>
        <p:nvSpPr>
          <p:cNvPr id="32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égua 5"/>
          <p:cNvSpPr/>
          <p:nvPr/>
        </p:nvSpPr>
        <p:spPr>
          <a:xfrm>
            <a:off x="2724912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0" name="Painel"/>
          <p:cNvSpPr/>
          <p:nvPr/>
        </p:nvSpPr>
        <p:spPr>
          <a:xfrm>
            <a:off x="571500" y="1270000"/>
            <a:ext cx="11049000" cy="4724400"/>
          </a:xfrm>
          <a:prstGeom prst="roundRect">
            <a:avLst>
              <a:gd name="adj" fmla="val 8000"/>
            </a:avLst>
          </a:prstGeom>
          <a:solidFill>
            <a:srgbClr val="EFEF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1" name="Rótulo áreas"/>
          <p:cNvSpPr/>
          <p:nvPr/>
        </p:nvSpPr>
        <p:spPr>
          <a:xfrm>
            <a:off x="787400" y="2413000"/>
            <a:ext cx="139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O que analisamos</a:t>
            </a:r>
          </a:p>
        </p:txBody>
      </p:sp>
      <p:sp>
        <p:nvSpPr>
          <p:cNvPr id="902" name="Rótulo trabalho"/>
          <p:cNvSpPr/>
          <p:nvPr/>
        </p:nvSpPr>
        <p:spPr>
          <a:xfrm>
            <a:off x="787400" y="4724400"/>
            <a:ext cx="1397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Como chega o trabalho</a:t>
            </a:r>
          </a:p>
        </p:txBody>
      </p:sp>
      <p:sp>
        <p:nvSpPr>
          <p:cNvPr id="903" name="Área 1 cartão"/>
          <p:cNvSpPr/>
          <p:nvPr/>
        </p:nvSpPr>
        <p:spPr>
          <a:xfrm>
            <a:off x="2286000" y="1447800"/>
            <a:ext cx="2159000" cy="264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4" name="Área 1 círculo"/>
          <p:cNvSpPr/>
          <p:nvPr/>
        </p:nvSpPr>
        <p:spPr>
          <a:xfrm>
            <a:off x="3086100" y="1625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30773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5" name="Área 1 título"/>
          <p:cNvSpPr/>
          <p:nvPr/>
        </p:nvSpPr>
        <p:spPr>
          <a:xfrm>
            <a:off x="2387600" y="2286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D30773"/>
                </a:solidFill>
              </a:rPr>
              <a:t>Repricing</a:t>
            </a:r>
          </a:p>
        </p:txBody>
      </p:sp>
      <p:sp>
        <p:nvSpPr>
          <p:cNvPr id="906" name="Área 1 divisor"/>
          <p:cNvSpPr/>
          <p:nvPr/>
        </p:nvSpPr>
        <p:spPr>
          <a:xfrm>
            <a:off x="2540000" y="29210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7" name="Área 1 texto"/>
          <p:cNvSpPr/>
          <p:nvPr/>
        </p:nvSpPr>
        <p:spPr>
          <a:xfrm>
            <a:off x="2438400" y="3048000"/>
            <a:ext cx="185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Revisão de preços nas três marcas e o seu acompanhamento.</a:t>
            </a:r>
          </a:p>
        </p:txBody>
      </p:sp>
      <p:sp>
        <p:nvSpPr>
          <p:cNvPr id="908" name="Área 2 cartão"/>
          <p:cNvSpPr/>
          <p:nvPr/>
        </p:nvSpPr>
        <p:spPr>
          <a:xfrm>
            <a:off x="4572000" y="1447800"/>
            <a:ext cx="2159000" cy="264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09" name="Área 2 círculo"/>
          <p:cNvSpPr/>
          <p:nvPr/>
        </p:nvSpPr>
        <p:spPr>
          <a:xfrm>
            <a:off x="5372100" y="1625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E5623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0" name="Área 2 título"/>
          <p:cNvSpPr/>
          <p:nvPr/>
        </p:nvSpPr>
        <p:spPr>
          <a:xfrm>
            <a:off x="4673600" y="2286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EE5623"/>
                </a:solidFill>
              </a:rPr>
              <a:t>Rentabilidade de negócio</a:t>
            </a:r>
          </a:p>
        </p:txBody>
      </p:sp>
      <p:sp>
        <p:nvSpPr>
          <p:cNvPr id="911" name="Área 2 divisor"/>
          <p:cNvSpPr/>
          <p:nvPr/>
        </p:nvSpPr>
        <p:spPr>
          <a:xfrm>
            <a:off x="4826000" y="29210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2" name="Área 2 texto"/>
          <p:cNvSpPr/>
          <p:nvPr/>
        </p:nvSpPr>
        <p:spPr>
          <a:xfrm>
            <a:off x="4724400" y="3048000"/>
            <a:ext cx="185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Loss ratio, frequência, prémio e custo médio por carteira.</a:t>
            </a:r>
          </a:p>
        </p:txBody>
      </p:sp>
      <p:sp>
        <p:nvSpPr>
          <p:cNvPr id="913" name="Área 3 cartão"/>
          <p:cNvSpPr/>
          <p:nvPr/>
        </p:nvSpPr>
        <p:spPr>
          <a:xfrm>
            <a:off x="6858000" y="1447800"/>
            <a:ext cx="2159000" cy="264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4" name="Área 3 círculo"/>
          <p:cNvSpPr/>
          <p:nvPr/>
        </p:nvSpPr>
        <p:spPr>
          <a:xfrm>
            <a:off x="7658100" y="1625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9E86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5" name="Área 3 título"/>
          <p:cNvSpPr/>
          <p:nvPr/>
        </p:nvSpPr>
        <p:spPr>
          <a:xfrm>
            <a:off x="6959600" y="2286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2E9E86"/>
                </a:solidFill>
              </a:rPr>
              <a:t>Rentabilidade de produtos</a:t>
            </a:r>
          </a:p>
        </p:txBody>
      </p:sp>
      <p:sp>
        <p:nvSpPr>
          <p:cNvPr id="916" name="Área 3 divisor"/>
          <p:cNvSpPr/>
          <p:nvPr/>
        </p:nvSpPr>
        <p:spPr>
          <a:xfrm>
            <a:off x="7112000" y="29210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7" name="Área 3 texto"/>
          <p:cNvSpPr/>
          <p:nvPr/>
        </p:nvSpPr>
        <p:spPr>
          <a:xfrm>
            <a:off x="7010400" y="3048000"/>
            <a:ext cx="185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Que produtos e coberturas criam valor e quais o consomem.</a:t>
            </a:r>
          </a:p>
        </p:txBody>
      </p:sp>
      <p:sp>
        <p:nvSpPr>
          <p:cNvPr id="918" name="Área 4 cartão"/>
          <p:cNvSpPr/>
          <p:nvPr/>
        </p:nvSpPr>
        <p:spPr>
          <a:xfrm>
            <a:off x="9144000" y="1447800"/>
            <a:ext cx="2159000" cy="264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19" name="Área 4 círculo"/>
          <p:cNvSpPr/>
          <p:nvPr/>
        </p:nvSpPr>
        <p:spPr>
          <a:xfrm>
            <a:off x="9944100" y="1625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A9FAE"/>
            </a:solidFill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20" name="Área 4 título"/>
          <p:cNvSpPr/>
          <p:nvPr/>
        </p:nvSpPr>
        <p:spPr>
          <a:xfrm>
            <a:off x="9245600" y="2286000"/>
            <a:ext cx="1955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2A9FAE"/>
                </a:solidFill>
              </a:rPr>
              <a:t>Alertas à gestão</a:t>
            </a:r>
          </a:p>
        </p:txBody>
      </p:sp>
      <p:sp>
        <p:nvSpPr>
          <p:cNvPr id="921" name="Área 4 divisor"/>
          <p:cNvSpPr/>
          <p:nvPr/>
        </p:nvSpPr>
        <p:spPr>
          <a:xfrm>
            <a:off x="9398000" y="29210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22" name="Área 4 texto"/>
          <p:cNvSpPr/>
          <p:nvPr/>
        </p:nvSpPr>
        <p:spPr>
          <a:xfrm>
            <a:off x="9296400" y="3048000"/>
            <a:ext cx="1854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Acompanhar o negócio recorrente e avisar a gestão a tempo.</a:t>
            </a:r>
          </a:p>
        </p:txBody>
      </p:sp>
      <p:sp>
        <p:nvSpPr>
          <p:cNvPr id="923" name="Tipo 1 cartão"/>
          <p:cNvSpPr/>
          <p:nvPr/>
        </p:nvSpPr>
        <p:spPr>
          <a:xfrm>
            <a:off x="2286000" y="4267200"/>
            <a:ext cx="2159000" cy="154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24" name="Tipo 1"/>
          <p:cNvSpPr/>
          <p:nvPr/>
        </p:nvSpPr>
        <p:spPr>
          <a:xfrm>
            <a:off x="2387600" y="4445000"/>
            <a:ext cx="195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141414"/>
                </a:solidFill>
              </a:rPr>
              <a:t>Projetos</a:t>
            </a:r>
          </a:p>
        </p:txBody>
      </p:sp>
      <p:sp>
        <p:nvSpPr>
          <p:cNvPr id="925" name="Tipo 1 divisor"/>
          <p:cNvSpPr/>
          <p:nvPr/>
        </p:nvSpPr>
        <p:spPr>
          <a:xfrm>
            <a:off x="2540000" y="48514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26" name="Tipo 1 texto"/>
          <p:cNvSpPr/>
          <p:nvPr/>
        </p:nvSpPr>
        <p:spPr>
          <a:xfrm>
            <a:off x="2438400" y="49530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Iniciativas com âmbito, entregas e prazo definidos.</a:t>
            </a:r>
          </a:p>
        </p:txBody>
      </p:sp>
      <p:sp>
        <p:nvSpPr>
          <p:cNvPr id="927" name="Tipo 2 cartão"/>
          <p:cNvSpPr/>
          <p:nvPr/>
        </p:nvSpPr>
        <p:spPr>
          <a:xfrm>
            <a:off x="4572000" y="4267200"/>
            <a:ext cx="2159000" cy="154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28" name="Tipo 2"/>
          <p:cNvSpPr/>
          <p:nvPr/>
        </p:nvSpPr>
        <p:spPr>
          <a:xfrm>
            <a:off x="4673600" y="4445000"/>
            <a:ext cx="195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141414"/>
                </a:solidFill>
              </a:rPr>
              <a:t>Análises pontuais</a:t>
            </a:r>
          </a:p>
        </p:txBody>
      </p:sp>
      <p:sp>
        <p:nvSpPr>
          <p:cNvPr id="929" name="Tipo 2 divisor"/>
          <p:cNvSpPr/>
          <p:nvPr/>
        </p:nvSpPr>
        <p:spPr>
          <a:xfrm>
            <a:off x="4826000" y="48514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30" name="Tipo 2 texto"/>
          <p:cNvSpPr/>
          <p:nvPr/>
        </p:nvSpPr>
        <p:spPr>
          <a:xfrm>
            <a:off x="4724400" y="49530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Pedidos ad-hoc: uma pergunta concreta.</a:t>
            </a:r>
          </a:p>
        </p:txBody>
      </p:sp>
      <p:sp>
        <p:nvSpPr>
          <p:cNvPr id="931" name="Tipo 3 cartão"/>
          <p:cNvSpPr/>
          <p:nvPr/>
        </p:nvSpPr>
        <p:spPr>
          <a:xfrm>
            <a:off x="6858000" y="4267200"/>
            <a:ext cx="2159000" cy="1549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32" name="Tipo 3"/>
          <p:cNvSpPr/>
          <p:nvPr/>
        </p:nvSpPr>
        <p:spPr>
          <a:xfrm>
            <a:off x="6959600" y="4445000"/>
            <a:ext cx="195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141414"/>
                </a:solidFill>
              </a:rPr>
              <a:t>Tarefas regulares</a:t>
            </a:r>
          </a:p>
        </p:txBody>
      </p:sp>
      <p:sp>
        <p:nvSpPr>
          <p:cNvPr id="933" name="Tipo 3 divisor"/>
          <p:cNvSpPr/>
          <p:nvPr/>
        </p:nvSpPr>
        <p:spPr>
          <a:xfrm>
            <a:off x="7112000" y="4851400"/>
            <a:ext cx="165100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34" name="Tipo 3 texto"/>
          <p:cNvSpPr/>
          <p:nvPr/>
        </p:nvSpPr>
        <p:spPr>
          <a:xfrm>
            <a:off x="7010400" y="49530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141414"/>
                </a:solidFill>
              </a:rPr>
              <a:t>Atividades recorrentes, com periodicidade fixa.</a:t>
            </a:r>
          </a:p>
        </p:txBody>
      </p:sp>
      <p:sp>
        <p:nvSpPr>
          <p:cNvPr id="935" name="Fila única cartão"/>
          <p:cNvSpPr/>
          <p:nvPr/>
        </p:nvSpPr>
        <p:spPr>
          <a:xfrm>
            <a:off x="9144000" y="4267200"/>
            <a:ext cx="2159000" cy="1549400"/>
          </a:xfrm>
          <a:prstGeom prst="roundRect">
            <a:avLst>
              <a:gd name="adj" fmla="val 14000"/>
            </a:avLst>
          </a:prstGeom>
          <a:solidFill>
            <a:srgbClr val="141414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36" name="Fila única"/>
          <p:cNvSpPr/>
          <p:nvPr/>
        </p:nvSpPr>
        <p:spPr>
          <a:xfrm>
            <a:off x="9245600" y="4445000"/>
            <a:ext cx="195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t-PT" sz="1500" b="1" dirty="0">
                <a:solidFill>
                  <a:srgbClr val="FFFFFF"/>
                </a:solidFill>
              </a:rPr>
              <a:t>1 equipa, 1 fila</a:t>
            </a:r>
          </a:p>
        </p:txBody>
      </p:sp>
      <p:sp>
        <p:nvSpPr>
          <p:cNvPr id="937" name="Fila única divisor"/>
          <p:cNvSpPr/>
          <p:nvPr/>
        </p:nvSpPr>
        <p:spPr>
          <a:xfrm>
            <a:off x="9398000" y="4851400"/>
            <a:ext cx="1651000" cy="9525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pt-PT" sz="1000" dirty="0"/>
          </a:p>
        </p:txBody>
      </p:sp>
      <p:sp>
        <p:nvSpPr>
          <p:cNvPr id="938" name="Fila única texto"/>
          <p:cNvSpPr/>
          <p:nvPr/>
        </p:nvSpPr>
        <p:spPr>
          <a:xfrm>
            <a:off x="9296400" y="4953000"/>
            <a:ext cx="1854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pt-PT" sz="1300" b="0" dirty="0">
                <a:solidFill>
                  <a:srgbClr val="FFFFFF"/>
                </a:solidFill>
              </a:rPr>
              <a:t>Tudo entra num só backlog, com o mesmo critério de prioridade.</a:t>
            </a:r>
          </a:p>
        </p:txBody>
      </p:sp>
      <p:pic>
        <p:nvPicPr>
          <p:cNvPr id="323" name="Graphic 323" descr="Repric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0" y="1790700"/>
            <a:ext cx="431800" cy="431800"/>
          </a:xfrm>
          <a:prstGeom prst="rect">
            <a:avLst/>
          </a:prstGeom>
        </p:spPr>
      </p:pic>
      <p:pic>
        <p:nvPicPr>
          <p:cNvPr id="324" name="Graphic 324" descr="Rentabilidade de negóci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0" y="1790700"/>
            <a:ext cx="431800" cy="431800"/>
          </a:xfrm>
          <a:prstGeom prst="rect">
            <a:avLst/>
          </a:prstGeom>
        </p:spPr>
      </p:pic>
      <p:pic>
        <p:nvPicPr>
          <p:cNvPr id="325" name="Graphic 325" descr="Rentabilidade de produt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72400" y="1790700"/>
            <a:ext cx="431800" cy="431800"/>
          </a:xfrm>
          <a:prstGeom prst="rect">
            <a:avLst/>
          </a:prstGeom>
        </p:spPr>
      </p:pic>
      <p:pic>
        <p:nvPicPr>
          <p:cNvPr id="326" name="Graphic 326" descr="Alertas à gestã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0" y="17907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35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Agile: só as boas práticas que fazem sentido para nós</a:t>
            </a:r>
            <a:br/>
            <a:r>
              <a:rPr sz="1400" b="0"/>
              <a:t>O que muda para a gestão</a:t>
            </a:r>
          </a:p>
        </p:txBody>
      </p:sp>
      <p:pic>
        <p:nvPicPr>
          <p:cNvPr id="4" name="Picture 3" descr="rib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3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égua 6"/>
          <p:cNvSpPr/>
          <p:nvPr/>
        </p:nvSpPr>
        <p:spPr>
          <a:xfrm>
            <a:off x="3108960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0" name="Barra 01"/>
          <p:cNvSpPr/>
          <p:nvPr/>
        </p:nvSpPr>
        <p:spPr>
          <a:xfrm>
            <a:off x="571500" y="1320800"/>
            <a:ext cx="2603500" cy="50800"/>
          </a:xfrm>
          <a:prstGeom prst="rect">
            <a:avLst/>
          </a:prstGeom>
          <a:solidFill>
            <a:srgbClr val="D3077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01" name="Número 01"/>
          <p:cNvSpPr/>
          <p:nvPr/>
        </p:nvSpPr>
        <p:spPr>
          <a:xfrm>
            <a:off x="571500" y="1549400"/>
            <a:ext cx="2603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200" b="1" dirty="0">
                <a:solidFill>
                  <a:srgbClr val="D30773"/>
                </a:solidFill>
              </a:rPr>
              <a:t>01</a:t>
            </a:r>
          </a:p>
        </p:txBody>
      </p:sp>
      <p:sp>
        <p:nvSpPr>
          <p:cNvPr id="802" name="Ganho 01"/>
          <p:cNvSpPr/>
          <p:nvPr/>
        </p:nvSpPr>
        <p:spPr>
          <a:xfrm>
            <a:off x="571500" y="17780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2200" b="1" dirty="0">
                <a:solidFill>
                  <a:srgbClr val="141414"/>
                </a:solidFill>
              </a:rPr>
              <a:t>Visibilidade</a:t>
            </a:r>
          </a:p>
        </p:txBody>
      </p:sp>
      <p:sp>
        <p:nvSpPr>
          <p:cNvPr id="803" name="Antes rótulo 01"/>
          <p:cNvSpPr/>
          <p:nvPr/>
        </p:nvSpPr>
        <p:spPr>
          <a:xfrm>
            <a:off x="571500" y="241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636566"/>
                </a:solidFill>
              </a:rPr>
              <a:t>ANTES</a:t>
            </a:r>
          </a:p>
        </p:txBody>
      </p:sp>
      <p:sp>
        <p:nvSpPr>
          <p:cNvPr id="804" name="Antes 01"/>
          <p:cNvSpPr/>
          <p:nvPr/>
        </p:nvSpPr>
        <p:spPr>
          <a:xfrm>
            <a:off x="571500" y="264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0" dirty="0">
                <a:solidFill>
                  <a:srgbClr val="636566"/>
                </a:solidFill>
              </a:rPr>
              <a:t>Saber o estado de um pedido obrigava a perguntar a alguém.</a:t>
            </a:r>
          </a:p>
        </p:txBody>
      </p:sp>
      <p:sp>
        <p:nvSpPr>
          <p:cNvPr id="805" name="Divisória 01"/>
          <p:cNvSpPr/>
          <p:nvPr/>
        </p:nvSpPr>
        <p:spPr>
          <a:xfrm>
            <a:off x="571500" y="3530600"/>
            <a:ext cx="26035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06" name="Agora rótulo 01"/>
          <p:cNvSpPr/>
          <p:nvPr/>
        </p:nvSpPr>
        <p:spPr>
          <a:xfrm>
            <a:off x="571500" y="368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D30773"/>
                </a:solidFill>
              </a:rPr>
              <a:t>AGORA</a:t>
            </a:r>
          </a:p>
        </p:txBody>
      </p:sp>
      <p:sp>
        <p:nvSpPr>
          <p:cNvPr id="807" name="Agora 01"/>
          <p:cNvSpPr/>
          <p:nvPr/>
        </p:nvSpPr>
        <p:spPr>
          <a:xfrm>
            <a:off x="571500" y="391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Um quadro mostra o que está em curso, o que espera e porquê.</a:t>
            </a:r>
          </a:p>
        </p:txBody>
      </p:sp>
      <p:sp>
        <p:nvSpPr>
          <p:cNvPr id="808" name="Prática 01"/>
          <p:cNvSpPr/>
          <p:nvPr/>
        </p:nvSpPr>
        <p:spPr>
          <a:xfrm>
            <a:off x="571500" y="4749800"/>
            <a:ext cx="2603500" cy="330200"/>
          </a:xfrm>
          <a:prstGeom prst="roundRect">
            <a:avLst>
              <a:gd name="adj" fmla="val 50000"/>
            </a:avLst>
          </a:prstGeom>
          <a:solidFill>
            <a:srgbClr val="FBE1EE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pt-PT" sz="1200" b="1" dirty="0">
                <a:solidFill>
                  <a:srgbClr val="D30773"/>
                </a:solidFill>
              </a:rPr>
              <a:t>Quadro único</a:t>
            </a:r>
          </a:p>
        </p:txBody>
      </p:sp>
      <p:sp>
        <p:nvSpPr>
          <p:cNvPr id="809" name="Barra 02"/>
          <p:cNvSpPr/>
          <p:nvPr/>
        </p:nvSpPr>
        <p:spPr>
          <a:xfrm>
            <a:off x="3387090" y="1320800"/>
            <a:ext cx="2603500" cy="50800"/>
          </a:xfrm>
          <a:prstGeom prst="rect">
            <a:avLst/>
          </a:prstGeom>
          <a:solidFill>
            <a:srgbClr val="EE562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10" name="Número 02"/>
          <p:cNvSpPr/>
          <p:nvPr/>
        </p:nvSpPr>
        <p:spPr>
          <a:xfrm>
            <a:off x="3387090" y="1549400"/>
            <a:ext cx="2603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200" b="1" dirty="0">
                <a:solidFill>
                  <a:srgbClr val="EE5623"/>
                </a:solidFill>
              </a:rPr>
              <a:t>02</a:t>
            </a:r>
          </a:p>
        </p:txBody>
      </p:sp>
      <p:sp>
        <p:nvSpPr>
          <p:cNvPr id="811" name="Ganho 02"/>
          <p:cNvSpPr/>
          <p:nvPr/>
        </p:nvSpPr>
        <p:spPr>
          <a:xfrm>
            <a:off x="3387090" y="17780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2200" b="1" dirty="0">
                <a:solidFill>
                  <a:srgbClr val="141414"/>
                </a:solidFill>
              </a:rPr>
              <a:t>Previsibilidade</a:t>
            </a:r>
          </a:p>
        </p:txBody>
      </p:sp>
      <p:sp>
        <p:nvSpPr>
          <p:cNvPr id="812" name="Antes rótulo 02"/>
          <p:cNvSpPr/>
          <p:nvPr/>
        </p:nvSpPr>
        <p:spPr>
          <a:xfrm>
            <a:off x="3387090" y="241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636566"/>
                </a:solidFill>
              </a:rPr>
              <a:t>ANTES</a:t>
            </a:r>
          </a:p>
        </p:txBody>
      </p:sp>
      <p:sp>
        <p:nvSpPr>
          <p:cNvPr id="813" name="Antes 02"/>
          <p:cNvSpPr/>
          <p:nvPr/>
        </p:nvSpPr>
        <p:spPr>
          <a:xfrm>
            <a:off x="3387090" y="264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0" dirty="0">
                <a:solidFill>
                  <a:srgbClr val="636566"/>
                </a:solidFill>
              </a:rPr>
              <a:t>As prioridades mudavam a meio, sem critério escrito.</a:t>
            </a:r>
          </a:p>
        </p:txBody>
      </p:sp>
      <p:sp>
        <p:nvSpPr>
          <p:cNvPr id="814" name="Divisória 02"/>
          <p:cNvSpPr/>
          <p:nvPr/>
        </p:nvSpPr>
        <p:spPr>
          <a:xfrm>
            <a:off x="3387090" y="3530600"/>
            <a:ext cx="26035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15" name="Agora rótulo 02"/>
          <p:cNvSpPr/>
          <p:nvPr/>
        </p:nvSpPr>
        <p:spPr>
          <a:xfrm>
            <a:off x="3387090" y="368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EE5623"/>
                </a:solidFill>
              </a:rPr>
              <a:t>AGORA</a:t>
            </a:r>
          </a:p>
        </p:txBody>
      </p:sp>
      <p:sp>
        <p:nvSpPr>
          <p:cNvPr id="816" name="Agora 02"/>
          <p:cNvSpPr/>
          <p:nvPr/>
        </p:nvSpPr>
        <p:spPr>
          <a:xfrm>
            <a:off x="3387090" y="391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Compromissos semanais, com prioridades revistas uma vez por semana.</a:t>
            </a:r>
          </a:p>
        </p:txBody>
      </p:sp>
      <p:sp>
        <p:nvSpPr>
          <p:cNvPr id="817" name="Prática 02"/>
          <p:cNvSpPr/>
          <p:nvPr/>
        </p:nvSpPr>
        <p:spPr>
          <a:xfrm>
            <a:off x="3387090" y="4749800"/>
            <a:ext cx="2603500" cy="330200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pt-PT" sz="1200" b="1" dirty="0">
                <a:solidFill>
                  <a:srgbClr val="EE5623"/>
                </a:solidFill>
              </a:rPr>
              <a:t>Ciclo semanal</a:t>
            </a:r>
          </a:p>
        </p:txBody>
      </p:sp>
      <p:sp>
        <p:nvSpPr>
          <p:cNvPr id="818" name="Barra 03"/>
          <p:cNvSpPr/>
          <p:nvPr/>
        </p:nvSpPr>
        <p:spPr>
          <a:xfrm>
            <a:off x="6202680" y="1320800"/>
            <a:ext cx="2603500" cy="50800"/>
          </a:xfrm>
          <a:prstGeom prst="rect">
            <a:avLst/>
          </a:prstGeom>
          <a:solidFill>
            <a:srgbClr val="2E9E8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19" name="Número 03"/>
          <p:cNvSpPr/>
          <p:nvPr/>
        </p:nvSpPr>
        <p:spPr>
          <a:xfrm>
            <a:off x="6202680" y="1549400"/>
            <a:ext cx="2603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200" b="1" dirty="0">
                <a:solidFill>
                  <a:srgbClr val="2E9E86"/>
                </a:solidFill>
              </a:rPr>
              <a:t>03</a:t>
            </a:r>
          </a:p>
        </p:txBody>
      </p:sp>
      <p:sp>
        <p:nvSpPr>
          <p:cNvPr id="820" name="Ganho 03"/>
          <p:cNvSpPr/>
          <p:nvPr/>
        </p:nvSpPr>
        <p:spPr>
          <a:xfrm>
            <a:off x="6202680" y="17780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2200" b="1" dirty="0">
                <a:solidFill>
                  <a:srgbClr val="141414"/>
                </a:solidFill>
              </a:rPr>
              <a:t>Prazos realistas</a:t>
            </a:r>
          </a:p>
        </p:txBody>
      </p:sp>
      <p:sp>
        <p:nvSpPr>
          <p:cNvPr id="821" name="Antes rótulo 03"/>
          <p:cNvSpPr/>
          <p:nvPr/>
        </p:nvSpPr>
        <p:spPr>
          <a:xfrm>
            <a:off x="6202680" y="241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636566"/>
                </a:solidFill>
              </a:rPr>
              <a:t>ANTES</a:t>
            </a:r>
          </a:p>
        </p:txBody>
      </p:sp>
      <p:sp>
        <p:nvSpPr>
          <p:cNvPr id="822" name="Antes 03"/>
          <p:cNvSpPr/>
          <p:nvPr/>
        </p:nvSpPr>
        <p:spPr>
          <a:xfrm>
            <a:off x="6202680" y="264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0" dirty="0">
                <a:solidFill>
                  <a:srgbClr val="636566"/>
                </a:solidFill>
              </a:rPr>
              <a:t>As datas eram prometidas sem olhar à capacidade.</a:t>
            </a:r>
          </a:p>
        </p:txBody>
      </p:sp>
      <p:sp>
        <p:nvSpPr>
          <p:cNvPr id="823" name="Divisória 03"/>
          <p:cNvSpPr/>
          <p:nvPr/>
        </p:nvSpPr>
        <p:spPr>
          <a:xfrm>
            <a:off x="6202680" y="3530600"/>
            <a:ext cx="26035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24" name="Agora rótulo 03"/>
          <p:cNvSpPr/>
          <p:nvPr/>
        </p:nvSpPr>
        <p:spPr>
          <a:xfrm>
            <a:off x="6202680" y="368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2E9E86"/>
                </a:solidFill>
              </a:rPr>
              <a:t>AGORA</a:t>
            </a:r>
          </a:p>
        </p:txBody>
      </p:sp>
      <p:sp>
        <p:nvSpPr>
          <p:cNvPr id="825" name="Agora 03"/>
          <p:cNvSpPr/>
          <p:nvPr/>
        </p:nvSpPr>
        <p:spPr>
          <a:xfrm>
            <a:off x="6202680" y="391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Quem faz o trabalho propõe e assume a data.</a:t>
            </a:r>
          </a:p>
        </p:txBody>
      </p:sp>
      <p:sp>
        <p:nvSpPr>
          <p:cNvPr id="826" name="Prática 03"/>
          <p:cNvSpPr/>
          <p:nvPr/>
        </p:nvSpPr>
        <p:spPr>
          <a:xfrm>
            <a:off x="6202680" y="4749800"/>
            <a:ext cx="2603500" cy="330200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pt-PT" sz="1200" b="1" dirty="0">
                <a:solidFill>
                  <a:srgbClr val="2E9E86"/>
                </a:solidFill>
              </a:rPr>
              <a:t>Planeamento pela equipa</a:t>
            </a:r>
          </a:p>
        </p:txBody>
      </p:sp>
      <p:sp>
        <p:nvSpPr>
          <p:cNvPr id="827" name="Barra 04"/>
          <p:cNvSpPr/>
          <p:nvPr/>
        </p:nvSpPr>
        <p:spPr>
          <a:xfrm>
            <a:off x="9018270" y="1320800"/>
            <a:ext cx="2603500" cy="50800"/>
          </a:xfrm>
          <a:prstGeom prst="rect">
            <a:avLst/>
          </a:prstGeom>
          <a:solidFill>
            <a:srgbClr val="2A9FAE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28" name="Número 04"/>
          <p:cNvSpPr/>
          <p:nvPr/>
        </p:nvSpPr>
        <p:spPr>
          <a:xfrm>
            <a:off x="9018270" y="1549400"/>
            <a:ext cx="2603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200" b="1" dirty="0">
                <a:solidFill>
                  <a:srgbClr val="2A9FAE"/>
                </a:solidFill>
              </a:rPr>
              <a:t>04</a:t>
            </a:r>
          </a:p>
        </p:txBody>
      </p:sp>
      <p:sp>
        <p:nvSpPr>
          <p:cNvPr id="829" name="Ganho 04"/>
          <p:cNvSpPr/>
          <p:nvPr/>
        </p:nvSpPr>
        <p:spPr>
          <a:xfrm>
            <a:off x="9018270" y="17780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2200" b="1" dirty="0">
                <a:solidFill>
                  <a:srgbClr val="141414"/>
                </a:solidFill>
              </a:rPr>
              <a:t>Melhoria contínua</a:t>
            </a:r>
          </a:p>
        </p:txBody>
      </p:sp>
      <p:sp>
        <p:nvSpPr>
          <p:cNvPr id="830" name="Antes rótulo 04"/>
          <p:cNvSpPr/>
          <p:nvPr/>
        </p:nvSpPr>
        <p:spPr>
          <a:xfrm>
            <a:off x="9018270" y="241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636566"/>
                </a:solidFill>
              </a:rPr>
              <a:t>ANTES</a:t>
            </a:r>
          </a:p>
        </p:txBody>
      </p:sp>
      <p:sp>
        <p:nvSpPr>
          <p:cNvPr id="831" name="Antes 04"/>
          <p:cNvSpPr/>
          <p:nvPr/>
        </p:nvSpPr>
        <p:spPr>
          <a:xfrm>
            <a:off x="9018270" y="264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0" dirty="0">
                <a:solidFill>
                  <a:srgbClr val="636566"/>
                </a:solidFill>
              </a:rPr>
              <a:t>Os mesmos problemas voltavam a cada semana.</a:t>
            </a:r>
          </a:p>
        </p:txBody>
      </p:sp>
      <p:sp>
        <p:nvSpPr>
          <p:cNvPr id="832" name="Divisória 04"/>
          <p:cNvSpPr/>
          <p:nvPr/>
        </p:nvSpPr>
        <p:spPr>
          <a:xfrm>
            <a:off x="9018270" y="3530600"/>
            <a:ext cx="26035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833" name="Agora rótulo 04"/>
          <p:cNvSpPr/>
          <p:nvPr/>
        </p:nvSpPr>
        <p:spPr>
          <a:xfrm>
            <a:off x="9018270" y="3683000"/>
            <a:ext cx="260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950" b="1" spc="100" dirty="0">
                <a:solidFill>
                  <a:srgbClr val="2A9FAE"/>
                </a:solidFill>
              </a:rPr>
              <a:t>AGORA</a:t>
            </a:r>
          </a:p>
        </p:txBody>
      </p:sp>
      <p:sp>
        <p:nvSpPr>
          <p:cNvPr id="834" name="Agora 04"/>
          <p:cNvSpPr/>
          <p:nvPr/>
        </p:nvSpPr>
        <p:spPr>
          <a:xfrm>
            <a:off x="9018270" y="3911600"/>
            <a:ext cx="2603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PT" sz="1400" b="1" dirty="0">
                <a:solidFill>
                  <a:srgbClr val="141414"/>
                </a:solidFill>
              </a:rPr>
              <a:t>Em cada ciclo, uma mudança concreta na forma de trabalhar.</a:t>
            </a:r>
          </a:p>
        </p:txBody>
      </p:sp>
      <p:sp>
        <p:nvSpPr>
          <p:cNvPr id="835" name="Prática 04"/>
          <p:cNvSpPr/>
          <p:nvPr/>
        </p:nvSpPr>
        <p:spPr>
          <a:xfrm>
            <a:off x="9018270" y="4749800"/>
            <a:ext cx="2603500" cy="3302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pt-PT" sz="1200" b="1" dirty="0">
                <a:solidFill>
                  <a:srgbClr val="2A9FAE"/>
                </a:solidFill>
              </a:rPr>
              <a:t>Retrospetiva com ação</a:t>
            </a:r>
          </a:p>
        </p:txBody>
      </p:sp>
      <p:sp>
        <p:nvSpPr>
          <p:cNvPr id="836" name="Mensagem"/>
          <p:cNvSpPr/>
          <p:nvPr/>
        </p:nvSpPr>
        <p:spPr>
          <a:xfrm>
            <a:off x="571500" y="5461000"/>
            <a:ext cx="11049000" cy="635000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</p:spPr>
        <p:txBody>
          <a:bodyPr wrap="square" lIns="304800" tIns="0" rIns="304800" bIns="0" anchor="ctr">
            <a:noAutofit/>
          </a:bodyPr>
          <a:lstStyle/>
          <a:p>
            <a:pPr algn="l"/>
            <a:r>
              <a:rPr lang="pt-PT" sz="1400" b="1" dirty="0">
                <a:solidFill>
                  <a:srgbClr val="FFFFFF"/>
                </a:solidFill>
              </a:rPr>
              <a:t>Não adotámos o Agile completo, só as práticas com retorno para a gestão. </a:t>
            </a:r>
            <a:r>
              <a:rPr lang="pt-PT" sz="1400" b="0" dirty="0">
                <a:solidFill>
                  <a:srgbClr val="FFFFFF"/>
                </a:solidFill>
              </a:rPr>
              <a:t>Ficam de fora a reunião diária, os registos pesados e as estimativas para avaliar pessoas.</a:t>
            </a:r>
          </a:p>
        </p:txBody>
      </p:sp>
    </p:spTree>
    <p:extLst>
      <p:ext uri="{BB962C8B-B14F-4D97-AF65-F5344CB8AC3E}">
        <p14:creationId xmlns:p14="http://schemas.microsoft.com/office/powerpoint/2010/main" val="1256611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 novo modelo: uma hora por semana e poucas regras</a:t>
            </a:r>
            <a:br/>
            <a:r>
              <a:rPr sz="1400" b="0"/>
              <a:t>A reunião semanal é o único ritual fixo — não há ponto diário</a:t>
            </a:r>
          </a:p>
        </p:txBody>
      </p:sp>
      <p:pic>
        <p:nvPicPr>
          <p:cNvPr id="4" name="Picture 3" descr="rib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" y="1691640"/>
            <a:ext cx="1805940" cy="502920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18059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31720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Fecho da semana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834640"/>
            <a:ext cx="16139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36566"/>
                </a:solidFill>
                <a:latin typeface="Arial"/>
              </a:rPr>
              <a:t>O que entregámos e o que ficou, e porquê.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9444" y="1691640"/>
            <a:ext cx="2727198" cy="502920"/>
          </a:xfrm>
          <a:prstGeom prst="rect">
            <a:avLst/>
          </a:prstGeom>
          <a:solidFill>
            <a:srgbClr val="EE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09444" y="1691640"/>
            <a:ext cx="272719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9444" y="2331720"/>
            <a:ext cx="258089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Retrospetiva curta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9444" y="2834640"/>
            <a:ext cx="253517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36566"/>
                </a:solidFill>
                <a:latin typeface="Arial"/>
              </a:rPr>
              <a:t>O que correu bem, o que atrapalhou. Uma ação só.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73218" y="1691640"/>
            <a:ext cx="4569714" cy="502920"/>
          </a:xfrm>
          <a:prstGeom prst="rect">
            <a:avLst/>
          </a:prstGeom>
          <a:solidFill>
            <a:srgbClr val="56C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73218" y="1691640"/>
            <a:ext cx="4569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25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3218" y="2331720"/>
            <a:ext cx="442340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Cada um propõe a sua semana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3218" y="2834640"/>
            <a:ext cx="437769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36566"/>
                </a:solidFill>
                <a:latin typeface="Arial"/>
              </a:rPr>
              <a:t>Quem propõe é quem executa; ajusta-se por capacidade.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79508" y="1691640"/>
            <a:ext cx="1805940" cy="502920"/>
          </a:xfrm>
          <a:prstGeom prst="rect">
            <a:avLst/>
          </a:prstGeom>
          <a:solidFill>
            <a:srgbClr val="58C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79508" y="1691640"/>
            <a:ext cx="18059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Arial"/>
              </a:rPr>
              <a:t>10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9508" y="2331720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Riscos e ajuda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9508" y="2834640"/>
            <a:ext cx="16139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36566"/>
                </a:solidFill>
                <a:latin typeface="Arial"/>
              </a:rPr>
              <a:t>O que não cabe espera. Quem precisa de ajuda.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749039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spc="100">
                <a:solidFill>
                  <a:srgbClr val="636566"/>
                </a:solidFill>
                <a:latin typeface="Arial"/>
              </a:rPr>
              <a:t>REGRAS DO JOGO — POUCAS, PARA COMEÇAR JÁ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114800"/>
            <a:ext cx="2606040" cy="16916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4114800"/>
            <a:ext cx="64008" cy="1691640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7" y="4206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D30773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502920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itens em curso por pessoa, no máximo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4114800"/>
            <a:ext cx="2606040" cy="16916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383280" y="4114800"/>
            <a:ext cx="64008" cy="1691640"/>
          </a:xfrm>
          <a:prstGeom prst="rect">
            <a:avLst/>
          </a:prstGeom>
          <a:solidFill>
            <a:srgbClr val="EE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0" y="4206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EE5623"/>
                </a:solidFill>
                <a:latin typeface="Arial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02920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da capacidade reservada a imprevistos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4114800"/>
            <a:ext cx="2606040" cy="16916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99632" y="4114800"/>
            <a:ext cx="64008" cy="1691640"/>
          </a:xfrm>
          <a:prstGeom prst="rect">
            <a:avLst/>
          </a:prstGeom>
          <a:solidFill>
            <a:srgbClr val="56C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73952" y="4206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2E9E86"/>
                </a:solidFill>
                <a:latin typeface="Arial"/>
              </a:rPr>
              <a:t>1↔1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02920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o que entra a meio empurra algo — diz-se em voz alta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15984" y="4114800"/>
            <a:ext cx="2606040" cy="169164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15984" y="4114800"/>
            <a:ext cx="64008" cy="1691640"/>
          </a:xfrm>
          <a:prstGeom prst="rect">
            <a:avLst/>
          </a:prstGeom>
          <a:solidFill>
            <a:srgbClr val="58C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0304" y="4206240"/>
            <a:ext cx="22402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2A9FAE"/>
                </a:solidFill>
                <a:latin typeface="Arial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502920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141414"/>
                </a:solidFill>
                <a:latin typeface="Arial"/>
              </a:rPr>
              <a:t>nada entra sem data-alvo: sem data, sem prioridade</a:t>
            </a:r>
          </a:p>
        </p:txBody>
      </p:sp>
      <p:sp>
        <p:nvSpPr>
          <p:cNvPr id="38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égua 7"/>
          <p:cNvSpPr/>
          <p:nvPr/>
        </p:nvSpPr>
        <p:spPr>
          <a:xfrm>
            <a:off x="3493008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E a ferramenta responde às quatro perguntas</a:t>
            </a:r>
            <a:br/>
            <a:r>
              <a:rPr sz="1400" b="0"/>
              <a:t>Team Flow Suite — gestão de trabalho ao estilo Jira, mas simples e feita à medida de uma equipa de analytics</a:t>
            </a:r>
          </a:p>
        </p:txBody>
      </p:sp>
      <p:sp>
        <p:nvSpPr>
          <p:cNvPr id="30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égua 8"/>
          <p:cNvSpPr/>
          <p:nvPr/>
        </p:nvSpPr>
        <p:spPr>
          <a:xfrm>
            <a:off x="3877056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égua 9"/>
          <p:cNvSpPr/>
          <p:nvPr/>
        </p:nvSpPr>
        <p:spPr>
          <a:xfrm>
            <a:off x="426110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0" name="Cartão 1"/>
          <p:cNvSpPr/>
          <p:nvPr/>
        </p:nvSpPr>
        <p:spPr>
          <a:xfrm>
            <a:off x="571500" y="1422400"/>
            <a:ext cx="2603500" cy="312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701" name="Número 1"/>
          <p:cNvSpPr/>
          <p:nvPr/>
        </p:nvSpPr>
        <p:spPr>
          <a:xfrm>
            <a:off x="774700" y="1625600"/>
            <a:ext cx="457200" cy="457200"/>
          </a:xfrm>
          <a:prstGeom prst="ellipse">
            <a:avLst/>
          </a:prstGeom>
          <a:noFill/>
          <a:ln w="25400">
            <a:solidFill>
              <a:srgbClr val="D3077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D30773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702" name="Pergunta 1"/>
          <p:cNvSpPr/>
          <p:nvPr/>
        </p:nvSpPr>
        <p:spPr>
          <a:xfrm>
            <a:off x="1358900" y="1701800"/>
            <a:ext cx="1612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200" b="1" dirty="0">
                <a:solidFill>
                  <a:srgbClr val="636566"/>
                </a:solidFill>
                <a:latin typeface="Arial"/>
                <a:cs typeface="Arial"/>
              </a:rPr>
              <a:t>O que é para entregar?</a:t>
            </a:r>
          </a:p>
        </p:txBody>
      </p:sp>
      <p:sp>
        <p:nvSpPr>
          <p:cNvPr id="703" name="Resposta 1"/>
          <p:cNvSpPr/>
          <p:nvPr/>
        </p:nvSpPr>
        <p:spPr>
          <a:xfrm>
            <a:off x="774700" y="2286000"/>
            <a:ext cx="2197100" cy="406400"/>
          </a:xfrm>
          <a:prstGeom prst="roundRect">
            <a:avLst>
              <a:gd name="adj" fmla="val 50000"/>
            </a:avLst>
          </a:prstGeom>
          <a:solidFill>
            <a:srgbClr val="FBE1EE"/>
          </a:solidFill>
          <a:ln>
            <a:noFill/>
          </a:ln>
        </p:spPr>
        <p:txBody>
          <a:bodyPr wrap="square" lIns="177800" tIns="0" rIns="0" bIns="0" anchor="ctr">
            <a:noAutofit/>
          </a:bodyPr>
          <a:lstStyle/>
          <a:p>
            <a:pPr algn="l">
              <a:buNone/>
            </a:pPr>
            <a:r>
              <a:rPr lang="pt-PT" sz="1700" b="1" dirty="0">
                <a:solidFill>
                  <a:srgbClr val="141414"/>
                </a:solidFill>
                <a:latin typeface="Arial"/>
                <a:cs typeface="Arial"/>
              </a:rPr>
              <a:t>Backlog único</a:t>
            </a:r>
          </a:p>
        </p:txBody>
      </p:sp>
      <p:sp>
        <p:nvSpPr>
          <p:cNvPr id="704" name="Descrição 1"/>
          <p:cNvSpPr/>
          <p:nvPr/>
        </p:nvSpPr>
        <p:spPr>
          <a:xfrm>
            <a:off x="774700" y="2895600"/>
            <a:ext cx="21971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t-PT" sz="1350" b="0" dirty="0">
                <a:solidFill>
                  <a:srgbClr val="141414"/>
                </a:solidFill>
                <a:latin typeface="Arial"/>
                <a:cs typeface="Arial"/>
              </a:rPr>
              <a:t>Projetos, análises pontuais e tarefas regulares numa lista só, cada item com responsável, solicitante e data-alvo.</a:t>
            </a:r>
          </a:p>
        </p:txBody>
      </p:sp>
      <p:sp>
        <p:nvSpPr>
          <p:cNvPr id="705" name="Cartão 2"/>
          <p:cNvSpPr/>
          <p:nvPr/>
        </p:nvSpPr>
        <p:spPr>
          <a:xfrm>
            <a:off x="3378200" y="1422400"/>
            <a:ext cx="2603500" cy="312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706" name="Número 2"/>
          <p:cNvSpPr/>
          <p:nvPr/>
        </p:nvSpPr>
        <p:spPr>
          <a:xfrm>
            <a:off x="3581400" y="1625600"/>
            <a:ext cx="457200" cy="457200"/>
          </a:xfrm>
          <a:prstGeom prst="ellipse">
            <a:avLst/>
          </a:prstGeom>
          <a:noFill/>
          <a:ln w="25400">
            <a:solidFill>
              <a:srgbClr val="EE5623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EE562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707" name="Pergunta 2"/>
          <p:cNvSpPr/>
          <p:nvPr/>
        </p:nvSpPr>
        <p:spPr>
          <a:xfrm>
            <a:off x="4165600" y="1701800"/>
            <a:ext cx="1612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200" b="1" dirty="0">
                <a:solidFill>
                  <a:srgbClr val="636566"/>
                </a:solidFill>
                <a:latin typeface="Arial"/>
                <a:cs typeface="Arial"/>
              </a:rPr>
              <a:t>O que é mais importante?</a:t>
            </a:r>
          </a:p>
        </p:txBody>
      </p:sp>
      <p:sp>
        <p:nvSpPr>
          <p:cNvPr id="708" name="Resposta 2"/>
          <p:cNvSpPr/>
          <p:nvPr/>
        </p:nvSpPr>
        <p:spPr>
          <a:xfrm>
            <a:off x="3581400" y="2286000"/>
            <a:ext cx="2197100" cy="406400"/>
          </a:xfrm>
          <a:prstGeom prst="roundRect">
            <a:avLst>
              <a:gd name="adj" fmla="val 50000"/>
            </a:avLst>
          </a:prstGeom>
          <a:solidFill>
            <a:srgbClr val="FDE7DD"/>
          </a:solidFill>
          <a:ln>
            <a:noFill/>
          </a:ln>
        </p:spPr>
        <p:txBody>
          <a:bodyPr wrap="square" lIns="177800" tIns="0" rIns="0" bIns="0" anchor="ctr">
            <a:noAutofit/>
          </a:bodyPr>
          <a:lstStyle/>
          <a:p>
            <a:pPr algn="l">
              <a:buNone/>
            </a:pPr>
            <a:r>
              <a:rPr lang="pt-PT" sz="1700" b="1" dirty="0">
                <a:solidFill>
                  <a:srgbClr val="141414"/>
                </a:solidFill>
                <a:latin typeface="Arial"/>
                <a:cs typeface="Arial"/>
              </a:rPr>
              <a:t>Priority Index</a:t>
            </a:r>
          </a:p>
        </p:txBody>
      </p:sp>
      <p:sp>
        <p:nvSpPr>
          <p:cNvPr id="709" name="Descrição 2"/>
          <p:cNvSpPr/>
          <p:nvPr/>
        </p:nvSpPr>
        <p:spPr>
          <a:xfrm>
            <a:off x="3581400" y="2895600"/>
            <a:ext cx="21971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t-PT" sz="1350" b="0" dirty="0">
                <a:solidFill>
                  <a:srgbClr val="141414"/>
                </a:solidFill>
                <a:latin typeface="Arial"/>
                <a:cs typeface="Arial"/>
              </a:rPr>
              <a:t>Impacto (negócio, origem, pessoas, risco de não entregar) × urgência (data-alvo, bloqueios, aging). Calculado todos os dias.</a:t>
            </a:r>
          </a:p>
        </p:txBody>
      </p:sp>
      <p:sp>
        <p:nvSpPr>
          <p:cNvPr id="710" name="Cartão 3"/>
          <p:cNvSpPr/>
          <p:nvPr/>
        </p:nvSpPr>
        <p:spPr>
          <a:xfrm>
            <a:off x="6197600" y="1422400"/>
            <a:ext cx="2603500" cy="312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711" name="Número 3"/>
          <p:cNvSpPr/>
          <p:nvPr/>
        </p:nvSpPr>
        <p:spPr>
          <a:xfrm>
            <a:off x="6400800" y="1625600"/>
            <a:ext cx="457200" cy="457200"/>
          </a:xfrm>
          <a:prstGeom prst="ellipse">
            <a:avLst/>
          </a:prstGeom>
          <a:noFill/>
          <a:ln w="25400">
            <a:solidFill>
              <a:srgbClr val="2E9E86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2E9E86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712" name="Pergunta 3"/>
          <p:cNvSpPr/>
          <p:nvPr/>
        </p:nvSpPr>
        <p:spPr>
          <a:xfrm>
            <a:off x="6985000" y="1701800"/>
            <a:ext cx="1612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200" b="1" dirty="0">
                <a:solidFill>
                  <a:srgbClr val="636566"/>
                </a:solidFill>
                <a:latin typeface="Arial"/>
                <a:cs typeface="Arial"/>
              </a:rPr>
              <a:t>Quanto tempo demora?</a:t>
            </a:r>
          </a:p>
        </p:txBody>
      </p:sp>
      <p:sp>
        <p:nvSpPr>
          <p:cNvPr id="713" name="Resposta 3"/>
          <p:cNvSpPr/>
          <p:nvPr/>
        </p:nvSpPr>
        <p:spPr>
          <a:xfrm>
            <a:off x="6400800" y="2286000"/>
            <a:ext cx="2197100" cy="406400"/>
          </a:xfrm>
          <a:prstGeom prst="roundRect">
            <a:avLst>
              <a:gd name="adj" fmla="val 50000"/>
            </a:avLst>
          </a:prstGeom>
          <a:solidFill>
            <a:srgbClr val="DDF1EC"/>
          </a:solidFill>
          <a:ln>
            <a:noFill/>
          </a:ln>
        </p:spPr>
        <p:txBody>
          <a:bodyPr wrap="square" lIns="177800" tIns="0" rIns="0" bIns="0" anchor="ctr">
            <a:noAutofit/>
          </a:bodyPr>
          <a:lstStyle/>
          <a:p>
            <a:pPr algn="l">
              <a:buNone/>
            </a:pPr>
            <a:r>
              <a:rPr lang="pt-PT" sz="1700" b="1" dirty="0">
                <a:solidFill>
                  <a:srgbClr val="141414"/>
                </a:solidFill>
                <a:latin typeface="Arial"/>
                <a:cs typeface="Arial"/>
              </a:rPr>
              <a:t>Horas e ciclo</a:t>
            </a:r>
          </a:p>
        </p:txBody>
      </p:sp>
      <p:sp>
        <p:nvSpPr>
          <p:cNvPr id="714" name="Descrição 3"/>
          <p:cNvSpPr/>
          <p:nvPr/>
        </p:nvSpPr>
        <p:spPr>
          <a:xfrm>
            <a:off x="6400800" y="2895600"/>
            <a:ext cx="21971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t-PT" sz="1350" b="0" dirty="0">
                <a:solidFill>
                  <a:srgbClr val="141414"/>
                </a:solidFill>
                <a:latin typeface="Arial"/>
                <a:cs typeface="Arial"/>
              </a:rPr>
              <a:t>Horas registadas por item, cycle time e SLA. As recorrentes usam o esforço real das vezes anteriores.</a:t>
            </a:r>
          </a:p>
        </p:txBody>
      </p:sp>
      <p:sp>
        <p:nvSpPr>
          <p:cNvPr id="715" name="Cartão 4"/>
          <p:cNvSpPr/>
          <p:nvPr/>
        </p:nvSpPr>
        <p:spPr>
          <a:xfrm>
            <a:off x="9017000" y="1422400"/>
            <a:ext cx="2603500" cy="3124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pt-PT" sz="1000" dirty="0"/>
          </a:p>
        </p:txBody>
      </p:sp>
      <p:sp>
        <p:nvSpPr>
          <p:cNvPr id="716" name="Número 4"/>
          <p:cNvSpPr/>
          <p:nvPr/>
        </p:nvSpPr>
        <p:spPr>
          <a:xfrm>
            <a:off x="9220200" y="1625600"/>
            <a:ext cx="457200" cy="457200"/>
          </a:xfrm>
          <a:prstGeom prst="ellipse">
            <a:avLst/>
          </a:prstGeom>
          <a:noFill/>
          <a:ln w="25400">
            <a:solidFill>
              <a:srgbClr val="2A9FAE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pt-PT" sz="1200" b="1" dirty="0">
                <a:solidFill>
                  <a:srgbClr val="2A9FAE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717" name="Pergunta 4"/>
          <p:cNvSpPr/>
          <p:nvPr/>
        </p:nvSpPr>
        <p:spPr>
          <a:xfrm>
            <a:off x="9804400" y="1701800"/>
            <a:ext cx="1612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PT" sz="1200" b="1" dirty="0">
                <a:solidFill>
                  <a:srgbClr val="636566"/>
                </a:solidFill>
                <a:latin typeface="Arial"/>
                <a:cs typeface="Arial"/>
              </a:rPr>
              <a:t>Quem faz o quê?</a:t>
            </a:r>
          </a:p>
        </p:txBody>
      </p:sp>
      <p:sp>
        <p:nvSpPr>
          <p:cNvPr id="718" name="Resposta 4"/>
          <p:cNvSpPr/>
          <p:nvPr/>
        </p:nvSpPr>
        <p:spPr>
          <a:xfrm>
            <a:off x="9220200" y="2286000"/>
            <a:ext cx="2197100" cy="406400"/>
          </a:xfrm>
          <a:prstGeom prst="roundRect">
            <a:avLst>
              <a:gd name="adj" fmla="val 50000"/>
            </a:avLst>
          </a:prstGeom>
          <a:solidFill>
            <a:srgbClr val="DDF3F5"/>
          </a:solidFill>
          <a:ln>
            <a:noFill/>
          </a:ln>
        </p:spPr>
        <p:txBody>
          <a:bodyPr wrap="square" lIns="177800" tIns="0" rIns="0" bIns="0" anchor="ctr">
            <a:noAutofit/>
          </a:bodyPr>
          <a:lstStyle/>
          <a:p>
            <a:pPr algn="l">
              <a:buNone/>
            </a:pPr>
            <a:r>
              <a:rPr lang="pt-PT" sz="1700" b="1" dirty="0">
                <a:solidFill>
                  <a:srgbClr val="141414"/>
                </a:solidFill>
                <a:latin typeface="Arial"/>
                <a:cs typeface="Arial"/>
              </a:rPr>
              <a:t>Planeamento</a:t>
            </a:r>
          </a:p>
        </p:txBody>
      </p:sp>
      <p:sp>
        <p:nvSpPr>
          <p:cNvPr id="719" name="Descrição 4"/>
          <p:cNvSpPr/>
          <p:nvPr/>
        </p:nvSpPr>
        <p:spPr>
          <a:xfrm>
            <a:off x="9220200" y="2895600"/>
            <a:ext cx="2197100" cy="203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pt-PT" sz="1350" b="0" dirty="0">
                <a:solidFill>
                  <a:srgbClr val="141414"/>
                </a:solidFill>
                <a:latin typeface="Arial"/>
                <a:cs typeface="Arial"/>
              </a:rPr>
              <a:t>Ocupação diária por pessoa, com ausências e trabalho recorrente já descontados antes de alguém pedir mais.</a:t>
            </a:r>
          </a:p>
        </p:txBody>
      </p:sp>
      <p:sp>
        <p:nvSpPr>
          <p:cNvPr id="28" name="Faixa gradiente"/>
          <p:cNvSpPr/>
          <p:nvPr/>
        </p:nvSpPr>
        <p:spPr>
          <a:xfrm>
            <a:off x="571500" y="4826000"/>
            <a:ext cx="11049000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30773"/>
              </a:gs>
              <a:gs pos="40000">
                <a:srgbClr val="EE5623"/>
              </a:gs>
              <a:gs pos="75000">
                <a:srgbClr val="56C1A8"/>
              </a:gs>
              <a:gs pos="100000">
                <a:srgbClr val="58C6D1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9" name="Mensagem faixa"/>
          <p:cNvSpPr txBox="1"/>
          <p:nvPr/>
        </p:nvSpPr>
        <p:spPr>
          <a:xfrm>
            <a:off x="850900" y="4826000"/>
            <a:ext cx="6858000" cy="60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buNone/>
            </a:pPr>
            <a:r>
              <a:rPr lang="pt-PT" sz="1400" b="1" dirty="0">
                <a:solidFill>
                  <a:srgbClr val="FFFFFF"/>
                </a:solidFill>
                <a:latin typeface="Arial"/>
                <a:cs typeface="Arial"/>
              </a:rPr>
              <a:t>Mostra o trabalho, não as pessoas. </a:t>
            </a:r>
            <a:r>
              <a:rPr lang="pt-PT" sz="1400" b="0" dirty="0">
                <a:solidFill>
                  <a:srgbClr val="FFFFFF"/>
                </a:solidFill>
                <a:latin typeface="Arial"/>
                <a:cs typeface="Arial"/>
              </a:rPr>
              <a:t>Sem rankings individuais e sem alimentar avaliação de desempenho.</a:t>
            </a:r>
          </a:p>
        </p:txBody>
      </p:sp>
    </p:spTree>
    <p:extLst>
      <p:ext uri="{BB962C8B-B14F-4D97-AF65-F5344CB8AC3E}">
        <p14:creationId xmlns:p14="http://schemas.microsoft.com/office/powerpoint/2010/main" val="1797197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Agora, ao vivo: a ferramenta por dentro</a:t>
            </a:r>
            <a:br/>
            <a:r>
              <a:rPr sz="1400" b="0"/>
              <a:t>Seis paragens — as quatro perguntas, por ordem — cerca de 10 minutos</a:t>
            </a:r>
          </a:p>
        </p:txBody>
      </p:sp>
      <p:pic>
        <p:nvPicPr>
          <p:cNvPr id="4" name="Picture 3" descr="rib_rout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188683" y="3742396"/>
            <a:ext cx="548640" cy="548640"/>
          </a:xfrm>
          <a:prstGeom prst="ellipse">
            <a:avLst/>
          </a:prstGeom>
          <a:solidFill>
            <a:srgbClr val="8A8A8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683" y="374239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883" y="2233636"/>
            <a:ext cx="1920240" cy="1371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Dashboard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36566"/>
                </a:solidFill>
                <a:latin typeface="Arial"/>
              </a:rPr>
              <a:t>Visão geral: procura, entregas, backlog e o que pede atenção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636566"/>
                </a:solidFill>
                <a:latin typeface="Arial"/>
              </a:rPr>
              <a:t>1′  ·  Dashboard</a:t>
            </a:r>
          </a:p>
        </p:txBody>
      </p:sp>
      <p:sp>
        <p:nvSpPr>
          <p:cNvPr id="8" name="Oval 7"/>
          <p:cNvSpPr/>
          <p:nvPr/>
        </p:nvSpPr>
        <p:spPr>
          <a:xfrm>
            <a:off x="3041821" y="3753498"/>
            <a:ext cx="548640" cy="548640"/>
          </a:xfrm>
          <a:prstGeom prst="ellipse">
            <a:avLst/>
          </a:prstGeom>
          <a:solidFill>
            <a:srgbClr val="D30773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1821" y="375349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6021" y="4485018"/>
            <a:ext cx="1920240" cy="96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O trabalho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36566"/>
                </a:solidFill>
                <a:latin typeface="Arial"/>
              </a:rPr>
              <a:t>Projetos, análises pontuais e tarefas regulares no mesmo sítio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D30773"/>
                </a:solidFill>
                <a:latin typeface="Arial"/>
              </a:rPr>
              <a:t>2′  ·  Hierarchy · Ad-hoc · Regular Activities</a:t>
            </a:r>
          </a:p>
        </p:txBody>
      </p:sp>
      <p:sp>
        <p:nvSpPr>
          <p:cNvPr id="11" name="Oval 10"/>
          <p:cNvSpPr/>
          <p:nvPr/>
        </p:nvSpPr>
        <p:spPr>
          <a:xfrm>
            <a:off x="4894958" y="3162302"/>
            <a:ext cx="548640" cy="548640"/>
          </a:xfrm>
          <a:prstGeom prst="ellipse">
            <a:avLst/>
          </a:prstGeom>
          <a:solidFill>
            <a:srgbClr val="EE5623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4958" y="316230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9158" y="1653542"/>
            <a:ext cx="1920240" cy="1371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Priorização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36566"/>
                </a:solidFill>
                <a:latin typeface="Arial"/>
              </a:rPr>
              <a:t>Matriz impacto × urgência e ranking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EE5623"/>
                </a:solidFill>
                <a:latin typeface="Arial"/>
              </a:rPr>
              <a:t>2′  ·  Priorização</a:t>
            </a:r>
          </a:p>
        </p:txBody>
      </p:sp>
      <p:sp>
        <p:nvSpPr>
          <p:cNvPr id="14" name="Oval 13"/>
          <p:cNvSpPr/>
          <p:nvPr/>
        </p:nvSpPr>
        <p:spPr>
          <a:xfrm>
            <a:off x="6748096" y="2563439"/>
            <a:ext cx="548640" cy="548640"/>
          </a:xfrm>
          <a:prstGeom prst="ellipse">
            <a:avLst/>
          </a:prstGeom>
          <a:solidFill>
            <a:srgbClr val="58C6D1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48096" y="25634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296" y="3294959"/>
            <a:ext cx="1920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Planeamento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36566"/>
                </a:solidFill>
                <a:latin typeface="Arial"/>
              </a:rPr>
              <a:t>Ocupação por pessoa, ausências, recorrentes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2A9FAE"/>
                </a:solidFill>
                <a:latin typeface="Arial"/>
              </a:rPr>
              <a:t>2′  ·  Planeamento · Férias</a:t>
            </a:r>
          </a:p>
        </p:txBody>
      </p:sp>
      <p:sp>
        <p:nvSpPr>
          <p:cNvPr id="17" name="Oval 16"/>
          <p:cNvSpPr/>
          <p:nvPr/>
        </p:nvSpPr>
        <p:spPr>
          <a:xfrm>
            <a:off x="8601234" y="2559252"/>
            <a:ext cx="548640" cy="548640"/>
          </a:xfrm>
          <a:prstGeom prst="ellipse">
            <a:avLst/>
          </a:prstGeom>
          <a:solidFill>
            <a:srgbClr val="56C1A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01234" y="25592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5434" y="1050492"/>
            <a:ext cx="1920240" cy="13716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Horas e relatórios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36566"/>
                </a:solidFill>
                <a:latin typeface="Arial"/>
              </a:rPr>
              <a:t>Horas registadas, tempos de ciclo, mix de trabalho, ROI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2E9E86"/>
                </a:solidFill>
                <a:latin typeface="Arial"/>
              </a:rPr>
              <a:t>2′  ·  Relatórios</a:t>
            </a:r>
          </a:p>
        </p:txBody>
      </p:sp>
      <p:sp>
        <p:nvSpPr>
          <p:cNvPr id="20" name="Oval 19"/>
          <p:cNvSpPr/>
          <p:nvPr/>
        </p:nvSpPr>
        <p:spPr>
          <a:xfrm>
            <a:off x="10454371" y="3153951"/>
            <a:ext cx="548640" cy="548640"/>
          </a:xfrm>
          <a:prstGeom prst="ellipse">
            <a:avLst/>
          </a:prstGeom>
          <a:solidFill>
            <a:srgbClr val="8A8A8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54371" y="3153951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8571" y="3885471"/>
            <a:ext cx="1920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41414"/>
                </a:solidFill>
                <a:latin typeface="Arial"/>
              </a:rPr>
              <a:t>Weekly Review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36566"/>
                </a:solidFill>
                <a:latin typeface="Arial"/>
              </a:rPr>
              <a:t>Kanban de trabalho e ponto de situação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1">
                <a:solidFill>
                  <a:srgbClr val="636566"/>
                </a:solidFill>
                <a:latin typeface="Arial"/>
              </a:rPr>
              <a:t>1′  ·  Weekly Review</a:t>
            </a:r>
          </a:p>
        </p:txBody>
      </p:sp>
      <p:sp>
        <p:nvSpPr>
          <p:cNvPr id="23" name="Régua 1"/>
          <p:cNvSpPr/>
          <p:nvPr/>
        </p:nvSpPr>
        <p:spPr>
          <a:xfrm>
            <a:off x="118872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égua 2"/>
          <p:cNvSpPr/>
          <p:nvPr/>
        </p:nvSpPr>
        <p:spPr>
          <a:xfrm>
            <a:off x="157276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égua 3"/>
          <p:cNvSpPr/>
          <p:nvPr/>
        </p:nvSpPr>
        <p:spPr>
          <a:xfrm>
            <a:off x="195681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égua 4"/>
          <p:cNvSpPr/>
          <p:nvPr/>
        </p:nvSpPr>
        <p:spPr>
          <a:xfrm>
            <a:off x="2340864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égua 5"/>
          <p:cNvSpPr/>
          <p:nvPr/>
        </p:nvSpPr>
        <p:spPr>
          <a:xfrm>
            <a:off x="272491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égua 6"/>
          <p:cNvSpPr/>
          <p:nvPr/>
        </p:nvSpPr>
        <p:spPr>
          <a:xfrm>
            <a:off x="3108960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égua 7"/>
          <p:cNvSpPr/>
          <p:nvPr/>
        </p:nvSpPr>
        <p:spPr>
          <a:xfrm>
            <a:off x="3493008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égua 8"/>
          <p:cNvSpPr/>
          <p:nvPr/>
        </p:nvSpPr>
        <p:spPr>
          <a:xfrm>
            <a:off x="3877056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égua 9"/>
          <p:cNvSpPr/>
          <p:nvPr/>
        </p:nvSpPr>
        <p:spPr>
          <a:xfrm>
            <a:off x="4261104" y="6272784"/>
            <a:ext cx="18288" cy="237744"/>
          </a:xfrm>
          <a:prstGeom prst="rect">
            <a:avLst/>
          </a:prstGeom>
          <a:solidFill>
            <a:srgbClr val="D30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égua 10"/>
          <p:cNvSpPr/>
          <p:nvPr/>
        </p:nvSpPr>
        <p:spPr>
          <a:xfrm>
            <a:off x="4645152" y="6382512"/>
            <a:ext cx="18288" cy="12801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55429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OBRIGADO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Ageas">
      <a:dk1>
        <a:srgbClr val="0C0C0C"/>
      </a:dk1>
      <a:lt1>
        <a:sysClr val="window" lastClr="FFFFFF"/>
      </a:lt1>
      <a:dk2>
        <a:srgbClr val="0C0C0C"/>
      </a:dk2>
      <a:lt2>
        <a:srgbClr val="FFFFFF"/>
      </a:lt2>
      <a:accent1>
        <a:srgbClr val="58C6D1"/>
      </a:accent1>
      <a:accent2>
        <a:srgbClr val="56C1A8"/>
      </a:accent2>
      <a:accent3>
        <a:srgbClr val="EE5623"/>
      </a:accent3>
      <a:accent4>
        <a:srgbClr val="D30773"/>
      </a:accent4>
      <a:accent5>
        <a:srgbClr val="636566"/>
      </a:accent5>
      <a:accent6>
        <a:srgbClr val="000000"/>
      </a:accent6>
      <a:hlink>
        <a:srgbClr val="636566"/>
      </a:hlink>
      <a:folHlink>
        <a:srgbClr val="BFBFBF"/>
      </a:folHlink>
    </a:clrScheme>
    <a:fontScheme name="Age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276C32-BCE5-144C-BE4F-97DE631877F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b9d0000-c7f0-4ea7-8417-b8672a65b5c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09f20f-99cb-4b04-bcbc-81981e9dd62d" xsi:nil="true"/>
    <lcf76f155ced4ddcb4097134ff3c332f xmlns="0595d3d8-bdbe-4562-bc15-ce76e60e2ef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E17CB23632024395723EA79FC8DD3E" ma:contentTypeVersion="12" ma:contentTypeDescription="Create a new document." ma:contentTypeScope="" ma:versionID="316dc76cc6b9abb8af5fd42d57d68978">
  <xsd:schema xmlns:xsd="http://www.w3.org/2001/XMLSchema" xmlns:xs="http://www.w3.org/2001/XMLSchema" xmlns:p="http://schemas.microsoft.com/office/2006/metadata/properties" xmlns:ns2="0595d3d8-bdbe-4562-bc15-ce76e60e2ef5" xmlns:ns3="6a09f20f-99cb-4b04-bcbc-81981e9dd62d" targetNamespace="http://schemas.microsoft.com/office/2006/metadata/properties" ma:root="true" ma:fieldsID="a6113b52eaa2fc853627694b5a43ef7c" ns2:_="" ns3:_="">
    <xsd:import namespace="0595d3d8-bdbe-4562-bc15-ce76e60e2ef5"/>
    <xsd:import namespace="6a09f20f-99cb-4b04-bcbc-81981e9dd6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95d3d8-bdbe-4562-bc15-ce76e60e2e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104503b-ae39-4fbb-836d-67aaae8b9d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09f20f-99cb-4b04-bcbc-81981e9dd62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b86d1c-54b9-42b7-944d-2c8470270275}" ma:internalName="TaxCatchAll" ma:showField="CatchAllData" ma:web="6a09f20f-99cb-4b04-bcbc-81981e9dd6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CA865E-7D29-4626-9D83-8373CD010F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CC67E1-9E29-4872-BFB5-B4FC7A79BA2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6a09f20f-99cb-4b04-bcbc-81981e9dd62d"/>
    <ds:schemaRef ds:uri="0595d3d8-bdbe-4562-bc15-ce76e60e2ef5"/>
  </ds:schemaRefs>
</ds:datastoreItem>
</file>

<file path=customXml/itemProps3.xml><?xml version="1.0" encoding="utf-8"?>
<ds:datastoreItem xmlns:ds="http://schemas.openxmlformats.org/officeDocument/2006/customXml" ds:itemID="{72730735-4CE7-489C-84C1-05BBAEF97A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595d3d8-bdbe-4562-bc15-ce76e60e2ef5"/>
    <ds:schemaRef ds:uri="6a09f20f-99cb-4b04-bcbc-81981e9dd6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3291</TotalTime>
  <Words>2817</Words>
  <Application>Microsoft Macintosh PowerPoint</Application>
  <PresentationFormat>Widescreen</PresentationFormat>
  <Paragraphs>289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Wingdings</vt:lpstr>
      <vt:lpstr>1_Office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Ageas_16x9_Vf</dc:title>
  <dc:creator>Ines Goncalves</dc:creator>
  <cp:lastModifiedBy>SN-Memories4You</cp:lastModifiedBy>
  <cp:revision>110</cp:revision>
  <dcterms:created xsi:type="dcterms:W3CDTF">2018-03-13T09:52:48Z</dcterms:created>
  <dcterms:modified xsi:type="dcterms:W3CDTF">2026-10-24T16:36:16Z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0x010100ECE17CB23632024395723EA79FC8DD3E</vt:lpwstr>
  </property>
  <property fmtid="{D5CDD505-2E9C-101B-9397-08002B2CF9AE}" pid="3" name="MSIP_Label_169da58f-ba9c-4ff3-9de9-f437324010d5_Enabled">
    <vt:lpwstr>True</vt:lpwstr>
  </property>
  <property fmtid="{D5CDD505-2E9C-101B-9397-08002B2CF9AE}" pid="4" name="MSIP_Label_169da58f-ba9c-4ff3-9de9-f437324010d5_SiteId">
    <vt:lpwstr>e7f9d69c-13f3-457c-a04c-f555c1134fa4</vt:lpwstr>
  </property>
  <property fmtid="{D5CDD505-2E9C-101B-9397-08002B2CF9AE}" pid="5" name="MSIP_Label_169da58f-ba9c-4ff3-9de9-f437324010d5_Owner">
    <vt:lpwstr>paula.santos@ageas.pt</vt:lpwstr>
  </property>
  <property fmtid="{D5CDD505-2E9C-101B-9397-08002B2CF9AE}" pid="6" name="MSIP_Label_169da58f-ba9c-4ff3-9de9-f437324010d5_SetDate">
    <vt:lpwstr>2019-12-26T17:32:54.5502161Z</vt:lpwstr>
  </property>
  <property fmtid="{D5CDD505-2E9C-101B-9397-08002B2CF9AE}" pid="7" name="MSIP_Label_169da58f-ba9c-4ff3-9de9-f437324010d5_Name">
    <vt:lpwstr>Interno</vt:lpwstr>
  </property>
  <property fmtid="{D5CDD505-2E9C-101B-9397-08002B2CF9AE}" pid="8" name="MSIP_Label_169da58f-ba9c-4ff3-9de9-f437324010d5_Application">
    <vt:lpwstr>Microsoft Azure Information Protection</vt:lpwstr>
  </property>
  <property fmtid="{D5CDD505-2E9C-101B-9397-08002B2CF9AE}" pid="9" name="MSIP_Label_169da58f-ba9c-4ff3-9de9-f437324010d5_ActionId">
    <vt:lpwstr>3be567e0-5e9f-440e-b89b-f7a2f9d41cd2</vt:lpwstr>
  </property>
  <property fmtid="{D5CDD505-2E9C-101B-9397-08002B2CF9AE}" pid="10" name="MSIP_Label_169da58f-ba9c-4ff3-9de9-f437324010d5_Extended_MSFT_Method">
    <vt:lpwstr>Manual</vt:lpwstr>
  </property>
  <property fmtid="{D5CDD505-2E9C-101B-9397-08002B2CF9AE}" pid="11" name="Sensitivity">
    <vt:lpwstr>Interno</vt:lpwstr>
  </property>
  <property fmtid="{D5CDD505-2E9C-101B-9397-08002B2CF9AE}" pid="12" name="MediaServiceImageTags">
    <vt:lpwstr/>
  </property>
</Properties>
</file>