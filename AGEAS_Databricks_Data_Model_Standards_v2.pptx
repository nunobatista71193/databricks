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30bc2a44154fa7" /><Relationship Type="http://schemas.openxmlformats.org/officeDocument/2006/relationships/extended-properties" Target="/docProps/app.xml" Id="Rc96438b096014ef8" /><Relationship Type="http://schemas.openxmlformats.org/officeDocument/2006/relationships/officeDocument" Target="/ppt/presentation.xml" Id="R968265cd77c04fef" /></Relationships>
</file>

<file path=ppt/presentation.xml><?xml version="1.0" encoding="utf-8"?>
<p:presentation xmlns:p="http://schemas.openxmlformats.org/presentationml/2006/main">
  <p:sldMasterIdLst>
    <p:sldMasterId xmlns:r="http://schemas.openxmlformats.org/officeDocument/2006/relationships" id="2147483648" r:id="R0f590dafb5f245c5"/>
  </p:sldMasterIdLst>
  <p:notesMasterIdLst>
    <p:notesMasterId xmlns:r="http://schemas.openxmlformats.org/officeDocument/2006/relationships" r:id="Rcc4ea5122dc34834"/>
  </p:notesMasterIdLst>
  <p:sldIdLst>
    <p:sldId xmlns:r="http://schemas.openxmlformats.org/officeDocument/2006/relationships" id="256" r:id="R500761a60a5247d3"/>
    <p:sldId xmlns:r="http://schemas.openxmlformats.org/officeDocument/2006/relationships" id="257" r:id="R9bf0b843c9434b11"/>
    <p:sldId xmlns:r="http://schemas.openxmlformats.org/officeDocument/2006/relationships" id="258" r:id="Rb2e6909fa3b649ee"/>
    <p:sldId xmlns:r="http://schemas.openxmlformats.org/officeDocument/2006/relationships" id="259" r:id="Rbbb849c9bc0c4ce1"/>
    <p:sldId xmlns:r="http://schemas.openxmlformats.org/officeDocument/2006/relationships" id="260" r:id="Rb1f0018f19ad4960"/>
    <p:sldId xmlns:r="http://schemas.openxmlformats.org/officeDocument/2006/relationships" id="261" r:id="R23095f67b73848ac"/>
    <p:sldId xmlns:r="http://schemas.openxmlformats.org/officeDocument/2006/relationships" id="262" r:id="Rdbe620539492456d"/>
    <p:sldId xmlns:r="http://schemas.openxmlformats.org/officeDocument/2006/relationships" id="263" r:id="R0cd70b29872f4c65"/>
    <p:sldId xmlns:r="http://schemas.openxmlformats.org/officeDocument/2006/relationships" id="264" r:id="Rddafb61ea21a4560"/>
    <p:sldId xmlns:r="http://schemas.openxmlformats.org/officeDocument/2006/relationships" id="265" r:id="Rad456c1f3a1c40b1"/>
    <p:sldId xmlns:r="http://schemas.openxmlformats.org/officeDocument/2006/relationships" id="266" r:id="R16b99644bcf84831"/>
    <p:sldId xmlns:r="http://schemas.openxmlformats.org/officeDocument/2006/relationships" id="267" r:id="Rc9750cb5e6a849d8"/>
    <p:sldId xmlns:r="http://schemas.openxmlformats.org/officeDocument/2006/relationships" id="268" r:id="R2796122f508c44b6"/>
    <p:sldId xmlns:r="http://schemas.openxmlformats.org/officeDocument/2006/relationships" id="269" r:id="Rfd627b69db594719"/>
    <p:sldId xmlns:r="http://schemas.openxmlformats.org/officeDocument/2006/relationships" id="270" r:id="Rd6100256be6742f0"/>
    <p:sldId xmlns:r="http://schemas.openxmlformats.org/officeDocument/2006/relationships" id="271" r:id="Rff058cb957ca4d89"/>
    <p:sldId xmlns:r="http://schemas.openxmlformats.org/officeDocument/2006/relationships" id="272" r:id="R1437136ec3d44ac2"/>
    <p:sldId xmlns:r="http://schemas.openxmlformats.org/officeDocument/2006/relationships" id="273" r:id="R48dc31b4d0dd472a"/>
    <p:sldId xmlns:r="http://schemas.openxmlformats.org/officeDocument/2006/relationships" id="274" r:id="R3373ed4ba0d04dd3"/>
    <p:sldId xmlns:r="http://schemas.openxmlformats.org/officeDocument/2006/relationships" id="275" r:id="R27e5c946a2c9439f"/>
    <p:sldId xmlns:r="http://schemas.openxmlformats.org/officeDocument/2006/relationships" id="276" r:id="R0f713fecef1044a0"/>
    <p:sldId xmlns:r="http://schemas.openxmlformats.org/officeDocument/2006/relationships" id="277" r:id="R80a71821ab104b20"/>
    <p:sldId xmlns:r="http://schemas.openxmlformats.org/officeDocument/2006/relationships" id="278" r:id="R871ed795b1244a86"/>
    <p:sldId xmlns:r="http://schemas.openxmlformats.org/officeDocument/2006/relationships" id="279" r:id="R3aeedf5ebc86449e"/>
    <p:sldId xmlns:r="http://schemas.openxmlformats.org/officeDocument/2006/relationships" id="280" r:id="R2496fb2bbd8c46fa"/>
    <p:sldId xmlns:r="http://schemas.openxmlformats.org/officeDocument/2006/relationships" id="281" r:id="Rf2f0dfd20aee4358"/>
    <p:sldId xmlns:r="http://schemas.openxmlformats.org/officeDocument/2006/relationships" id="282" r:id="R5f45c79b357c4573"/>
    <p:sldId xmlns:r="http://schemas.openxmlformats.org/officeDocument/2006/relationships" id="283" r:id="Rccfd8d77fcaf43b0"/>
    <p:sldId xmlns:r="http://schemas.openxmlformats.org/officeDocument/2006/relationships" id="284" r:id="Reae9714b903641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8e334afe564f73" /><Relationship Type="http://schemas.openxmlformats.org/officeDocument/2006/relationships/slideMaster" Target="/ppt/slideMasters/slideMaster1.xml" Id="R0f590dafb5f245c5" /><Relationship Type="http://schemas.openxmlformats.org/officeDocument/2006/relationships/notesMaster" Target="/ppt/notesMasters/notesMaster1.xml" Id="Rcc4ea5122dc34834" /><Relationship Type="http://schemas.openxmlformats.org/officeDocument/2006/relationships/presProps" Target="/ppt/presProps.xml" Id="R938560338ed24d37" /><Relationship Type="http://schemas.openxmlformats.org/officeDocument/2006/relationships/tableStyles" Target="/ppt/tableStyles.xml" Id="R96223f78dcbe42b4" /><Relationship Type="http://schemas.openxmlformats.org/officeDocument/2006/relationships/slide" Target="/ppt/slides/slide1.xml" Id="R500761a60a5247d3" /><Relationship Type="http://schemas.openxmlformats.org/officeDocument/2006/relationships/slide" Target="/ppt/slides/slide2.xml" Id="R9bf0b843c9434b11" /><Relationship Type="http://schemas.openxmlformats.org/officeDocument/2006/relationships/slide" Target="/ppt/slides/slide3.xml" Id="Rb2e6909fa3b649ee" /><Relationship Type="http://schemas.openxmlformats.org/officeDocument/2006/relationships/slide" Target="/ppt/slides/slide4.xml" Id="Rbbb849c9bc0c4ce1" /><Relationship Type="http://schemas.openxmlformats.org/officeDocument/2006/relationships/slide" Target="/ppt/slides/slide5.xml" Id="Rb1f0018f19ad4960" /><Relationship Type="http://schemas.openxmlformats.org/officeDocument/2006/relationships/slide" Target="/ppt/slides/slide6.xml" Id="R23095f67b73848ac" /><Relationship Type="http://schemas.openxmlformats.org/officeDocument/2006/relationships/slide" Target="/ppt/slides/slide7.xml" Id="Rdbe620539492456d" /><Relationship Type="http://schemas.openxmlformats.org/officeDocument/2006/relationships/slide" Target="/ppt/slides/slide8.xml" Id="R0cd70b29872f4c65" /><Relationship Type="http://schemas.openxmlformats.org/officeDocument/2006/relationships/slide" Target="/ppt/slides/slide9.xml" Id="Rddafb61ea21a4560" /><Relationship Type="http://schemas.openxmlformats.org/officeDocument/2006/relationships/slide" Target="/ppt/slides/slide10.xml" Id="Rad456c1f3a1c40b1" /><Relationship Type="http://schemas.openxmlformats.org/officeDocument/2006/relationships/slide" Target="/ppt/slides/slide11.xml" Id="R16b99644bcf84831" /><Relationship Type="http://schemas.openxmlformats.org/officeDocument/2006/relationships/slide" Target="/ppt/slides/slide12.xml" Id="Rc9750cb5e6a849d8" /><Relationship Type="http://schemas.openxmlformats.org/officeDocument/2006/relationships/slide" Target="/ppt/slides/slide13.xml" Id="R2796122f508c44b6" /><Relationship Type="http://schemas.openxmlformats.org/officeDocument/2006/relationships/slide" Target="/ppt/slides/slide14.xml" Id="Rfd627b69db594719" /><Relationship Type="http://schemas.openxmlformats.org/officeDocument/2006/relationships/slide" Target="/ppt/slides/slide15.xml" Id="Rd6100256be6742f0" /><Relationship Type="http://schemas.openxmlformats.org/officeDocument/2006/relationships/slide" Target="/ppt/slides/slide16.xml" Id="Rff058cb957ca4d89" /><Relationship Type="http://schemas.openxmlformats.org/officeDocument/2006/relationships/slide" Target="/ppt/slides/slide17.xml" Id="R1437136ec3d44ac2" /><Relationship Type="http://schemas.openxmlformats.org/officeDocument/2006/relationships/slide" Target="/ppt/slides/slide18.xml" Id="R48dc31b4d0dd472a" /><Relationship Type="http://schemas.openxmlformats.org/officeDocument/2006/relationships/slide" Target="/ppt/slides/slide19.xml" Id="R3373ed4ba0d04dd3" /><Relationship Type="http://schemas.openxmlformats.org/officeDocument/2006/relationships/slide" Target="/ppt/slides/slide20.xml" Id="R27e5c946a2c9439f" /><Relationship Type="http://schemas.openxmlformats.org/officeDocument/2006/relationships/slide" Target="/ppt/slides/slide21.xml" Id="R0f713fecef1044a0" /><Relationship Type="http://schemas.openxmlformats.org/officeDocument/2006/relationships/slide" Target="/ppt/slides/slide22.xml" Id="R80a71821ab104b20" /><Relationship Type="http://schemas.openxmlformats.org/officeDocument/2006/relationships/slide" Target="/ppt/slides/slide23.xml" Id="R871ed795b1244a86" /><Relationship Type="http://schemas.openxmlformats.org/officeDocument/2006/relationships/slide" Target="/ppt/slides/slide24.xml" Id="R3aeedf5ebc86449e" /><Relationship Type="http://schemas.openxmlformats.org/officeDocument/2006/relationships/slide" Target="/ppt/slides/slide25.xml" Id="R2496fb2bbd8c46fa" /><Relationship Type="http://schemas.openxmlformats.org/officeDocument/2006/relationships/slide" Target="/ppt/slides/slide26.xml" Id="Rf2f0dfd20aee4358" /><Relationship Type="http://schemas.openxmlformats.org/officeDocument/2006/relationships/slide" Target="/ppt/slides/slide27.xml" Id="R5f45c79b357c4573" /><Relationship Type="http://schemas.openxmlformats.org/officeDocument/2006/relationships/slide" Target="/ppt/slides/slide28.xml" Id="Rccfd8d77fcaf43b0" /><Relationship Type="http://schemas.openxmlformats.org/officeDocument/2006/relationships/slide" Target="/ppt/slides/slide29.xml" Id="Reae9714b903641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d055817dc74a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6e8dfb142048fc" /><Relationship Type="http://schemas.openxmlformats.org/officeDocument/2006/relationships/notesMaster" Target="/ppt/notesMasters/notesMaster1.xml" Id="Rebde8285edb94b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4fde2cb308402c" /><Relationship Type="http://schemas.openxmlformats.org/officeDocument/2006/relationships/notesMaster" Target="/ppt/notesMasters/notesMaster1.xml" Id="Rb387abff292d43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0c8b67a42444a3" /><Relationship Type="http://schemas.openxmlformats.org/officeDocument/2006/relationships/notesMaster" Target="/ppt/notesMasters/notesMaster1.xml" Id="Rfeb526a3b12341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eeabc7f0504b91" /><Relationship Type="http://schemas.openxmlformats.org/officeDocument/2006/relationships/notesMaster" Target="/ppt/notesMasters/notesMaster1.xml" Id="Rbc05c8e4091947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5be8e99f29470d" /><Relationship Type="http://schemas.openxmlformats.org/officeDocument/2006/relationships/notesMaster" Target="/ppt/notesMasters/notesMaster1.xml" Id="R6a3bfb753b084c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cf6ee39354466c" /><Relationship Type="http://schemas.openxmlformats.org/officeDocument/2006/relationships/notesMaster" Target="/ppt/notesMasters/notesMaster1.xml" Id="Rd19ea7b8626a40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d0f770ca7d4af9" /><Relationship Type="http://schemas.openxmlformats.org/officeDocument/2006/relationships/notesMaster" Target="/ppt/notesMasters/notesMaster1.xml" Id="R769e6842152a46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15d06803d248f8" /><Relationship Type="http://schemas.openxmlformats.org/officeDocument/2006/relationships/notesMaster" Target="/ppt/notesMasters/notesMaster1.xml" Id="R9e2846f683b249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e66f44608e4f25" /><Relationship Type="http://schemas.openxmlformats.org/officeDocument/2006/relationships/notesMaster" Target="/ppt/notesMasters/notesMaster1.xml" Id="R14d26804857a40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20dc27a17046df" /><Relationship Type="http://schemas.openxmlformats.org/officeDocument/2006/relationships/notesMaster" Target="/ppt/notesMasters/notesMaster1.xml" Id="R3dffe580492549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ac5a1a1d704f8a" /><Relationship Type="http://schemas.openxmlformats.org/officeDocument/2006/relationships/notesMaster" Target="/ppt/notesMasters/notesMaster1.xml" Id="R9ab5e70bb4294d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250b54d5414aa9" /><Relationship Type="http://schemas.openxmlformats.org/officeDocument/2006/relationships/notesMaster" Target="/ppt/notesMasters/notesMaster1.xml" Id="Raaa571a372bf4e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22f7898e364819" /><Relationship Type="http://schemas.openxmlformats.org/officeDocument/2006/relationships/notesMaster" Target="/ppt/notesMasters/notesMaster1.xml" Id="Rcaabddd96e2c44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d4ba5a0cf04a6c" /><Relationship Type="http://schemas.openxmlformats.org/officeDocument/2006/relationships/notesMaster" Target="/ppt/notesMasters/notesMaster1.xml" Id="Rb726a465c2454c2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158b885c16f4970" /><Relationship Type="http://schemas.openxmlformats.org/officeDocument/2006/relationships/notesMaster" Target="/ppt/notesMasters/notesMaster1.xml" Id="R7e584dd7c2e24a3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f10784bfaa34934" /><Relationship Type="http://schemas.openxmlformats.org/officeDocument/2006/relationships/notesMaster" Target="/ppt/notesMasters/notesMaster1.xml" Id="R8925336f0903471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3095e48c3314b92" /><Relationship Type="http://schemas.openxmlformats.org/officeDocument/2006/relationships/notesMaster" Target="/ppt/notesMasters/notesMaster1.xml" Id="Rc6b94b0bf112426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186b110bdf43bb" /><Relationship Type="http://schemas.openxmlformats.org/officeDocument/2006/relationships/notesMaster" Target="/ppt/notesMasters/notesMaster1.xml" Id="Rc7748807192743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d896761f4a047d6" /><Relationship Type="http://schemas.openxmlformats.org/officeDocument/2006/relationships/notesMaster" Target="/ppt/notesMasters/notesMaster1.xml" Id="R1edcc8a3d9cf433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ab488e00fed45ed" /><Relationship Type="http://schemas.openxmlformats.org/officeDocument/2006/relationships/notesMaster" Target="/ppt/notesMasters/notesMaster1.xml" Id="Ra195e154ffad4f0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c838e2f71d34565" /><Relationship Type="http://schemas.openxmlformats.org/officeDocument/2006/relationships/notesMaster" Target="/ppt/notesMasters/notesMaster1.xml" Id="R44c315bb2f08479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927e1176623414b" /><Relationship Type="http://schemas.openxmlformats.org/officeDocument/2006/relationships/notesMaster" Target="/ppt/notesMasters/notesMaster1.xml" Id="Rb930fae597f347c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6f519d95e2b4cc2" /><Relationship Type="http://schemas.openxmlformats.org/officeDocument/2006/relationships/notesMaster" Target="/ppt/notesMasters/notesMaster1.xml" Id="R27817b1e5fee452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83c461950c94dfd" /><Relationship Type="http://schemas.openxmlformats.org/officeDocument/2006/relationships/notesMaster" Target="/ppt/notesMasters/notesMaster1.xml" Id="R8dade400dfca49b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74ab65c130b473d" /><Relationship Type="http://schemas.openxmlformats.org/officeDocument/2006/relationships/notesMaster" Target="/ppt/notesMasters/notesMaster1.xml" Id="Rd7f9dcb2ec204ea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98b9ffb7ef64b78" /><Relationship Type="http://schemas.openxmlformats.org/officeDocument/2006/relationships/notesMaster" Target="/ppt/notesMasters/notesMaster1.xml" Id="R7aa5ce81df764c3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d226d07f1af41d8" /><Relationship Type="http://schemas.openxmlformats.org/officeDocument/2006/relationships/notesMaster" Target="/ppt/notesMasters/notesMaster1.xml" Id="R5e2a885ee767456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568d179c6a548fb" /><Relationship Type="http://schemas.openxmlformats.org/officeDocument/2006/relationships/notesMaster" Target="/ppt/notesMasters/notesMaster1.xml" Id="R17b238d2a658470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c878b009018487f" /><Relationship Type="http://schemas.openxmlformats.org/officeDocument/2006/relationships/notesMaster" Target="/ppt/notesMasters/notesMaster1.xml" Id="Rd4ebf47122c04e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policy proposal. This deck does not assert existing Ageas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https://docs.databricks.com/aws/en/tables/constraints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https://docs.databricks.com/aws/en/delta/; https://docs.databricks.com/aws/en/tables/managed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https://docs.databricks.com/aws/en/delta/best-practices; https://docs.databricks.com/aws/en/optimizations/predictive-optimization; https://docs.databricks.com/aws/en/delta/vacuum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https://docs.databricks.com/aws/en/comments/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https://docs.databricks.com/aws/en/data-governance/unity-catalog/data-lineage; https://docs.databricks.com/aws/en/database-objects/tags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https://docs.databricks.com/aws/en/tables/constraints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https://docs.databricks.com/aws/en/delta/best-practices; https://docs.databricks.com/aws/en/tables/partitions; https://docs.databricks.com/aws/en/delta/vacuum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checked 23 September 2026. The proposed naming and governance rules are organization-specific policy choices, not Databricks product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d8627dd7d444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4e87328d4642a0" /><Relationship Type="http://schemas.openxmlformats.org/officeDocument/2006/relationships/slideLayout" Target="/ppt/slideLayouts/slideLayout1.xml" Id="R70954d184d6145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954d184d6145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dfc93b50984930" /><Relationship Type="http://schemas.openxmlformats.org/officeDocument/2006/relationships/image" Target="/ppt/media/image.png" Id="Re0c9df50fb934415" /><Relationship Type="http://schemas.openxmlformats.org/officeDocument/2006/relationships/notesSlide" Target="/ppt/notesSlides/notesSlide1.xml" Id="Reb58be3f93f047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15f5bd7e4b445e" /><Relationship Type="http://schemas.openxmlformats.org/officeDocument/2006/relationships/image" Target="/ppt/media/image2.png" Id="R10605fd04b064026" /><Relationship Type="http://schemas.openxmlformats.org/officeDocument/2006/relationships/notesSlide" Target="/ppt/notesSlides/notesSlide2.xml" Id="R7390f1f905714e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08a3f1e13d4a83" /><Relationship Type="http://schemas.openxmlformats.org/officeDocument/2006/relationships/image" Target="/ppt/media/image3.png" Id="Rb5dd6c47d6b649e5" /><Relationship Type="http://schemas.openxmlformats.org/officeDocument/2006/relationships/notesSlide" Target="/ppt/notesSlides/notesSlide3.xml" Id="R158ae42f56eb48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6715ee9a354c07" /><Relationship Type="http://schemas.openxmlformats.org/officeDocument/2006/relationships/image" Target="/ppt/media/image4.png" Id="Rff36de59b8924d4a" /><Relationship Type="http://schemas.openxmlformats.org/officeDocument/2006/relationships/notesSlide" Target="/ppt/notesSlides/notesSlide4.xml" Id="Rc5a3b2cd82c74f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3de6775c8c461d" /><Relationship Type="http://schemas.openxmlformats.org/officeDocument/2006/relationships/image" Target="/ppt/media/image5.png" Id="Rf533bee3b0194812" /><Relationship Type="http://schemas.openxmlformats.org/officeDocument/2006/relationships/notesSlide" Target="/ppt/notesSlides/notesSlide5.xml" Id="Rf7f744073d0e43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5ed4d8d8574177" /><Relationship Type="http://schemas.openxmlformats.org/officeDocument/2006/relationships/image" Target="/ppt/media/image6.png" Id="Re70a81415f3249f7" /><Relationship Type="http://schemas.openxmlformats.org/officeDocument/2006/relationships/notesSlide" Target="/ppt/notesSlides/notesSlide6.xml" Id="R3a0a69418aba4f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f51a513df1479b" /><Relationship Type="http://schemas.openxmlformats.org/officeDocument/2006/relationships/image" Target="/ppt/media/image7.png" Id="Rf2b662eb10f74d67" /><Relationship Type="http://schemas.openxmlformats.org/officeDocument/2006/relationships/notesSlide" Target="/ppt/notesSlides/notesSlide7.xml" Id="R135b22f1ca324c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6e6231665e45d5" /><Relationship Type="http://schemas.openxmlformats.org/officeDocument/2006/relationships/image" Target="/ppt/media/image8.png" Id="R12558829eb024582" /><Relationship Type="http://schemas.openxmlformats.org/officeDocument/2006/relationships/notesSlide" Target="/ppt/notesSlides/notesSlide8.xml" Id="Rebcc790faabd4c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20715c1c9c641ab" /><Relationship Type="http://schemas.openxmlformats.org/officeDocument/2006/relationships/image" Target="/ppt/media/image9.png" Id="R4cea1c84aecb4645" /><Relationship Type="http://schemas.openxmlformats.org/officeDocument/2006/relationships/notesSlide" Target="/ppt/notesSlides/notesSlide9.xml" Id="R9c4affc58c5c4b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9dc382a79241aa" /><Relationship Type="http://schemas.openxmlformats.org/officeDocument/2006/relationships/image" Target="/ppt/media/image10.png" Id="R528977e0cfd6451e" /><Relationship Type="http://schemas.openxmlformats.org/officeDocument/2006/relationships/notesSlide" Target="/ppt/notesSlides/notesSlide10.xml" Id="Ra5bda5e00fa641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5dad1dc665c4c33" /><Relationship Type="http://schemas.openxmlformats.org/officeDocument/2006/relationships/image" Target="/ppt/media/image11.png" Id="R5e1eb7bb2d5c4bc1" /><Relationship Type="http://schemas.openxmlformats.org/officeDocument/2006/relationships/notesSlide" Target="/ppt/notesSlides/notesSlide11.xml" Id="Ra2eda094452141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23fa8435d4f4eda" /><Relationship Type="http://schemas.openxmlformats.org/officeDocument/2006/relationships/image" Target="/ppt/media/image12.png" Id="R107213e4f7384845" /><Relationship Type="http://schemas.openxmlformats.org/officeDocument/2006/relationships/notesSlide" Target="/ppt/notesSlides/notesSlide12.xml" Id="R513274f5f3dc41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a8cc062e86447bc" /><Relationship Type="http://schemas.openxmlformats.org/officeDocument/2006/relationships/image" Target="/ppt/media/image13.png" Id="R2dc9becdc202471c" /><Relationship Type="http://schemas.openxmlformats.org/officeDocument/2006/relationships/notesSlide" Target="/ppt/notesSlides/notesSlide13.xml" Id="Rbb6556939ee843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fe3a84642144cba" /><Relationship Type="http://schemas.openxmlformats.org/officeDocument/2006/relationships/image" Target="/ppt/media/image14.png" Id="R1a2d294370dd40e1" /><Relationship Type="http://schemas.openxmlformats.org/officeDocument/2006/relationships/notesSlide" Target="/ppt/notesSlides/notesSlide14.xml" Id="R45beac2d750e488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2c79de76505439c" /><Relationship Type="http://schemas.openxmlformats.org/officeDocument/2006/relationships/image" Target="/ppt/media/image15.png" Id="R4ac81d7165ef4f68" /><Relationship Type="http://schemas.openxmlformats.org/officeDocument/2006/relationships/notesSlide" Target="/ppt/notesSlides/notesSlide15.xml" Id="R2fa76f86290848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13d7404dba947f7" /><Relationship Type="http://schemas.openxmlformats.org/officeDocument/2006/relationships/image" Target="/ppt/media/image16.png" Id="R0f0dd57385a84e49" /><Relationship Type="http://schemas.openxmlformats.org/officeDocument/2006/relationships/notesSlide" Target="/ppt/notesSlides/notesSlide16.xml" Id="R1543a74510ab45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94839a3099a46cd" /><Relationship Type="http://schemas.openxmlformats.org/officeDocument/2006/relationships/image" Target="/ppt/media/image17.png" Id="R48f27531bfd3408e" /><Relationship Type="http://schemas.openxmlformats.org/officeDocument/2006/relationships/notesSlide" Target="/ppt/notesSlides/notesSlide17.xml" Id="R32308bb81a9b4ef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1526f1b83684348" /><Relationship Type="http://schemas.openxmlformats.org/officeDocument/2006/relationships/image" Target="/ppt/media/image18.png" Id="Ra4d19bb2bc6e4b78" /><Relationship Type="http://schemas.openxmlformats.org/officeDocument/2006/relationships/notesSlide" Target="/ppt/notesSlides/notesSlide18.xml" Id="Re856bf8b06ab4d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a43a1ec6f7e48d5" /><Relationship Type="http://schemas.openxmlformats.org/officeDocument/2006/relationships/image" Target="/ppt/media/image19.png" Id="Rd89bc1d18df44e92" /><Relationship Type="http://schemas.openxmlformats.org/officeDocument/2006/relationships/notesSlide" Target="/ppt/notesSlides/notesSlide19.xml" Id="R12fcaab4abdf492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63b0c784c3042a5" /><Relationship Type="http://schemas.openxmlformats.org/officeDocument/2006/relationships/image" Target="/ppt/media/image20.png" Id="R5993e1be0aa14132" /><Relationship Type="http://schemas.openxmlformats.org/officeDocument/2006/relationships/notesSlide" Target="/ppt/notesSlides/notesSlide20.xml" Id="R8f65abdc9ef84dd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3d7f505a5b54fb2" /><Relationship Type="http://schemas.openxmlformats.org/officeDocument/2006/relationships/image" Target="/ppt/media/image21.png" Id="R0bf7a1f26a894f95" /><Relationship Type="http://schemas.openxmlformats.org/officeDocument/2006/relationships/notesSlide" Target="/ppt/notesSlides/notesSlide21.xml" Id="Rd23f57dcf4f6433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8e685e1e9a74be4" /><Relationship Type="http://schemas.openxmlformats.org/officeDocument/2006/relationships/image" Target="/ppt/media/image22.png" Id="R5be1a05687cb4f07" /><Relationship Type="http://schemas.openxmlformats.org/officeDocument/2006/relationships/notesSlide" Target="/ppt/notesSlides/notesSlide22.xml" Id="Rad29250f4c02425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656bbf9cc40483e" /><Relationship Type="http://schemas.openxmlformats.org/officeDocument/2006/relationships/image" Target="/ppt/media/image23.png" Id="R5e761c144ad54c9b" /><Relationship Type="http://schemas.openxmlformats.org/officeDocument/2006/relationships/notesSlide" Target="/ppt/notesSlides/notesSlide23.xml" Id="Re9fed3708dc6469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ac9e15b9ad94784" /><Relationship Type="http://schemas.openxmlformats.org/officeDocument/2006/relationships/image" Target="/ppt/media/image24.png" Id="R2801f7c5919448bb" /><Relationship Type="http://schemas.openxmlformats.org/officeDocument/2006/relationships/notesSlide" Target="/ppt/notesSlides/notesSlide24.xml" Id="R1388ba7f798c45c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21caaa03c414435" /><Relationship Type="http://schemas.openxmlformats.org/officeDocument/2006/relationships/image" Target="/ppt/media/image25.png" Id="R6085f48342b6468b" /><Relationship Type="http://schemas.openxmlformats.org/officeDocument/2006/relationships/notesSlide" Target="/ppt/notesSlides/notesSlide25.xml" Id="R37112464aeaa4b4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45796682be14b7a" /><Relationship Type="http://schemas.openxmlformats.org/officeDocument/2006/relationships/image" Target="/ppt/media/image26.png" Id="R843a898732194bf0" /><Relationship Type="http://schemas.openxmlformats.org/officeDocument/2006/relationships/notesSlide" Target="/ppt/notesSlides/notesSlide26.xml" Id="Rd631b53674e3426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6714e9a3cdf46c0" /><Relationship Type="http://schemas.openxmlformats.org/officeDocument/2006/relationships/image" Target="/ppt/media/image27.png" Id="R98ff85fe1b9c4192" /><Relationship Type="http://schemas.openxmlformats.org/officeDocument/2006/relationships/notesSlide" Target="/ppt/notesSlides/notesSlide27.xml" Id="Re5fb7b76315c413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55c610e5843446f" /><Relationship Type="http://schemas.openxmlformats.org/officeDocument/2006/relationships/image" Target="/ppt/media/image28.png" Id="R7d12d4bfb8be4c18" /><Relationship Type="http://schemas.openxmlformats.org/officeDocument/2006/relationships/notesSlide" Target="/ppt/notesSlides/notesSlide28.xml" Id="R234556b81e99432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2867f40b7e54885" /><Relationship Type="http://schemas.openxmlformats.org/officeDocument/2006/relationships/image" Target="/ppt/media/image29.png" Id="R9be04c58e20d444d" /><Relationship Type="http://schemas.openxmlformats.org/officeDocument/2006/relationships/notesSlide" Target="/ppt/notesSlides/notesSlide29.xml" Id="Rd200f0f89e77463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836CBA6-762F-4966-A1BB-98B54AACD547}"/>
              </a:ext>
            </a:extLst>
          </p:cNvPr>
          <p:cNvSpPr>
            <a:spLocks xmlns:a="http://schemas.openxmlformats.org/drawingml/2006/main" noGrp="1"/>
          </p:cNvSpPr>
          <p:nvPr/>
        </p:nvSpPr>
        <p:spPr>
          <a:xfrm xmlns:a="http://schemas.openxmlformats.org/drawingml/2006/main">
            <a:off x="0" y="0"/>
            <a:ext cx="5953125" cy="6858000"/>
          </a:xfrm>
          <a:prstGeom xmlns:a="http://schemas.openxmlformats.org/drawingml/2006/main" prst="rect">
            <a:avLst/>
          </a:prstGeom>
          <a:solidFill xmlns:a="http://schemas.openxmlformats.org/drawingml/2006/main">
            <a:srgbClr val="D3077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01636D-CD89-4F9D-9FE5-4E41A0BC072E}"/>
              </a:ext>
            </a:extLst>
          </p:cNvPr>
          <p:cNvSpPr>
            <a:spLocks xmlns:a="http://schemas.openxmlformats.org/drawingml/2006/main" noGrp="1"/>
          </p:cNvSpPr>
          <p:nvPr/>
        </p:nvSpPr>
        <p:spPr>
          <a:xfrm xmlns:a="http://schemas.openxmlformats.org/drawingml/2006/main">
            <a:off x="4476750" y="0"/>
            <a:ext cx="1476375" cy="6858000"/>
          </a:xfrm>
          <a:prstGeom xmlns:a="http://schemas.openxmlformats.org/drawingml/2006/main" prst="rect">
            <a:avLst/>
          </a:prstGeom>
          <a:solidFill xmlns:a="http://schemas.openxmlformats.org/drawingml/2006/main">
            <a:srgbClr val="EE562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F24E887-5FD4-44FA-9966-12B13B29567D}"/>
              </a:ext>
            </a:extLst>
          </p:cNvPr>
          <p:cNvSpPr>
            <a:spLocks xmlns:a="http://schemas.openxmlformats.org/drawingml/2006/main" noGrp="1"/>
          </p:cNvSpPr>
          <p:nvPr/>
        </p:nvSpPr>
        <p:spPr>
          <a:xfrm xmlns:a="http://schemas.openxmlformats.org/drawingml/2006/main">
            <a:off x="6000750" y="0"/>
            <a:ext cx="114300" cy="6858000"/>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4" name="text">
            <a:extLst xmlns:a="http://schemas.openxmlformats.org/drawingml/2006/main">
              <a:ext uri="{FF2B5EF4-FFF2-40B4-BE49-F238E27FC236}">
                <a16:creationId xmlns:a16="http://schemas.microsoft.com/office/drawing/2014/main" id="{71440393-27BB-419B-B103-F421AE242880}"/>
              </a:ext>
            </a:extLst>
          </p:cNvPr>
          <p:cNvSpPr>
            <a:spLocks xmlns:a="http://schemas.openxmlformats.org/drawingml/2006/main" noGrp="1"/>
          </p:cNvSpPr>
          <p:nvPr/>
        </p:nvSpPr>
        <p:spPr>
          <a:xfrm xmlns:a="http://schemas.openxmlformats.org/drawingml/2006/main">
            <a:off x="685800" y="1905000"/>
            <a:ext cx="3714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Databricks Data</a:t>
            </a:r>
          </a:p>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Model Standards &amp;</a:t>
            </a:r>
          </a:p>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Naming Conventions</a:t>
            </a:r>
          </a:p>
        </p:txBody>
      </p:sp>
      <p:sp>
        <p:nvSpPr>
          <p:cNvPr id="5" name="">
            <a:extLst xmlns:a="http://schemas.openxmlformats.org/drawingml/2006/main">
              <a:ext uri="{FF2B5EF4-FFF2-40B4-BE49-F238E27FC236}">
                <a16:creationId xmlns:a16="http://schemas.microsoft.com/office/drawing/2014/main" id="{E84649FA-6899-4167-ADE8-DF805BEC7E54}"/>
              </a:ext>
            </a:extLst>
          </p:cNvPr>
          <p:cNvSpPr>
            <a:spLocks xmlns:a="http://schemas.openxmlformats.org/drawingml/2006/main" noGrp="1"/>
          </p:cNvSpPr>
          <p:nvPr/>
        </p:nvSpPr>
        <p:spPr>
          <a:xfrm xmlns:a="http://schemas.openxmlformats.org/drawingml/2006/main">
            <a:off x="742950" y="4552950"/>
            <a:ext cx="1733550" cy="66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F6472C1F-5D17-4C7D-824C-19DC75A469AE}"/>
              </a:ext>
            </a:extLst>
          </p:cNvPr>
          <p:cNvSpPr>
            <a:spLocks xmlns:a="http://schemas.openxmlformats.org/drawingml/2006/main" noGrp="1"/>
          </p:cNvSpPr>
          <p:nvPr/>
        </p:nvSpPr>
        <p:spPr>
          <a:xfrm xmlns:a="http://schemas.openxmlformats.org/drawingml/2006/main">
            <a:off x="742950" y="480060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Enterprise data platform standard</a:t>
            </a:r>
          </a:p>
        </p:txBody>
      </p:sp>
      <p:sp>
        <p:nvSpPr>
          <p:cNvPr id="7" name="text">
            <a:extLst xmlns:a="http://schemas.openxmlformats.org/drawingml/2006/main">
              <a:ext uri="{FF2B5EF4-FFF2-40B4-BE49-F238E27FC236}">
                <a16:creationId xmlns:a16="http://schemas.microsoft.com/office/drawing/2014/main" id="{194C354C-698D-44F5-9497-3D6A0F759229}"/>
              </a:ext>
            </a:extLst>
          </p:cNvPr>
          <p:cNvSpPr>
            <a:spLocks xmlns:a="http://schemas.openxmlformats.org/drawingml/2006/main" noGrp="1"/>
          </p:cNvSpPr>
          <p:nvPr/>
        </p:nvSpPr>
        <p:spPr>
          <a:xfrm xmlns:a="http://schemas.openxmlformats.org/drawingml/2006/main">
            <a:off x="742950" y="546735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0">
                <a:solidFill>
                  <a:srgbClr val="FFFFFF"/>
                </a:solidFill>
                <a:latin typeface="Arial"/>
                <a:ea typeface="Arial"/>
                <a:cs typeface="Arial"/>
              </a:defRPr>
            </a:pPr>
            <a:r>
              <a:rPr sz="975" b="0">
                <a:solidFill>
                  <a:srgbClr val="FFFFFF"/>
                </a:solidFill>
                <a:latin typeface="Arial"/>
                <a:ea typeface="Arial"/>
                <a:cs typeface="Arial"/>
              </a:rPr>
              <a:t>Version 1.0  |  23 September 2026</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0c9df50fb934415"/>
          <a:stretch xmlns:a="http://schemas.openxmlformats.org/drawingml/2006/main"/>
        </p:blipFill>
        <p:spPr>
          <a:xfrm xmlns:a="http://schemas.openxmlformats.org/drawingml/2006/main">
            <a:off x="6964297" y="2000250"/>
            <a:ext cx="4235581" cy="23812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FED0A378-A698-454F-9294-49E2F0F8A18C}"/>
              </a:ext>
            </a:extLst>
          </p:cNvPr>
          <p:cNvSpPr>
            <a:spLocks xmlns:a="http://schemas.openxmlformats.org/drawingml/2006/main" noGrp="1"/>
          </p:cNvSpPr>
          <p:nvPr/>
        </p:nvSpPr>
        <p:spPr>
          <a:xfrm xmlns:a="http://schemas.openxmlformats.org/drawingml/2006/main">
            <a:off x="6591300" y="481012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646464"/>
                </a:solidFill>
                <a:latin typeface="Arial"/>
                <a:ea typeface="Arial"/>
                <a:cs typeface="Arial"/>
              </a:defRPr>
            </a:pPr>
            <a:r>
              <a:rPr sz="1275" b="0">
                <a:solidFill>
                  <a:srgbClr val="646464"/>
                </a:solidFill>
                <a:latin typeface="Arial"/>
                <a:ea typeface="Arial"/>
                <a:cs typeface="Arial"/>
              </a:rPr>
              <a:t>Data Engineering  •  Data Analytics  •  Business Intelligence</a:t>
            </a:r>
          </a:p>
        </p:txBody>
      </p:sp>
    </p:spTree>
    <p:extLst>
      <p:ext uri="{BB962C8B-B14F-4D97-AF65-F5344CB8AC3E}">
        <p14:creationId xmlns:p14="http://schemas.microsoft.com/office/powerpoint/2010/main" val="10766339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E25F9B-1BE6-4507-ADBC-9443194A837D}"/>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282820-D5E0-41D5-A012-F80E70F06DC6}"/>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0605fd04b064026"/>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CF81B019-A21E-4B60-9CD7-4B68784CEA39}"/>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02</a:t>
            </a:r>
          </a:p>
        </p:txBody>
      </p:sp>
      <p:sp>
        <p:nvSpPr>
          <p:cNvPr id="5" name="title">
            <a:extLst xmlns:a="http://schemas.openxmlformats.org/drawingml/2006/main">
              <a:ext uri="{FF2B5EF4-FFF2-40B4-BE49-F238E27FC236}">
                <a16:creationId xmlns:a16="http://schemas.microsoft.com/office/drawing/2014/main" id="{E9B7B0CB-9FC1-4988-A261-A9D685170822}"/>
              </a:ext>
            </a:extLst>
          </p:cNvPr>
          <p:cNvSpPr>
            <a:spLocks xmlns:a="http://schemas.openxmlformats.org/drawingml/2006/main" noGrp="1"/>
          </p:cNvSpPr>
          <p:nvPr/>
        </p:nvSpPr>
        <p:spPr>
          <a:xfrm xmlns:a="http://schemas.openxmlformats.org/drawingml/2006/main">
            <a:off x="628650" y="304800"/>
            <a:ext cx="1019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Document control and scope</a:t>
            </a:r>
          </a:p>
        </p:txBody>
      </p:sp>
      <p:sp>
        <p:nvSpPr>
          <p:cNvPr id="6" name="text">
            <a:extLst xmlns:a="http://schemas.openxmlformats.org/drawingml/2006/main">
              <a:ext uri="{FF2B5EF4-FFF2-40B4-BE49-F238E27FC236}">
                <a16:creationId xmlns:a16="http://schemas.microsoft.com/office/drawing/2014/main" id="{80052CEC-47B0-4EB7-8E51-9E2249C9C27A}"/>
              </a:ext>
            </a:extLst>
          </p:cNvPr>
          <p:cNvSpPr>
            <a:spLocks xmlns:a="http://schemas.openxmlformats.org/drawingml/2006/main" noGrp="1"/>
          </p:cNvSpPr>
          <p:nvPr/>
        </p:nvSpPr>
        <p:spPr>
          <a:xfrm xmlns:a="http://schemas.openxmlformats.org/drawingml/2006/main">
            <a:off x="628650" y="9144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29F49862-6803-4152-A0AF-E996FE976567}"/>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CFF88758-AFDA-447A-906E-E75985490B77}"/>
              </a:ext>
            </a:extLst>
          </p:cNvPr>
          <p:cNvSpPr>
            <a:spLocks xmlns:a="http://schemas.openxmlformats.org/drawingml/2006/main" noGrp="1"/>
          </p:cNvSpPr>
          <p:nvPr/>
        </p:nvSpPr>
        <p:spPr>
          <a:xfrm xmlns:a="http://schemas.openxmlformats.org/drawingml/2006/main">
            <a:off x="647700" y="1428750"/>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D30773"/>
                </a:solidFill>
                <a:latin typeface="Arial"/>
                <a:ea typeface="Arial"/>
                <a:cs typeface="Arial"/>
              </a:defRPr>
            </a:pPr>
            <a:r>
              <a:rPr sz="1875" b="1">
                <a:solidFill>
                  <a:srgbClr val="D30773"/>
                </a:solidFill>
                <a:latin typeface="Arial"/>
                <a:ea typeface="Arial"/>
                <a:cs typeface="Arial"/>
              </a:rPr>
              <a:t>Proposed standard for approval by the Data Platform governance owner</a:t>
            </a:r>
          </a:p>
        </p:txBody>
      </p:sp>
      <p:sp>
        <p:nvSpPr>
          <p:cNvPr id="9" name="body">
            <a:extLst xmlns:a="http://schemas.openxmlformats.org/drawingml/2006/main">
              <a:ext uri="{FF2B5EF4-FFF2-40B4-BE49-F238E27FC236}">
                <a16:creationId xmlns:a16="http://schemas.microsoft.com/office/drawing/2014/main" id="{BDE3CFC2-6503-44F5-AC31-5599E82F1372}"/>
              </a:ext>
            </a:extLst>
          </p:cNvPr>
          <p:cNvSpPr>
            <a:spLocks xmlns:a="http://schemas.openxmlformats.org/drawingml/2006/main" noGrp="1"/>
          </p:cNvSpPr>
          <p:nvPr/>
        </p:nvSpPr>
        <p:spPr>
          <a:xfrm xmlns:a="http://schemas.openxmlformats.org/drawingml/2006/main">
            <a:off x="647700" y="2333625"/>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Status: Draft for formal adoption. Effective date, approver, exception route and review cycle must be recorded before publication.</a:t>
            </a:r>
          </a:p>
          <a:p xmlns:a="http://schemas.openxmlformats.org/drawingml/2006/main">
            <a:r>
              <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Applies to Unity Catalog tables built or maintained by Data Engineering, Data Analytics and BI across brands and source systems. Catalog and schema structures already exist and are outside this standard.</a:t>
            </a:r>
          </a:p>
          <a:p xmlns:a="http://schemas.openxmlformats.org/drawingml/2006/main">
            <a:r>
              <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Illustrative namespace: agpt_insurance_dv_catalog.wkb_bus_operations_claimsmotor. Use the approved catalog and schema, then apply the table and column rules in this document.</a:t>
            </a:r>
          </a:p>
          <a:p xmlns:a="http://schemas.openxmlformats.org/drawingml/2006/main">
            <a:r>
              <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Rule language: MUST is mandatory; SHOULD is the default with a documented exception; MAY is optional.</a:t>
            </a:r>
          </a:p>
        </p:txBody>
      </p:sp>
    </p:spTree>
    <p:extLst>
      <p:ext uri="{BB962C8B-B14F-4D97-AF65-F5344CB8AC3E}">
        <p14:creationId xmlns:p14="http://schemas.microsoft.com/office/powerpoint/2010/main" val="4088001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CEB960-F803-49D8-8F29-6BAB7F9D52D2}"/>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2AA1D4-AC2A-46F3-836F-3C7882934082}"/>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5dd6c47d6b649e5"/>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28C6F137-1A16-49FB-AE55-98CFDABBA182}"/>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03</a:t>
            </a:r>
          </a:p>
        </p:txBody>
      </p:sp>
      <p:sp>
        <p:nvSpPr>
          <p:cNvPr id="5" name="title">
            <a:extLst xmlns:a="http://schemas.openxmlformats.org/drawingml/2006/main">
              <a:ext uri="{FF2B5EF4-FFF2-40B4-BE49-F238E27FC236}">
                <a16:creationId xmlns:a16="http://schemas.microsoft.com/office/drawing/2014/main" id="{3D4E8343-C9C4-4A0E-98CD-F931EF3C8461}"/>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Purpose and outcomes</a:t>
            </a:r>
          </a:p>
        </p:txBody>
      </p:sp>
      <p:sp>
        <p:nvSpPr>
          <p:cNvPr id="6" name="text">
            <a:extLst xmlns:a="http://schemas.openxmlformats.org/drawingml/2006/main">
              <a:ext uri="{FF2B5EF4-FFF2-40B4-BE49-F238E27FC236}">
                <a16:creationId xmlns:a16="http://schemas.microsoft.com/office/drawing/2014/main" id="{99710153-D35C-4D86-B494-DDCB60E0B215}"/>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87E7AA58-0398-4F5E-B573-DFC7A64828E0}"/>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5B11FEA-A24D-43ED-8AF2-4334C60EDD4D}"/>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Why one standard</a:t>
            </a:r>
          </a:p>
        </p:txBody>
      </p:sp>
      <p:sp>
        <p:nvSpPr>
          <p:cNvPr id="9" name="text">
            <a:extLst xmlns:a="http://schemas.openxmlformats.org/drawingml/2006/main">
              <a:ext uri="{FF2B5EF4-FFF2-40B4-BE49-F238E27FC236}">
                <a16:creationId xmlns:a16="http://schemas.microsoft.com/office/drawing/2014/main" id="{252AE029-5DAD-4631-B100-543BB24CE129}"/>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What the standard governs</a:t>
            </a:r>
          </a:p>
        </p:txBody>
      </p:sp>
      <p:sp>
        <p:nvSpPr>
          <p:cNvPr id="10" name="left_body">
            <a:extLst xmlns:a="http://schemas.openxmlformats.org/drawingml/2006/main">
              <a:ext uri="{FF2B5EF4-FFF2-40B4-BE49-F238E27FC236}">
                <a16:creationId xmlns:a16="http://schemas.microsoft.com/office/drawing/2014/main" id="{8127A86A-5D9A-4F64-85A7-D716C30CED2F}"/>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Consistent names make a table’s role, business entity, source and brand clear before anyone opens its schema.</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Shared models reduce duplicate logic between analytics teams and make changes safer to maintain.</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Explicit grain and ownership improve reuse and help engineers trace a metric to its source.</a:t>
            </a:r>
          </a:p>
        </p:txBody>
      </p:sp>
      <p:sp>
        <p:nvSpPr>
          <p:cNvPr id="11" name="right_body">
            <a:extLst xmlns:a="http://schemas.openxmlformats.org/drawingml/2006/main">
              <a:ext uri="{FF2B5EF4-FFF2-40B4-BE49-F238E27FC236}">
                <a16:creationId xmlns:a16="http://schemas.microsoft.com/office/drawing/2014/main" id="{BD1FC43F-42A9-4DB1-A8E7-E1C20E97A385}"/>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Table creation, naming, model design, metadata, quality controls and lifecycle rules.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Unity Catalog provides a common point for access, ownership and lineage. Delta tables support reliable writes and reproducible investigations.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Teams retain domain definitions in their business glossaries and map them to documented table columns.</a:t>
            </a:r>
          </a:p>
        </p:txBody>
      </p:sp>
    </p:spTree>
    <p:extLst>
      <p:ext uri="{BB962C8B-B14F-4D97-AF65-F5344CB8AC3E}">
        <p14:creationId xmlns:p14="http://schemas.microsoft.com/office/powerpoint/2010/main" val="15047009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D1420B-4765-47F3-8F5C-E15A37D1857C}"/>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26A1E7-3C69-4103-B4A1-311D1B70594C}"/>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f36de59b8924d4a"/>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8AC2E35E-79C3-4B49-94AB-63BE65160935}"/>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04</a:t>
            </a:r>
          </a:p>
        </p:txBody>
      </p:sp>
      <p:sp>
        <p:nvSpPr>
          <p:cNvPr id="5" name="title">
            <a:extLst xmlns:a="http://schemas.openxmlformats.org/drawingml/2006/main">
              <a:ext uri="{FF2B5EF4-FFF2-40B4-BE49-F238E27FC236}">
                <a16:creationId xmlns:a16="http://schemas.microsoft.com/office/drawing/2014/main" id="{29CBF868-3D1C-4DB4-8285-8E0C33353DD1}"/>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Guiding principles</a:t>
            </a:r>
          </a:p>
        </p:txBody>
      </p:sp>
      <p:sp>
        <p:nvSpPr>
          <p:cNvPr id="6" name="text">
            <a:extLst xmlns:a="http://schemas.openxmlformats.org/drawingml/2006/main">
              <a:ext uri="{FF2B5EF4-FFF2-40B4-BE49-F238E27FC236}">
                <a16:creationId xmlns:a16="http://schemas.microsoft.com/office/drawing/2014/main" id="{3749F44A-E8C7-4C36-9558-2C2B14D6EB17}"/>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DD51B225-FB87-4F14-8ABA-49E6F6762064}"/>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A6D4B323-4398-4567-8587-C43C5F651E72}"/>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Model design</a:t>
            </a:r>
          </a:p>
        </p:txBody>
      </p:sp>
      <p:sp>
        <p:nvSpPr>
          <p:cNvPr id="9" name="text">
            <a:extLst xmlns:a="http://schemas.openxmlformats.org/drawingml/2006/main">
              <a:ext uri="{FF2B5EF4-FFF2-40B4-BE49-F238E27FC236}">
                <a16:creationId xmlns:a16="http://schemas.microsoft.com/office/drawing/2014/main" id="{09DCC29A-D5A5-4853-B455-B8FF9F2A0AAE}"/>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Control and operation</a:t>
            </a:r>
          </a:p>
        </p:txBody>
      </p:sp>
      <p:sp>
        <p:nvSpPr>
          <p:cNvPr id="10" name="left_body">
            <a:extLst xmlns:a="http://schemas.openxmlformats.org/drawingml/2006/main">
              <a:ext uri="{FF2B5EF4-FFF2-40B4-BE49-F238E27FC236}">
                <a16:creationId xmlns:a16="http://schemas.microsoft.com/office/drawing/2014/main" id="{7326D446-7F54-4FFF-916A-16235F0E924B}"/>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Simplicity: use the least complex model that preserves meaning.</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Readability: use business terms that a new analyst can understand.</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Consistency: apply the same names and types to the same concept.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Scalability: define a stable grain and support incremental loads.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Reusability: publish shared entities and conforming dimensions.</a:t>
            </a:r>
          </a:p>
        </p:txBody>
      </p:sp>
      <p:sp>
        <p:nvSpPr>
          <p:cNvPr id="11" name="right_body">
            <a:extLst xmlns:a="http://schemas.openxmlformats.org/drawingml/2006/main">
              <a:ext uri="{FF2B5EF4-FFF2-40B4-BE49-F238E27FC236}">
                <a16:creationId xmlns:a16="http://schemas.microsoft.com/office/drawing/2014/main" id="{690C0F23-A46B-4B1B-AD34-64DBB5CFBE9F}"/>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Auditability: retain provenance and reconcile loads.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Governance: assign accountable owners and classify sensitive fields.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Traceability: link every target to the upstream source and transformation.</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Performance: optimize against measured workloads.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Security: grant access to groups by least privilege.</a:t>
            </a:r>
          </a:p>
        </p:txBody>
      </p:sp>
    </p:spTree>
    <p:extLst>
      <p:ext uri="{BB962C8B-B14F-4D97-AF65-F5344CB8AC3E}">
        <p14:creationId xmlns:p14="http://schemas.microsoft.com/office/powerpoint/2010/main" val="8924594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4E41372-4B9F-4E99-86F1-C5C85DE6096C}"/>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2C6CA5-6C0B-47B6-BB51-062A774142B5}"/>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533bee3b0194812"/>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27FA83CA-E4AA-4754-B6D3-1135B41F41B5}"/>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05</a:t>
            </a:r>
          </a:p>
        </p:txBody>
      </p:sp>
      <p:sp>
        <p:nvSpPr>
          <p:cNvPr id="5" name="title">
            <a:extLst xmlns:a="http://schemas.openxmlformats.org/drawingml/2006/main">
              <a:ext uri="{FF2B5EF4-FFF2-40B4-BE49-F238E27FC236}">
                <a16:creationId xmlns:a16="http://schemas.microsoft.com/office/drawing/2014/main" id="{90C24ECB-4B9E-4703-80D2-5B08033F944C}"/>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General naming rules</a:t>
            </a:r>
          </a:p>
        </p:txBody>
      </p:sp>
      <p:sp>
        <p:nvSpPr>
          <p:cNvPr id="6" name="text">
            <a:extLst xmlns:a="http://schemas.openxmlformats.org/drawingml/2006/main">
              <a:ext uri="{FF2B5EF4-FFF2-40B4-BE49-F238E27FC236}">
                <a16:creationId xmlns:a16="http://schemas.microsoft.com/office/drawing/2014/main" id="{484C3904-1170-4D13-A372-D65C81C908AB}"/>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5DB22711-8BCA-4BDB-B431-426133DB8376}"/>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3361AF84-2DEA-4494-9987-8EFA4129280D}"/>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Mandatory syntax</a:t>
            </a:r>
          </a:p>
        </p:txBody>
      </p:sp>
      <p:sp>
        <p:nvSpPr>
          <p:cNvPr id="9" name="text">
            <a:extLst xmlns:a="http://schemas.openxmlformats.org/drawingml/2006/main">
              <a:ext uri="{FF2B5EF4-FFF2-40B4-BE49-F238E27FC236}">
                <a16:creationId xmlns:a16="http://schemas.microsoft.com/office/drawing/2014/main" id="{50CE92A2-6D2A-4C62-81EB-108783464ACC}"/>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Examples</a:t>
            </a:r>
          </a:p>
        </p:txBody>
      </p:sp>
      <p:sp>
        <p:nvSpPr>
          <p:cNvPr id="10" name="left_body">
            <a:extLst xmlns:a="http://schemas.openxmlformats.org/drawingml/2006/main">
              <a:ext uri="{FF2B5EF4-FFF2-40B4-BE49-F238E27FC236}">
                <a16:creationId xmlns:a16="http://schemas.microsoft.com/office/drawing/2014/main" id="{0F223D3B-8998-4BDF-9DE2-9F1B147D8A42}"/>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Use lowercase snake_case: [a-z][a-z0-9_]*.</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No spaces, dots, hyphens, accented letters or other special characters within a table name. Dots separate catalog, schema and table only.</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Do not add generic prefixes such as tbl_, tb_, tmp_ or new_. The approved layer prefix conveys the role.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Keep names stable and meaningful. Expand ambiguous abbreviations.</a:t>
            </a:r>
          </a:p>
        </p:txBody>
      </p:sp>
      <p:sp>
        <p:nvSpPr>
          <p:cNvPr id="11" name="right_body">
            <a:extLst xmlns:a="http://schemas.openxmlformats.org/drawingml/2006/main">
              <a:ext uri="{FF2B5EF4-FFF2-40B4-BE49-F238E27FC236}">
                <a16:creationId xmlns:a16="http://schemas.microsoft.com/office/drawing/2014/main" id="{3F1A4A83-3BB0-4518-B97F-ABB8A96822D0}"/>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Correct: raw_claims_sas_ageas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Correct: dim_customer_ageas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Correct: agg_claims_month_ageas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Incorrect: Tbl_Claims, raw-claims-sas, Claims.SAS, new_fact_claims, dim customer.</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Use an approved source and brand code registry. The enterprise-wide value all is reserved for shared, genuinely brand-neutral raw sources.</a:t>
            </a:r>
          </a:p>
        </p:txBody>
      </p:sp>
    </p:spTree>
    <p:extLst>
      <p:ext uri="{BB962C8B-B14F-4D97-AF65-F5344CB8AC3E}">
        <p14:creationId xmlns:p14="http://schemas.microsoft.com/office/powerpoint/2010/main" val="1997047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B9715A5-514B-41B6-8EFD-88699CE20FCF}"/>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303965-292B-47D4-9A08-AE7EAD0B188F}"/>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70a81415f3249f7"/>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57B0A27D-E889-43B3-A19F-BD3CAEA26949}"/>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06</a:t>
            </a:r>
          </a:p>
        </p:txBody>
      </p:sp>
      <p:sp>
        <p:nvSpPr>
          <p:cNvPr id="5" name="title">
            <a:extLst xmlns:a="http://schemas.openxmlformats.org/drawingml/2006/main">
              <a:ext uri="{FF2B5EF4-FFF2-40B4-BE49-F238E27FC236}">
                <a16:creationId xmlns:a16="http://schemas.microsoft.com/office/drawing/2014/main" id="{456F6DB6-F829-4970-853D-5FCF43DB2120}"/>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Table classes and boundaries</a:t>
            </a:r>
          </a:p>
        </p:txBody>
      </p:sp>
      <p:sp>
        <p:nvSpPr>
          <p:cNvPr id="6" name="text">
            <a:extLst xmlns:a="http://schemas.openxmlformats.org/drawingml/2006/main">
              <a:ext uri="{FF2B5EF4-FFF2-40B4-BE49-F238E27FC236}">
                <a16:creationId xmlns:a16="http://schemas.microsoft.com/office/drawing/2014/main" id="{32D0107D-BAC9-4E91-96C7-02D397BF25F1}"/>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47CE46F7-974F-46F4-9C0A-1E77EAB36F0B}"/>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4F983560-23B0-4B61-A99B-F9D66889BD76}"/>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Source to shared entity</a:t>
            </a:r>
          </a:p>
        </p:txBody>
      </p:sp>
      <p:sp>
        <p:nvSpPr>
          <p:cNvPr id="9" name="text">
            <a:extLst xmlns:a="http://schemas.openxmlformats.org/drawingml/2006/main">
              <a:ext uri="{FF2B5EF4-FFF2-40B4-BE49-F238E27FC236}">
                <a16:creationId xmlns:a16="http://schemas.microsoft.com/office/drawing/2014/main" id="{BEC6E232-F116-44CB-B36F-7B5EAA5BEB91}"/>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Analytical consumption</a:t>
            </a:r>
          </a:p>
        </p:txBody>
      </p:sp>
      <p:sp>
        <p:nvSpPr>
          <p:cNvPr id="10" name="left_body">
            <a:extLst xmlns:a="http://schemas.openxmlformats.org/drawingml/2006/main">
              <a:ext uri="{FF2B5EF4-FFF2-40B4-BE49-F238E27FC236}">
                <a16:creationId xmlns:a16="http://schemas.microsoft.com/office/drawing/2014/main" id="{DB995F23-F08E-4EB8-9D90-5616D01370F7}"/>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raw_&lt;entity&gt;_&lt;source&gt;_&lt;brand&gt;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Capture a source delivery with minimal interpretation.</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core_&lt;entity&gt;_&lt;brand&gt;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Harmonize business entities across sources.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ref_&lt;entity&gt;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Publish governed code sets and small shared lookups.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wrk_&lt;entity&gt;_&lt;process&gt;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Hold intermediate processing results with a defined lifecycle.</a:t>
            </a:r>
          </a:p>
        </p:txBody>
      </p:sp>
      <p:sp>
        <p:nvSpPr>
          <p:cNvPr id="11" name="right_body">
            <a:extLst xmlns:a="http://schemas.openxmlformats.org/drawingml/2006/main">
              <a:ext uri="{FF2B5EF4-FFF2-40B4-BE49-F238E27FC236}">
                <a16:creationId xmlns:a16="http://schemas.microsoft.com/office/drawing/2014/main" id="{BC795F8B-9F29-48C8-B240-CF45A53B1353}"/>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dim_&lt;entity&gt;_&lt;brand&gt; or dim_&lt;entity&gt; for shared dimensions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Describe entities used to filter and group facts.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 fact_&lt;entity&gt;_&lt;brand&gt;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Record a stated business event or state at a fixed grain.</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agg_&lt;entity&gt;_&lt;granularity&gt;_&lt;brand&gt;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Store justified summaries.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snap_&lt;entity&gt;_&lt;brand&gt;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Preserve periodic or event-time states.</a:t>
            </a:r>
          </a:p>
        </p:txBody>
      </p:sp>
    </p:spTree>
    <p:extLst>
      <p:ext uri="{BB962C8B-B14F-4D97-AF65-F5344CB8AC3E}">
        <p14:creationId xmlns:p14="http://schemas.microsoft.com/office/powerpoint/2010/main" val="6718095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5C23738-E9D2-4096-BF73-D20F047E7483}"/>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6F58F5-CEB0-4A68-863A-A6A62DA2512D}"/>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2b662eb10f74d67"/>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953069FC-EF4C-4754-98F6-6A4B320FBD92}"/>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07</a:t>
            </a:r>
          </a:p>
        </p:txBody>
      </p:sp>
      <p:sp>
        <p:nvSpPr>
          <p:cNvPr id="5" name="title">
            <a:extLst xmlns:a="http://schemas.openxmlformats.org/drawingml/2006/main">
              <a:ext uri="{FF2B5EF4-FFF2-40B4-BE49-F238E27FC236}">
                <a16:creationId xmlns:a16="http://schemas.microsoft.com/office/drawing/2014/main" id="{51D5CFA8-BD7E-49C9-AA3B-640F8928556F}"/>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Raw tables</a:t>
            </a:r>
          </a:p>
        </p:txBody>
      </p:sp>
      <p:sp>
        <p:nvSpPr>
          <p:cNvPr id="6" name="text">
            <a:extLst xmlns:a="http://schemas.openxmlformats.org/drawingml/2006/main">
              <a:ext uri="{FF2B5EF4-FFF2-40B4-BE49-F238E27FC236}">
                <a16:creationId xmlns:a16="http://schemas.microsoft.com/office/drawing/2014/main" id="{8B383B41-4B61-4D87-B55C-05E82456D4BB}"/>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BB817CF7-C262-4236-B28A-10D4B71BC47D}"/>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188E52F-CE63-4C2F-BB0B-2B2DCC22758D}"/>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Pattern and examples</a:t>
            </a:r>
          </a:p>
        </p:txBody>
      </p:sp>
      <p:sp>
        <p:nvSpPr>
          <p:cNvPr id="9" name="text">
            <a:extLst xmlns:a="http://schemas.openxmlformats.org/drawingml/2006/main">
              <a:ext uri="{FF2B5EF4-FFF2-40B4-BE49-F238E27FC236}">
                <a16:creationId xmlns:a16="http://schemas.microsoft.com/office/drawing/2014/main" id="{6FF513E8-1EB5-4341-973D-A8A2C064DC3A}"/>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Allowed processing</a:t>
            </a:r>
          </a:p>
        </p:txBody>
      </p:sp>
      <p:sp>
        <p:nvSpPr>
          <p:cNvPr id="10" name="left_body">
            <a:extLst xmlns:a="http://schemas.openxmlformats.org/drawingml/2006/main">
              <a:ext uri="{FF2B5EF4-FFF2-40B4-BE49-F238E27FC236}">
                <a16:creationId xmlns:a16="http://schemas.microsoft.com/office/drawing/2014/main" id="{87DDE337-6ED7-47B8-8F1F-1E2FFA04B367}"/>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raw_&lt;entity&gt;_&lt;source&gt;_&lt;brand&gt;</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raw_claims_sas_ageas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raw_policies_sas_ageas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raw_vehicle_sales_acap_ageas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raw_vehicle_stock_autoinforma_ageas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raw_postcodes_geoapi_all</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The entity explains the payload, the source records its origin, and the brand prevents conflicting business contexts.</a:t>
            </a:r>
          </a:p>
        </p:txBody>
      </p:sp>
      <p:sp>
        <p:nvSpPr>
          <p:cNvPr id="11" name="right_body">
            <a:extLst xmlns:a="http://schemas.openxmlformats.org/drawingml/2006/main">
              <a:ext uri="{FF2B5EF4-FFF2-40B4-BE49-F238E27FC236}">
                <a16:creationId xmlns:a16="http://schemas.microsoft.com/office/drawing/2014/main" id="{33851A4A-37BD-4046-8D2F-AC395E98070D}"/>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Validate transport and parseability, capture provenance, apply agreed access restrictions and record load status. Retain source values and source field meaning.</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Avoid cross-source joins, business recoding, deduplication that removes source evidence, derived KPIs or overwritten history.</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For APIs without files, source_file may be NULL with a documented request or batch identifier.</a:t>
            </a:r>
          </a:p>
        </p:txBody>
      </p:sp>
    </p:spTree>
    <p:extLst>
      <p:ext uri="{BB962C8B-B14F-4D97-AF65-F5344CB8AC3E}">
        <p14:creationId xmlns:p14="http://schemas.microsoft.com/office/powerpoint/2010/main" val="10741815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CA4AED6-C919-491B-BB45-8B8FE03F3C3B}"/>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94AAA6-D4A9-4326-A844-BED2B1F90BCA}"/>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2558829eb024582"/>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940618A4-AE6A-4575-B803-5B1BDD369886}"/>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08</a:t>
            </a:r>
          </a:p>
        </p:txBody>
      </p:sp>
      <p:sp>
        <p:nvSpPr>
          <p:cNvPr id="5" name="title">
            <a:extLst xmlns:a="http://schemas.openxmlformats.org/drawingml/2006/main">
              <a:ext uri="{FF2B5EF4-FFF2-40B4-BE49-F238E27FC236}">
                <a16:creationId xmlns:a16="http://schemas.microsoft.com/office/drawing/2014/main" id="{A0F21A37-0816-44D4-B816-DB7C0697FF7A}"/>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Core tables</a:t>
            </a:r>
          </a:p>
        </p:txBody>
      </p:sp>
      <p:sp>
        <p:nvSpPr>
          <p:cNvPr id="6" name="text">
            <a:extLst xmlns:a="http://schemas.openxmlformats.org/drawingml/2006/main">
              <a:ext uri="{FF2B5EF4-FFF2-40B4-BE49-F238E27FC236}">
                <a16:creationId xmlns:a16="http://schemas.microsoft.com/office/drawing/2014/main" id="{D90854B3-7E96-4E5F-8F12-26D4BD960905}"/>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76136658-2539-4204-A180-B2DD8F4C1231}"/>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987B113C-E87C-47AB-9179-92E6F4B988B6}"/>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Pattern and examples</a:t>
            </a:r>
          </a:p>
        </p:txBody>
      </p:sp>
      <p:sp>
        <p:nvSpPr>
          <p:cNvPr id="9" name="text">
            <a:extLst xmlns:a="http://schemas.openxmlformats.org/drawingml/2006/main">
              <a:ext uri="{FF2B5EF4-FFF2-40B4-BE49-F238E27FC236}">
                <a16:creationId xmlns:a16="http://schemas.microsoft.com/office/drawing/2014/main" id="{330E1A14-11A3-4CE7-8F29-10FD01C2A161}"/>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Harmonization contract</a:t>
            </a:r>
          </a:p>
        </p:txBody>
      </p:sp>
      <p:sp>
        <p:nvSpPr>
          <p:cNvPr id="10" name="left_body">
            <a:extLst xmlns:a="http://schemas.openxmlformats.org/drawingml/2006/main">
              <a:ext uri="{FF2B5EF4-FFF2-40B4-BE49-F238E27FC236}">
                <a16:creationId xmlns:a16="http://schemas.microsoft.com/office/drawing/2014/main" id="{51DC4307-63A2-4FDD-814B-4D8210331F6A}"/>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core_&lt;entity&gt;_&lt;brand&gt;</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core_claims_ageas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core_policies_ageas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core_customers_ageas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core_vehicles_ageas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Core tables standardize names, types, code sets and source priorities under a documented business definition.</a:t>
            </a:r>
          </a:p>
        </p:txBody>
      </p:sp>
      <p:sp>
        <p:nvSpPr>
          <p:cNvPr id="11" name="right_body">
            <a:extLst xmlns:a="http://schemas.openxmlformats.org/drawingml/2006/main">
              <a:ext uri="{FF2B5EF4-FFF2-40B4-BE49-F238E27FC236}">
                <a16:creationId xmlns:a16="http://schemas.microsoft.com/office/drawing/2014/main" id="{CF433A28-3AB4-46A1-AAC4-D4B7CD453B91}"/>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Define canonical business keys and crosswalks across SAS, CRM, ACAP and other systems.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Record mapping rules, source precedence, effective dates, rejected records and lineage.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Keep conflicting source assertions traceable. If a “customer” or “vehicle” definition changes by domain, document the boundary rather than merging distinct concepts silently.</a:t>
            </a:r>
          </a:p>
        </p:txBody>
      </p:sp>
    </p:spTree>
    <p:extLst>
      <p:ext uri="{BB962C8B-B14F-4D97-AF65-F5344CB8AC3E}">
        <p14:creationId xmlns:p14="http://schemas.microsoft.com/office/powerpoint/2010/main" val="370060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F58B14-D6E1-41F1-8A61-69522E148152}"/>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9A3491-DFD8-4DBF-9B64-D8F08BA2A228}"/>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cea1c84aecb4645"/>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352A401F-D59C-4644-9192-22F0954FE10B}"/>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09</a:t>
            </a:r>
          </a:p>
        </p:txBody>
      </p:sp>
      <p:sp>
        <p:nvSpPr>
          <p:cNvPr id="5" name="title">
            <a:extLst xmlns:a="http://schemas.openxmlformats.org/drawingml/2006/main">
              <a:ext uri="{FF2B5EF4-FFF2-40B4-BE49-F238E27FC236}">
                <a16:creationId xmlns:a16="http://schemas.microsoft.com/office/drawing/2014/main" id="{9556C9C0-84B9-4D5C-9F01-FCBF5A269CC9}"/>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Dimensions and slowly changing attributes</a:t>
            </a:r>
          </a:p>
        </p:txBody>
      </p:sp>
      <p:sp>
        <p:nvSpPr>
          <p:cNvPr id="6" name="text">
            <a:extLst xmlns:a="http://schemas.openxmlformats.org/drawingml/2006/main">
              <a:ext uri="{FF2B5EF4-FFF2-40B4-BE49-F238E27FC236}">
                <a16:creationId xmlns:a16="http://schemas.microsoft.com/office/drawing/2014/main" id="{B16725C3-AC9D-45D3-83CE-63441B9C79E7}"/>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4A70F097-B28D-42E0-A3C8-3E5419F1F194}"/>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FA4BC7CD-3BDF-466E-96EB-EAC9B6426B84}"/>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Dimension rules</a:t>
            </a:r>
          </a:p>
        </p:txBody>
      </p:sp>
      <p:sp>
        <p:nvSpPr>
          <p:cNvPr id="9" name="text">
            <a:extLst xmlns:a="http://schemas.openxmlformats.org/drawingml/2006/main">
              <a:ext uri="{FF2B5EF4-FFF2-40B4-BE49-F238E27FC236}">
                <a16:creationId xmlns:a16="http://schemas.microsoft.com/office/drawing/2014/main" id="{C9758848-D537-4A93-BA3C-D64939A7464C}"/>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History choices</a:t>
            </a:r>
          </a:p>
        </p:txBody>
      </p:sp>
      <p:sp>
        <p:nvSpPr>
          <p:cNvPr id="10" name="left_body">
            <a:extLst xmlns:a="http://schemas.openxmlformats.org/drawingml/2006/main">
              <a:ext uri="{FF2B5EF4-FFF2-40B4-BE49-F238E27FC236}">
                <a16:creationId xmlns:a16="http://schemas.microsoft.com/office/drawing/2014/main" id="{DB04A4A8-BCE9-4948-A036-FD66BE2A97DE}"/>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dim_&lt;entity&gt;_&lt;brand&gt;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Examples: dim_customer_ageas, dim_vehicle_ageas, dim_policy_ageas.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Brand-neutral examples: dim_date, dim_postcode, dim_municipality, dim_district.</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Use a surrogate key when records need independent identity across source key changes or history versions. Retain the business key as an attribute.</a:t>
            </a:r>
          </a:p>
        </p:txBody>
      </p:sp>
      <p:sp>
        <p:nvSpPr>
          <p:cNvPr id="11" name="right_body">
            <a:extLst xmlns:a="http://schemas.openxmlformats.org/drawingml/2006/main">
              <a:ext uri="{FF2B5EF4-FFF2-40B4-BE49-F238E27FC236}">
                <a16:creationId xmlns:a16="http://schemas.microsoft.com/office/drawing/2014/main" id="{368904F2-BB48-4D18-AAC1-E897C857AA40}"/>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Type 1: correct or replace an attribute without version history, with approval for the information lost.</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Type 2: create a new row for a material change; use valid_from, valid_to and is_current. Make date boundaries non-overlapping.</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Facts reference the dimension version valid at the event date. Document unknown and late-arriving member handling.</a:t>
            </a:r>
          </a:p>
        </p:txBody>
      </p:sp>
    </p:spTree>
    <p:extLst>
      <p:ext uri="{BB962C8B-B14F-4D97-AF65-F5344CB8AC3E}">
        <p14:creationId xmlns:p14="http://schemas.microsoft.com/office/powerpoint/2010/main" val="14247624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EC3B08C-4BF9-4DCB-8794-33974A7A8FB7}"/>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4F99DD-22D6-44BE-8D2E-73FCAF15FA71}"/>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28977e0cfd6451e"/>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F6CA208B-6EE0-4D03-B7E8-C89BB3B39607}"/>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10</a:t>
            </a:r>
          </a:p>
        </p:txBody>
      </p:sp>
      <p:sp>
        <p:nvSpPr>
          <p:cNvPr id="5" name="title">
            <a:extLst xmlns:a="http://schemas.openxmlformats.org/drawingml/2006/main">
              <a:ext uri="{FF2B5EF4-FFF2-40B4-BE49-F238E27FC236}">
                <a16:creationId xmlns:a16="http://schemas.microsoft.com/office/drawing/2014/main" id="{82ECAE35-3B8F-4960-9484-64B4E039805B}"/>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Facts: grain, keys and measures</a:t>
            </a:r>
          </a:p>
        </p:txBody>
      </p:sp>
      <p:sp>
        <p:nvSpPr>
          <p:cNvPr id="6" name="text">
            <a:extLst xmlns:a="http://schemas.openxmlformats.org/drawingml/2006/main">
              <a:ext uri="{FF2B5EF4-FFF2-40B4-BE49-F238E27FC236}">
                <a16:creationId xmlns:a16="http://schemas.microsoft.com/office/drawing/2014/main" id="{973B84E7-D000-4D81-928D-A6455ADC4D28}"/>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F8AD0C48-546B-4E18-95E0-093E0EC27ED5}"/>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44425AC-01E9-4D45-AFC3-1C2D99B782FC}"/>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Required grain statement</a:t>
            </a:r>
          </a:p>
        </p:txBody>
      </p:sp>
      <p:sp>
        <p:nvSpPr>
          <p:cNvPr id="9" name="text">
            <a:extLst xmlns:a="http://schemas.openxmlformats.org/drawingml/2006/main">
              <a:ext uri="{FF2B5EF4-FFF2-40B4-BE49-F238E27FC236}">
                <a16:creationId xmlns:a16="http://schemas.microsoft.com/office/drawing/2014/main" id="{FB792813-92D4-4864-B6C4-74816A58E757}"/>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Measure rules</a:t>
            </a:r>
          </a:p>
        </p:txBody>
      </p:sp>
      <p:sp>
        <p:nvSpPr>
          <p:cNvPr id="10" name="left_body">
            <a:extLst xmlns:a="http://schemas.openxmlformats.org/drawingml/2006/main">
              <a:ext uri="{FF2B5EF4-FFF2-40B4-BE49-F238E27FC236}">
                <a16:creationId xmlns:a16="http://schemas.microsoft.com/office/drawing/2014/main" id="{70B82914-51D0-48ED-816A-8F3897D5CB3F}"/>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fact_&lt;entity&gt;_&lt;brand&gt;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Examples: fact_claims_ageas, fact_policies_ageas, fact_premiums_ageas, fact_payments_ageas.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Document one row’s meaning before adding measures. For example: one claim transaction per claim_number, transaction_id and posting_date.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Enforce the resulting business key in quality checks.</a:t>
            </a:r>
          </a:p>
        </p:txBody>
      </p:sp>
      <p:sp>
        <p:nvSpPr>
          <p:cNvPr id="11" name="right_body">
            <a:extLst xmlns:a="http://schemas.openxmlformats.org/drawingml/2006/main">
              <a:ext uri="{FF2B5EF4-FFF2-40B4-BE49-F238E27FC236}">
                <a16:creationId xmlns:a16="http://schemas.microsoft.com/office/drawing/2014/main" id="{6CD3C48A-AC14-4CFD-A17C-04FA8214C947}"/>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Additive: paid_amount can sum across claim, period and brand when currency is aligned.</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Semi-additive: closing_reserve_amount sums across claims for a snapshot date, but not across dates.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Non-additive: loss_ratio must be recomputed as total incurred / total earned premium. Do not sum or average row ratios without an explicit weighting rule.</a:t>
            </a:r>
          </a:p>
        </p:txBody>
      </p:sp>
    </p:spTree>
    <p:extLst>
      <p:ext uri="{BB962C8B-B14F-4D97-AF65-F5344CB8AC3E}">
        <p14:creationId xmlns:p14="http://schemas.microsoft.com/office/powerpoint/2010/main" val="17311949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BDD920-D3F9-466C-84AC-E7BA82F8433B}"/>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6BD56B-133F-44E7-96F2-26E401FAECCE}"/>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e1eb7bb2d5c4bc1"/>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36801344-F219-48F7-B6DE-E259F5D5240E}"/>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11</a:t>
            </a:r>
          </a:p>
        </p:txBody>
      </p:sp>
      <p:sp>
        <p:nvSpPr>
          <p:cNvPr id="5" name="title">
            <a:extLst xmlns:a="http://schemas.openxmlformats.org/drawingml/2006/main">
              <a:ext uri="{FF2B5EF4-FFF2-40B4-BE49-F238E27FC236}">
                <a16:creationId xmlns:a16="http://schemas.microsoft.com/office/drawing/2014/main" id="{DF595E01-A7DD-46C3-8DFD-7D641F1D82FB}"/>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Aggregates and reporting</a:t>
            </a:r>
          </a:p>
        </p:txBody>
      </p:sp>
      <p:sp>
        <p:nvSpPr>
          <p:cNvPr id="6" name="text">
            <a:extLst xmlns:a="http://schemas.openxmlformats.org/drawingml/2006/main">
              <a:ext uri="{FF2B5EF4-FFF2-40B4-BE49-F238E27FC236}">
                <a16:creationId xmlns:a16="http://schemas.microsoft.com/office/drawing/2014/main" id="{6FC980EA-448E-443A-998C-F136276D2E28}"/>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467A93D7-AA8F-410F-8DD8-A482DA6190EA}"/>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7EC468B-819E-4185-B0A7-C4E97BA2515F}"/>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Pattern and examples</a:t>
            </a:r>
          </a:p>
        </p:txBody>
      </p:sp>
      <p:sp>
        <p:nvSpPr>
          <p:cNvPr id="9" name="text">
            <a:extLst xmlns:a="http://schemas.openxmlformats.org/drawingml/2006/main">
              <a:ext uri="{FF2B5EF4-FFF2-40B4-BE49-F238E27FC236}">
                <a16:creationId xmlns:a16="http://schemas.microsoft.com/office/drawing/2014/main" id="{7436CACB-1121-433C-9B34-4F58BEA369AF}"/>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Design controls</a:t>
            </a:r>
          </a:p>
        </p:txBody>
      </p:sp>
      <p:sp>
        <p:nvSpPr>
          <p:cNvPr id="10" name="left_body">
            <a:extLst xmlns:a="http://schemas.openxmlformats.org/drawingml/2006/main">
              <a:ext uri="{FF2B5EF4-FFF2-40B4-BE49-F238E27FC236}">
                <a16:creationId xmlns:a16="http://schemas.microsoft.com/office/drawing/2014/main" id="{79EF620D-7510-42DB-92AA-CBF8F6D3725B}"/>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agg_&lt;entity&gt;_&lt;granularity&gt;_&lt;brand&gt;</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agg_claims_month_ageas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agg_claims_year_ageas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agg_portfolio_month_ageas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agg_vehicle_sales_month_ageas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Use a physical aggregate only when a measured workload needs lower latency or fixed certified reporting logic.</a:t>
            </a:r>
          </a:p>
        </p:txBody>
      </p:sp>
      <p:sp>
        <p:nvSpPr>
          <p:cNvPr id="11" name="right_body">
            <a:extLst xmlns:a="http://schemas.openxmlformats.org/drawingml/2006/main">
              <a:ext uri="{FF2B5EF4-FFF2-40B4-BE49-F238E27FC236}">
                <a16:creationId xmlns:a16="http://schemas.microsoft.com/office/drawing/2014/main" id="{3CF882A4-361B-455E-9193-2F12991D2884}"/>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Record each grouping key, included and excluded population, metric formula, refresh schedule and reconciliation against the source fact.</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Store month as a DATE at month start, or as a documented month key. Distinguish transaction month, occurrence month and reporting month.</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Avoid aggregates that duplicate a cheap query without a clear owner or consumer.</a:t>
            </a:r>
          </a:p>
        </p:txBody>
      </p:sp>
    </p:spTree>
    <p:extLst>
      <p:ext uri="{BB962C8B-B14F-4D97-AF65-F5344CB8AC3E}">
        <p14:creationId xmlns:p14="http://schemas.microsoft.com/office/powerpoint/2010/main" val="11317872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E877BC8-6F4E-4A2F-9138-6776BD65EC94}"/>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32B846-447D-487B-966F-92F9E25EE568}"/>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07213e4f7384845"/>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F5544141-4042-4203-90A9-0E42C3F1E68A}"/>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12</a:t>
            </a:r>
          </a:p>
        </p:txBody>
      </p:sp>
      <p:sp>
        <p:nvSpPr>
          <p:cNvPr id="5" name="title">
            <a:extLst xmlns:a="http://schemas.openxmlformats.org/drawingml/2006/main">
              <a:ext uri="{FF2B5EF4-FFF2-40B4-BE49-F238E27FC236}">
                <a16:creationId xmlns:a16="http://schemas.microsoft.com/office/drawing/2014/main" id="{5E899B58-0D50-4AB4-947D-62648AC01CE2}"/>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Snapshots and historical state</a:t>
            </a:r>
          </a:p>
        </p:txBody>
      </p:sp>
      <p:sp>
        <p:nvSpPr>
          <p:cNvPr id="6" name="text">
            <a:extLst xmlns:a="http://schemas.openxmlformats.org/drawingml/2006/main">
              <a:ext uri="{FF2B5EF4-FFF2-40B4-BE49-F238E27FC236}">
                <a16:creationId xmlns:a16="http://schemas.microsoft.com/office/drawing/2014/main" id="{2392624A-618A-443C-A48A-B4EDAD7E6FA4}"/>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7ACD7005-46D8-4960-90A9-BC65F7BA1426}"/>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E27384E-49CD-4212-9C10-4A72E3B3E5D2}"/>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Pattern and use</a:t>
            </a:r>
          </a:p>
        </p:txBody>
      </p:sp>
      <p:sp>
        <p:nvSpPr>
          <p:cNvPr id="9" name="text">
            <a:extLst xmlns:a="http://schemas.openxmlformats.org/drawingml/2006/main">
              <a:ext uri="{FF2B5EF4-FFF2-40B4-BE49-F238E27FC236}">
                <a16:creationId xmlns:a16="http://schemas.microsoft.com/office/drawing/2014/main" id="{ABA091DB-6FD4-4BFF-B6FC-121CA6439DAB}"/>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Audit requirements</a:t>
            </a:r>
          </a:p>
        </p:txBody>
      </p:sp>
      <p:sp>
        <p:nvSpPr>
          <p:cNvPr id="10" name="left_body">
            <a:extLst xmlns:a="http://schemas.openxmlformats.org/drawingml/2006/main">
              <a:ext uri="{FF2B5EF4-FFF2-40B4-BE49-F238E27FC236}">
                <a16:creationId xmlns:a16="http://schemas.microsoft.com/office/drawing/2014/main" id="{F47344F5-F3BB-4031-B586-33C9E4FEB902}"/>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snap_&lt;entity&gt;_&lt;brand&gt;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Examples: snap_portfolio_ageas, snap_claim_reserves_ageas.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One row states the entity’s condition at an explicit snapshot_date or as_of_timestamp. A monthly portfolio snapshot can support point-in-time counts and balances.</a:t>
            </a:r>
          </a:p>
        </p:txBody>
      </p:sp>
      <p:sp>
        <p:nvSpPr>
          <p:cNvPr id="11" name="right_body">
            <a:extLst xmlns:a="http://schemas.openxmlformats.org/drawingml/2006/main">
              <a:ext uri="{FF2B5EF4-FFF2-40B4-BE49-F238E27FC236}">
                <a16:creationId xmlns:a16="http://schemas.microsoft.com/office/drawing/2014/main" id="{DD12BA9D-138C-4336-B197-F2DD10B9E719}"/>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Document cutoff time, time zone, source extraction time, late-arriving data policy and whether prior snapshots may be restated.</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 reserve snapshot must distinguish booked amount, incurred amount, paid amount and valuation date.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Regulatory reports require a frozen version, sign-off, retention period and reproducible source lineage.</a:t>
            </a:r>
          </a:p>
        </p:txBody>
      </p:sp>
    </p:spTree>
    <p:extLst>
      <p:ext uri="{BB962C8B-B14F-4D97-AF65-F5344CB8AC3E}">
        <p14:creationId xmlns:p14="http://schemas.microsoft.com/office/powerpoint/2010/main" val="18983658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E200E4F-992B-4250-AC08-07D45814D5D9}"/>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06AB3C-D76E-47AD-83FE-73D3FA8DE08B}"/>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dc9becdc202471c"/>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C6FB8C77-56BC-4E02-8028-B6F5A2B38964}"/>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13</a:t>
            </a:r>
          </a:p>
        </p:txBody>
      </p:sp>
      <p:sp>
        <p:nvSpPr>
          <p:cNvPr id="5" name="title">
            <a:extLst xmlns:a="http://schemas.openxmlformats.org/drawingml/2006/main">
              <a:ext uri="{FF2B5EF4-FFF2-40B4-BE49-F238E27FC236}">
                <a16:creationId xmlns:a16="http://schemas.microsoft.com/office/drawing/2014/main" id="{5D91695C-A7E0-49F7-882A-28C16865B17E}"/>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Reference and work tables</a:t>
            </a:r>
          </a:p>
        </p:txBody>
      </p:sp>
      <p:sp>
        <p:nvSpPr>
          <p:cNvPr id="6" name="text">
            <a:extLst xmlns:a="http://schemas.openxmlformats.org/drawingml/2006/main">
              <a:ext uri="{FF2B5EF4-FFF2-40B4-BE49-F238E27FC236}">
                <a16:creationId xmlns:a16="http://schemas.microsoft.com/office/drawing/2014/main" id="{7E094834-7B83-4CE6-A5EA-53D4DEEBFC60}"/>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380BC7E9-913C-449A-A09F-73B876485D8B}"/>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0C05CD56-63F1-4B0B-8DDE-96208BF25417}"/>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Reference tables</a:t>
            </a:r>
          </a:p>
        </p:txBody>
      </p:sp>
      <p:sp>
        <p:nvSpPr>
          <p:cNvPr id="9" name="text">
            <a:extLst xmlns:a="http://schemas.openxmlformats.org/drawingml/2006/main">
              <a:ext uri="{FF2B5EF4-FFF2-40B4-BE49-F238E27FC236}">
                <a16:creationId xmlns:a16="http://schemas.microsoft.com/office/drawing/2014/main" id="{91F80E0E-4FB8-4133-9CCA-86D9F1DE3F50}"/>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Work tables</a:t>
            </a:r>
          </a:p>
        </p:txBody>
      </p:sp>
      <p:sp>
        <p:nvSpPr>
          <p:cNvPr id="10" name="left_body">
            <a:extLst xmlns:a="http://schemas.openxmlformats.org/drawingml/2006/main">
              <a:ext uri="{FF2B5EF4-FFF2-40B4-BE49-F238E27FC236}">
                <a16:creationId xmlns:a16="http://schemas.microsoft.com/office/drawing/2014/main" id="{B8984CE7-B65F-4602-B175-BC19567576C8}"/>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ref_&lt;entity&gt;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Examples: ref_fuel_type, ref_claim_status, ref_region, ref_vehicle_segment.</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Govern the code, label, meaning, effective period, status and owner. Map multiple source codes without discarding original values.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Treat genuinely enterprise-wide master data separately when it requires entity resolution and stewardship.</a:t>
            </a:r>
          </a:p>
        </p:txBody>
      </p:sp>
      <p:sp>
        <p:nvSpPr>
          <p:cNvPr id="11" name="right_body">
            <a:extLst xmlns:a="http://schemas.openxmlformats.org/drawingml/2006/main">
              <a:ext uri="{FF2B5EF4-FFF2-40B4-BE49-F238E27FC236}">
                <a16:creationId xmlns:a16="http://schemas.microsoft.com/office/drawing/2014/main" id="{C86506B0-B270-4BAF-AAFD-2957FD8B11FE}"/>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wrk_&lt;entity&gt;_&lt;process&gt;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Examples: wrk_claim_matching, wrk_vehicle_deduplication, wrk_customer_enrichment.</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Use for recoverable intermediate jobs. Assign a job owner, run identifier and short retention or cleanup schedule.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Never publish wrk tables as stable BI interfaces. Remove them after reconciliation or document an approved operational need.</a:t>
            </a:r>
          </a:p>
        </p:txBody>
      </p:sp>
    </p:spTree>
    <p:extLst>
      <p:ext uri="{BB962C8B-B14F-4D97-AF65-F5344CB8AC3E}">
        <p14:creationId xmlns:p14="http://schemas.microsoft.com/office/powerpoint/2010/main" val="153699144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268D92-1D1F-4B9B-9AB5-203360A3E279}"/>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0904E5-A559-47ED-B608-8D79F617866C}"/>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a2d294370dd40e1"/>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2F8ABEE1-D9E4-4AF3-9759-BE89BAF556D7}"/>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14</a:t>
            </a:r>
          </a:p>
        </p:txBody>
      </p:sp>
      <p:sp>
        <p:nvSpPr>
          <p:cNvPr id="5" name="title">
            <a:extLst xmlns:a="http://schemas.openxmlformats.org/drawingml/2006/main">
              <a:ext uri="{FF2B5EF4-FFF2-40B4-BE49-F238E27FC236}">
                <a16:creationId xmlns:a16="http://schemas.microsoft.com/office/drawing/2014/main" id="{0E094CF9-1B1E-4B35-A3AB-133E719E3F69}"/>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Data types: identifiers and dates</a:t>
            </a:r>
          </a:p>
        </p:txBody>
      </p:sp>
      <p:sp>
        <p:nvSpPr>
          <p:cNvPr id="6" name="text">
            <a:extLst xmlns:a="http://schemas.openxmlformats.org/drawingml/2006/main">
              <a:ext uri="{FF2B5EF4-FFF2-40B4-BE49-F238E27FC236}">
                <a16:creationId xmlns:a16="http://schemas.microsoft.com/office/drawing/2014/main" id="{99BF62ED-9765-4557-A721-2615CE7C315E}"/>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A1C795EA-943E-45C8-8B01-F276D9B5D5DC}"/>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B95696B-1C43-4AB5-9590-E81100ADDA95}"/>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Identifiers</a:t>
            </a:r>
          </a:p>
        </p:txBody>
      </p:sp>
      <p:sp>
        <p:nvSpPr>
          <p:cNvPr id="9" name="text">
            <a:extLst xmlns:a="http://schemas.openxmlformats.org/drawingml/2006/main">
              <a:ext uri="{FF2B5EF4-FFF2-40B4-BE49-F238E27FC236}">
                <a16:creationId xmlns:a16="http://schemas.microsoft.com/office/drawing/2014/main" id="{5961424A-01F1-4CD8-9001-E1EA93ABD9D8}"/>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Dates and timestamps</a:t>
            </a:r>
          </a:p>
        </p:txBody>
      </p:sp>
      <p:sp>
        <p:nvSpPr>
          <p:cNvPr id="10" name="left_body">
            <a:extLst xmlns:a="http://schemas.openxmlformats.org/drawingml/2006/main">
              <a:ext uri="{FF2B5EF4-FFF2-40B4-BE49-F238E27FC236}">
                <a16:creationId xmlns:a16="http://schemas.microsoft.com/office/drawing/2014/main" id="{0DBFE5B4-951E-4B43-9DDF-3A10E82F636E}"/>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Policy, claim, customer, vehicle and external identifiers: STRING.</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Postcodes, registration plates and tax numbers: STRING.</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STRING preserves leading zeros, embedded characters and source-specific formats. Normalize for matching in separate derived fields, while keeping the original.</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Surrogate keys may use BIGINT or STRING with a documented generator.</a:t>
            </a:r>
          </a:p>
        </p:txBody>
      </p:sp>
      <p:sp>
        <p:nvSpPr>
          <p:cNvPr id="11" name="right_body">
            <a:extLst xmlns:a="http://schemas.openxmlformats.org/drawingml/2006/main">
              <a:ext uri="{FF2B5EF4-FFF2-40B4-BE49-F238E27FC236}">
                <a16:creationId xmlns:a16="http://schemas.microsoft.com/office/drawing/2014/main" id="{8FB9CCB0-D35D-44EB-A60C-01B76BED09D2}"/>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Calendar dates: DATE. Event and processing instants: TIMESTAMP.</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Record the source time zone and convert instants to UTC by policy. A local business date remains a DATE even when derived from an instant.</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Reject impossible dates and log parse failures. Do not use formatted text dates as analytical columns.</a:t>
            </a:r>
          </a:p>
        </p:txBody>
      </p:sp>
    </p:spTree>
    <p:extLst>
      <p:ext uri="{BB962C8B-B14F-4D97-AF65-F5344CB8AC3E}">
        <p14:creationId xmlns:p14="http://schemas.microsoft.com/office/powerpoint/2010/main" val="9009124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BAD500B-995D-46C3-9914-2FA1E4D71D00}"/>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10954E-57DF-465F-A544-B81B9337F765}"/>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ac81d7165ef4f68"/>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4839184A-6F96-497B-BEF8-03A003FFBB72}"/>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15</a:t>
            </a:r>
          </a:p>
        </p:txBody>
      </p:sp>
      <p:sp>
        <p:nvSpPr>
          <p:cNvPr id="5" name="title">
            <a:extLst xmlns:a="http://schemas.openxmlformats.org/drawingml/2006/main">
              <a:ext uri="{FF2B5EF4-FFF2-40B4-BE49-F238E27FC236}">
                <a16:creationId xmlns:a16="http://schemas.microsoft.com/office/drawing/2014/main" id="{B538E052-A755-401B-89C8-CA4B8B673528}"/>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Data types: amounts and rates</a:t>
            </a:r>
          </a:p>
        </p:txBody>
      </p:sp>
      <p:sp>
        <p:nvSpPr>
          <p:cNvPr id="6" name="text">
            <a:extLst xmlns:a="http://schemas.openxmlformats.org/drawingml/2006/main">
              <a:ext uri="{FF2B5EF4-FFF2-40B4-BE49-F238E27FC236}">
                <a16:creationId xmlns:a16="http://schemas.microsoft.com/office/drawing/2014/main" id="{8A726B77-152D-494E-AB02-A55E4E088AA0}"/>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C8EE61C1-2D17-4F82-AB15-D8E96B6550C0}"/>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74A4AA33-93D0-4A50-B417-16DE835679B5}"/>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Numeric standard</a:t>
            </a:r>
          </a:p>
        </p:txBody>
      </p:sp>
      <p:sp>
        <p:nvSpPr>
          <p:cNvPr id="9" name="text">
            <a:extLst xmlns:a="http://schemas.openxmlformats.org/drawingml/2006/main">
              <a:ext uri="{FF2B5EF4-FFF2-40B4-BE49-F238E27FC236}">
                <a16:creationId xmlns:a16="http://schemas.microsoft.com/office/drawing/2014/main" id="{7EA79369-3870-486A-A6D7-5255848D6314}"/>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Examples and controls</a:t>
            </a:r>
          </a:p>
        </p:txBody>
      </p:sp>
      <p:sp>
        <p:nvSpPr>
          <p:cNvPr id="10" name="left_body">
            <a:extLst xmlns:a="http://schemas.openxmlformats.org/drawingml/2006/main">
              <a:ext uri="{FF2B5EF4-FFF2-40B4-BE49-F238E27FC236}">
                <a16:creationId xmlns:a16="http://schemas.microsoft.com/office/drawing/2014/main" id="{2895D583-B153-42D2-B551-702B9B585899}"/>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Monetary amounts: DECIMAL(18,2) by default. Include currency_code if data can span currencies. Review precision for unusually large balances or source scales.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Percentages: DECIMAL(10,4). Document storage semantics: a fraction such as 0.1250 means 12.50%, unless a certified measure explicitly stores percentage points.</a:t>
            </a:r>
          </a:p>
        </p:txBody>
      </p:sp>
      <p:sp>
        <p:nvSpPr>
          <p:cNvPr id="11" name="right_body">
            <a:extLst xmlns:a="http://schemas.openxmlformats.org/drawingml/2006/main">
              <a:ext uri="{FF2B5EF4-FFF2-40B4-BE49-F238E27FC236}">
                <a16:creationId xmlns:a16="http://schemas.microsoft.com/office/drawing/2014/main" id="{96829325-D88A-4EA6-998E-08237AC43FF4}"/>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claim_number = "000012345" remains STRING.</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postcode = "0100-001" remains STRING.</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paid_amount = 1234.56 as DECIMAL(18,2).</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loss_ratio = 0.8750 as DECIMAL(10,4).</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Do not use FLOAT or DOUBLE for reconciled currency totals. Define rounding and currency conversion policy outside a single physical type rule.</a:t>
            </a:r>
          </a:p>
        </p:txBody>
      </p:sp>
    </p:spTree>
    <p:extLst>
      <p:ext uri="{BB962C8B-B14F-4D97-AF65-F5344CB8AC3E}">
        <p14:creationId xmlns:p14="http://schemas.microsoft.com/office/powerpoint/2010/main" val="186043161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7602DE-C001-40D2-80E2-DA3B94E2EEC6}"/>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EBB470-7D73-431B-88FE-388D1C6471B8}"/>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f0dd57385a84e49"/>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F0645D4B-B99B-4475-AEF9-5A471CCBCC46}"/>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16</a:t>
            </a:r>
          </a:p>
        </p:txBody>
      </p:sp>
      <p:sp>
        <p:nvSpPr>
          <p:cNvPr id="5" name="title">
            <a:extLst xmlns:a="http://schemas.openxmlformats.org/drawingml/2006/main">
              <a:ext uri="{FF2B5EF4-FFF2-40B4-BE49-F238E27FC236}">
                <a16:creationId xmlns:a16="http://schemas.microsoft.com/office/drawing/2014/main" id="{2F4B89F6-6EBE-4C0C-A106-EFC7ADBD6F4B}"/>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Mandatory technical columns</a:t>
            </a:r>
          </a:p>
        </p:txBody>
      </p:sp>
      <p:sp>
        <p:nvSpPr>
          <p:cNvPr id="6" name="text">
            <a:extLst xmlns:a="http://schemas.openxmlformats.org/drawingml/2006/main">
              <a:ext uri="{FF2B5EF4-FFF2-40B4-BE49-F238E27FC236}">
                <a16:creationId xmlns:a16="http://schemas.microsoft.com/office/drawing/2014/main" id="{CD65A992-B6EA-42B9-A010-E3429316DD38}"/>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48387BE5-B612-4076-AB4A-CD81862C422C}"/>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E893E4CD-2B85-44F5-B96D-249675C3DA16}"/>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Provenance fields</a:t>
            </a:r>
          </a:p>
        </p:txBody>
      </p:sp>
      <p:sp>
        <p:nvSpPr>
          <p:cNvPr id="9" name="text">
            <a:extLst xmlns:a="http://schemas.openxmlformats.org/drawingml/2006/main">
              <a:ext uri="{FF2B5EF4-FFF2-40B4-BE49-F238E27FC236}">
                <a16:creationId xmlns:a16="http://schemas.microsoft.com/office/drawing/2014/main" id="{236C40E9-8308-478C-8E98-2D8C13365F85}"/>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Load and change fields</a:t>
            </a:r>
          </a:p>
        </p:txBody>
      </p:sp>
      <p:sp>
        <p:nvSpPr>
          <p:cNvPr id="10" name="left_body">
            <a:extLst xmlns:a="http://schemas.openxmlformats.org/drawingml/2006/main">
              <a:ext uri="{FF2B5EF4-FFF2-40B4-BE49-F238E27FC236}">
                <a16:creationId xmlns:a16="http://schemas.microsoft.com/office/drawing/2014/main" id="{80C0371E-51F3-4501-A51D-61A8CBBEE9B7}"/>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source_system STRING: approved origin identifier.</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source_file STRING: source object or file path when applicable; NULL only with an API or direct-feed exception.</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Both fields identify an upstream delivery and support investigation of a disputed record. For multi-source core or fact rows, preserve row-level contributing sources in lineage or a companion mapping.</a:t>
            </a:r>
          </a:p>
        </p:txBody>
      </p:sp>
      <p:sp>
        <p:nvSpPr>
          <p:cNvPr id="11" name="right_body">
            <a:extLst xmlns:a="http://schemas.openxmlformats.org/drawingml/2006/main">
              <a:ext uri="{FF2B5EF4-FFF2-40B4-BE49-F238E27FC236}">
                <a16:creationId xmlns:a16="http://schemas.microsoft.com/office/drawing/2014/main" id="{28FA1B6E-B2F5-4560-A952-9761480A8152}"/>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ingestion_date DATE: UTC ingestion calendar date.</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ingestion_timestamp TIMESTAMP: UTC load instant.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record_hash STRING: deterministic digest of documented business payload fields after canonicalization.</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Every persisted analytical table includes these fields. Exclude volatile audit fields from the hash, define null serialization and hash algorithm, and test for repeatability.</a:t>
            </a:r>
          </a:p>
        </p:txBody>
      </p:sp>
    </p:spTree>
    <p:extLst>
      <p:ext uri="{BB962C8B-B14F-4D97-AF65-F5344CB8AC3E}">
        <p14:creationId xmlns:p14="http://schemas.microsoft.com/office/powerpoint/2010/main" val="10309386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C3C7F3B-891E-40AB-A7FB-15476758AF72}"/>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6FEB5B-D86E-4C72-A949-8CD255515667}"/>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8f27531bfd3408e"/>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D4B4FB51-ABE8-4924-ABB4-75C690C6B351}"/>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17</a:t>
            </a:r>
          </a:p>
        </p:txBody>
      </p:sp>
      <p:sp>
        <p:nvSpPr>
          <p:cNvPr id="5" name="title">
            <a:extLst xmlns:a="http://schemas.openxmlformats.org/drawingml/2006/main">
              <a:ext uri="{FF2B5EF4-FFF2-40B4-BE49-F238E27FC236}">
                <a16:creationId xmlns:a16="http://schemas.microsoft.com/office/drawing/2014/main" id="{696E7106-B095-41ED-9B73-CF6E5829C094}"/>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Data quality control framework</a:t>
            </a:r>
          </a:p>
        </p:txBody>
      </p:sp>
      <p:sp>
        <p:nvSpPr>
          <p:cNvPr id="6" name="text">
            <a:extLst xmlns:a="http://schemas.openxmlformats.org/drawingml/2006/main">
              <a:ext uri="{FF2B5EF4-FFF2-40B4-BE49-F238E27FC236}">
                <a16:creationId xmlns:a16="http://schemas.microsoft.com/office/drawing/2014/main" id="{AA35C6BA-CC52-4D22-8314-8368B8D0EDA0}"/>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7BD79DBC-AF99-4B2F-921D-F4974F66DD7F}"/>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D1BF97E6-AA5A-4F1A-A268-A49C74AACD9B}"/>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Minimum assertions</a:t>
            </a:r>
          </a:p>
        </p:txBody>
      </p:sp>
      <p:sp>
        <p:nvSpPr>
          <p:cNvPr id="9" name="text">
            <a:extLst xmlns:a="http://schemas.openxmlformats.org/drawingml/2006/main">
              <a:ext uri="{FF2B5EF4-FFF2-40B4-BE49-F238E27FC236}">
                <a16:creationId xmlns:a16="http://schemas.microsoft.com/office/drawing/2014/main" id="{C49F73D9-DF69-4FA8-8907-67DC96ABD552}"/>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Operational response</a:t>
            </a:r>
          </a:p>
        </p:txBody>
      </p:sp>
      <p:sp>
        <p:nvSpPr>
          <p:cNvPr id="10" name="left_body">
            <a:extLst xmlns:a="http://schemas.openxmlformats.org/drawingml/2006/main">
              <a:ext uri="{FF2B5EF4-FFF2-40B4-BE49-F238E27FC236}">
                <a16:creationId xmlns:a16="http://schemas.microsoft.com/office/drawing/2014/main" id="{0CD37661-8FC5-47FD-A4F7-B98D5AEC7E94}"/>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Null and completeness checks on required fields.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Unique grain keys and duplicate detection.</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Reference and domain membership checks.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Valid date ranges and chronological order.</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Numeric range, sign and reconciliation controls.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Apply controls at ingestion and before a table is certified for use.</a:t>
            </a:r>
          </a:p>
        </p:txBody>
      </p:sp>
      <p:sp>
        <p:nvSpPr>
          <p:cNvPr id="11" name="right_body">
            <a:extLst xmlns:a="http://schemas.openxmlformats.org/drawingml/2006/main">
              <a:ext uri="{FF2B5EF4-FFF2-40B4-BE49-F238E27FC236}">
                <a16:creationId xmlns:a16="http://schemas.microsoft.com/office/drawing/2014/main" id="{E4704E9A-6811-4D1B-978C-B9EE4EBA7375}"/>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Set thresholds by dataset criticality. Fail publication when a critical key or reconciliation test fails. Quarantine suspect records with run and source identifiers.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Publish counts, failure categories, sampled evidence and trend by load. Assign a steward to triage exceptions.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 declared primary key in Unity Catalog does not replace a uniqueness test; PK/FK constraints are informational.</a:t>
            </a:r>
          </a:p>
        </p:txBody>
      </p:sp>
    </p:spTree>
    <p:extLst>
      <p:ext uri="{BB962C8B-B14F-4D97-AF65-F5344CB8AC3E}">
        <p14:creationId xmlns:p14="http://schemas.microsoft.com/office/powerpoint/2010/main" val="12328452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CC8F3C-F5B1-45AC-9958-8885CA07B49C}"/>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F990DB-FD9F-4BB7-BA6D-BB4A7C16154C}"/>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4d19bb2bc6e4b78"/>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4BAEC591-47B7-472C-9DCB-A44DC6FB113E}"/>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18</a:t>
            </a:r>
          </a:p>
        </p:txBody>
      </p:sp>
      <p:sp>
        <p:nvSpPr>
          <p:cNvPr id="5" name="title">
            <a:extLst xmlns:a="http://schemas.openxmlformats.org/drawingml/2006/main">
              <a:ext uri="{FF2B5EF4-FFF2-40B4-BE49-F238E27FC236}">
                <a16:creationId xmlns:a16="http://schemas.microsoft.com/office/drawing/2014/main" id="{E9B04E45-49AE-442A-8957-60B542C6F5FF}"/>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Quality implementation examples</a:t>
            </a:r>
          </a:p>
        </p:txBody>
      </p:sp>
      <p:sp>
        <p:nvSpPr>
          <p:cNvPr id="6" name="text">
            <a:extLst xmlns:a="http://schemas.openxmlformats.org/drawingml/2006/main">
              <a:ext uri="{FF2B5EF4-FFF2-40B4-BE49-F238E27FC236}">
                <a16:creationId xmlns:a16="http://schemas.microsoft.com/office/drawing/2014/main" id="{1B578706-1850-4E6D-804F-A408A5E35FA1}"/>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30781789-F494-4B48-8943-B5A89E4DB3ED}"/>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933C215-08D5-42D0-AF33-CBA6C4D1808C}"/>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Claims grain and integrity</a:t>
            </a:r>
          </a:p>
        </p:txBody>
      </p:sp>
      <p:sp>
        <p:nvSpPr>
          <p:cNvPr id="9" name="text">
            <a:extLst xmlns:a="http://schemas.openxmlformats.org/drawingml/2006/main">
              <a:ext uri="{FF2B5EF4-FFF2-40B4-BE49-F238E27FC236}">
                <a16:creationId xmlns:a16="http://schemas.microsoft.com/office/drawing/2014/main" id="{41FB9487-8885-458A-8E11-67F270072F91}"/>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Range and reconciliation</a:t>
            </a:r>
          </a:p>
        </p:txBody>
      </p:sp>
      <p:sp>
        <p:nvSpPr>
          <p:cNvPr id="10" name="left_body">
            <a:extLst xmlns:a="http://schemas.openxmlformats.org/drawingml/2006/main">
              <a:ext uri="{FF2B5EF4-FFF2-40B4-BE49-F238E27FC236}">
                <a16:creationId xmlns:a16="http://schemas.microsoft.com/office/drawing/2014/main" id="{E0D6D835-A315-4DB6-96E9-B2A77FFDB3DD}"/>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SELECT claim_number, transaction_id, COUNT(*) AS n</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FROM fact_claims_ageas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GROUP BY claim_number, transaction_id</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HAVING COUNT(*) &gt; 1;</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Validate that a fact customer key joins to exactly one applicable dimension version at the event date.</a:t>
            </a:r>
          </a:p>
        </p:txBody>
      </p:sp>
      <p:sp>
        <p:nvSpPr>
          <p:cNvPr id="11" name="right_body">
            <a:extLst xmlns:a="http://schemas.openxmlformats.org/drawingml/2006/main">
              <a:ext uri="{FF2B5EF4-FFF2-40B4-BE49-F238E27FC236}">
                <a16:creationId xmlns:a16="http://schemas.microsoft.com/office/drawing/2014/main" id="{CDDC8F93-6B7B-48A4-951E-5148E7DAE7CB}"/>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Reject payment_date earlier than a valid source-specific floor or later than the permitted future horizon.</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Compare sum(paid_amount) and row count with controlled source totals by file or run, using agreed tolerance.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Retain failed-row details securely and avoid exposing personal data in monitoring dashboards.</a:t>
            </a:r>
          </a:p>
        </p:txBody>
      </p:sp>
    </p:spTree>
    <p:extLst>
      <p:ext uri="{BB962C8B-B14F-4D97-AF65-F5344CB8AC3E}">
        <p14:creationId xmlns:p14="http://schemas.microsoft.com/office/powerpoint/2010/main" val="149552034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A01814C-1757-47E9-9652-C03AC82F6F36}"/>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7ABC4B-88F0-48C6-9865-55C946C2F805}"/>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89bc1d18df44e92"/>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8970719F-DD06-478D-B459-437D25189BAF}"/>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19</a:t>
            </a:r>
          </a:p>
        </p:txBody>
      </p:sp>
      <p:sp>
        <p:nvSpPr>
          <p:cNvPr id="5" name="title">
            <a:extLst xmlns:a="http://schemas.openxmlformats.org/drawingml/2006/main">
              <a:ext uri="{FF2B5EF4-FFF2-40B4-BE49-F238E27FC236}">
                <a16:creationId xmlns:a16="http://schemas.microsoft.com/office/drawing/2014/main" id="{53B9B4F9-B8E7-4071-8CD7-69E9572D14A4}"/>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Delta Lake and table creation</a:t>
            </a:r>
          </a:p>
        </p:txBody>
      </p:sp>
      <p:sp>
        <p:nvSpPr>
          <p:cNvPr id="6" name="text">
            <a:extLst xmlns:a="http://schemas.openxmlformats.org/drawingml/2006/main">
              <a:ext uri="{FF2B5EF4-FFF2-40B4-BE49-F238E27FC236}">
                <a16:creationId xmlns:a16="http://schemas.microsoft.com/office/drawing/2014/main" id="{64704018-4D78-4E65-91C5-00478C5AA6EB}"/>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9ACE50D6-80D2-4222-A2A5-E9BEC257ACCF}"/>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7C145FF-DA19-476E-B6C4-F38B8B3047C1}"/>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Platform default</a:t>
            </a:r>
          </a:p>
        </p:txBody>
      </p:sp>
      <p:sp>
        <p:nvSpPr>
          <p:cNvPr id="9" name="text">
            <a:extLst xmlns:a="http://schemas.openxmlformats.org/drawingml/2006/main">
              <a:ext uri="{FF2B5EF4-FFF2-40B4-BE49-F238E27FC236}">
                <a16:creationId xmlns:a16="http://schemas.microsoft.com/office/drawing/2014/main" id="{BB49951E-69EB-417E-8569-55DD429C1868}"/>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Technical example</a:t>
            </a:r>
          </a:p>
        </p:txBody>
      </p:sp>
      <p:sp>
        <p:nvSpPr>
          <p:cNvPr id="10" name="left_body">
            <a:extLst xmlns:a="http://schemas.openxmlformats.org/drawingml/2006/main">
              <a:ext uri="{FF2B5EF4-FFF2-40B4-BE49-F238E27FC236}">
                <a16:creationId xmlns:a16="http://schemas.microsoft.com/office/drawing/2014/main" id="{7E4DA873-72B9-437E-ACAE-1AAE1F61BDC3}"/>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Create persistent tables USING DELTA in the approved Unity Catalog namespace. Prefer managed tables unless an approved storage or interoperability requirement calls for external tables.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Delta transactions provide atomic writes and consistent reads. Table history and retained files enable time travel within the configured retention window.</a:t>
            </a:r>
          </a:p>
        </p:txBody>
      </p:sp>
      <p:sp>
        <p:nvSpPr>
          <p:cNvPr id="11" name="right_body">
            <a:extLst xmlns:a="http://schemas.openxmlformats.org/drawingml/2006/main">
              <a:ext uri="{FF2B5EF4-FFF2-40B4-BE49-F238E27FC236}">
                <a16:creationId xmlns:a16="http://schemas.microsoft.com/office/drawing/2014/main" id="{04D780D3-52E7-4E66-8BD2-5137D73BF344}"/>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CREATE TABLE &lt;catalog&gt;.&lt;schema&gt;.fact_claims_ageas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  claim_number STRING COMMENT 'Source claim identifier',</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  posting_date DATE,</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  paid_amount DECIMAL(18,2),</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  source_system STRING, source_file STRING,</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  ingestion_date DATE, ingestion_timestamp TIMESTAMP,</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  record_hash STRING</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 USING DELTA</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COMMENT 'Claim transactions at documented grain';</a:t>
            </a:r>
          </a:p>
        </p:txBody>
      </p:sp>
    </p:spTree>
    <p:extLst>
      <p:ext uri="{BB962C8B-B14F-4D97-AF65-F5344CB8AC3E}">
        <p14:creationId xmlns:p14="http://schemas.microsoft.com/office/powerpoint/2010/main" val="111563664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9F0536-BD9E-4583-BA0B-3598AED90292}"/>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2E6E27-2539-4551-A60C-C5E244DAEE0B}"/>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993e1be0aa14132"/>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501DCCAC-1E70-4BF2-A04C-EFF7F246C0DB}"/>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20</a:t>
            </a:r>
          </a:p>
        </p:txBody>
      </p:sp>
      <p:sp>
        <p:nvSpPr>
          <p:cNvPr id="5" name="title">
            <a:extLst xmlns:a="http://schemas.openxmlformats.org/drawingml/2006/main">
              <a:ext uri="{FF2B5EF4-FFF2-40B4-BE49-F238E27FC236}">
                <a16:creationId xmlns:a16="http://schemas.microsoft.com/office/drawing/2014/main" id="{C06FA57B-CD1A-48F5-91B7-93EBA8225884}"/>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Schema evolution and optimization</a:t>
            </a:r>
          </a:p>
        </p:txBody>
      </p:sp>
      <p:sp>
        <p:nvSpPr>
          <p:cNvPr id="6" name="text">
            <a:extLst xmlns:a="http://schemas.openxmlformats.org/drawingml/2006/main">
              <a:ext uri="{FF2B5EF4-FFF2-40B4-BE49-F238E27FC236}">
                <a16:creationId xmlns:a16="http://schemas.microsoft.com/office/drawing/2014/main" id="{2E2235E8-788C-4892-8496-B4325F6DB8D4}"/>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806699FC-E39D-4166-B52B-9C1DC634C561}"/>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73259015-1987-4861-88BA-5D801C9A223A}"/>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Evolution and history</a:t>
            </a:r>
          </a:p>
        </p:txBody>
      </p:sp>
      <p:sp>
        <p:nvSpPr>
          <p:cNvPr id="9" name="text">
            <a:extLst xmlns:a="http://schemas.openxmlformats.org/drawingml/2006/main">
              <a:ext uri="{FF2B5EF4-FFF2-40B4-BE49-F238E27FC236}">
                <a16:creationId xmlns:a16="http://schemas.microsoft.com/office/drawing/2014/main" id="{E19E35A2-DFA4-422F-BA67-27FFE4420125}"/>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Current optimization default</a:t>
            </a:r>
          </a:p>
        </p:txBody>
      </p:sp>
      <p:sp>
        <p:nvSpPr>
          <p:cNvPr id="10" name="left_body">
            <a:extLst xmlns:a="http://schemas.openxmlformats.org/drawingml/2006/main">
              <a:ext uri="{FF2B5EF4-FFF2-40B4-BE49-F238E27FC236}">
                <a16:creationId xmlns:a16="http://schemas.microsoft.com/office/drawing/2014/main" id="{2F03C2A3-E5D4-4C03-B525-76392335BF43}"/>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Use reviewed additive schema changes. Treat renames, drops and type changes as breaking contract changes with consumer impact analysis.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Time travel is bounded by log and deleted-file retention. A VACUUM operation can make older versions unavailable. Set retention from recovery and regulatory needs.</a:t>
            </a:r>
          </a:p>
        </p:txBody>
      </p:sp>
      <p:sp>
        <p:nvSpPr>
          <p:cNvPr id="11" name="right_body">
            <a:extLst xmlns:a="http://schemas.openxmlformats.org/drawingml/2006/main">
              <a:ext uri="{FF2B5EF4-FFF2-40B4-BE49-F238E27FC236}">
                <a16:creationId xmlns:a16="http://schemas.microsoft.com/office/drawing/2014/main" id="{2E334E43-729D-4BDF-8935-9CE568B387CA}"/>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For Unity Catalog managed tables, use predictive optimization where supported to run OPTIMIZE, VACUUM and ANALYZE. Consider liquid clustering for new large tables after measuring filter patterns.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Do not apply legacy optimizeWrite or autoCompact settings globally. On workloads that need them, test and document `delta.autoOptimize.optimizeWrite` and `delta.autoOptimize.autoCompact` as table-level exceptions.</a:t>
            </a:r>
          </a:p>
        </p:txBody>
      </p:sp>
    </p:spTree>
    <p:extLst>
      <p:ext uri="{BB962C8B-B14F-4D97-AF65-F5344CB8AC3E}">
        <p14:creationId xmlns:p14="http://schemas.microsoft.com/office/powerpoint/2010/main" val="137455707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A82306F-D5D3-42B4-91AC-E7B859DC9DA4}"/>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B74298-AA3C-41DD-8E2C-18D4975033AA}"/>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bf7a1f26a894f95"/>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049F25BA-B667-4DF5-9B11-BC8A1CFCA0D4}"/>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21</a:t>
            </a:r>
          </a:p>
        </p:txBody>
      </p:sp>
      <p:sp>
        <p:nvSpPr>
          <p:cNvPr id="5" name="title">
            <a:extLst xmlns:a="http://schemas.openxmlformats.org/drawingml/2006/main">
              <a:ext uri="{FF2B5EF4-FFF2-40B4-BE49-F238E27FC236}">
                <a16:creationId xmlns:a16="http://schemas.microsoft.com/office/drawing/2014/main" id="{D12B8435-2D40-4F74-AA8A-D63934095D9E}"/>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Documentation contract</a:t>
            </a:r>
          </a:p>
        </p:txBody>
      </p:sp>
      <p:sp>
        <p:nvSpPr>
          <p:cNvPr id="6" name="text">
            <a:extLst xmlns:a="http://schemas.openxmlformats.org/drawingml/2006/main">
              <a:ext uri="{FF2B5EF4-FFF2-40B4-BE49-F238E27FC236}">
                <a16:creationId xmlns:a16="http://schemas.microsoft.com/office/drawing/2014/main" id="{72962CD9-E8F7-4C9B-9F66-B922727DCA7B}"/>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418D0B75-A5F9-40A3-924B-6F48488CBA65}"/>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CC3B267-E6A3-47F2-B72E-29F3ADCE94B6}"/>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Required metadata</a:t>
            </a:r>
          </a:p>
        </p:txBody>
      </p:sp>
      <p:sp>
        <p:nvSpPr>
          <p:cNvPr id="9" name="text">
            <a:extLst xmlns:a="http://schemas.openxmlformats.org/drawingml/2006/main">
              <a:ext uri="{FF2B5EF4-FFF2-40B4-BE49-F238E27FC236}">
                <a16:creationId xmlns:a16="http://schemas.microsoft.com/office/drawing/2014/main" id="{AA984CE3-6EB4-4FC8-9564-DFCB75DACBBE}"/>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Example and stewardship</a:t>
            </a:r>
          </a:p>
        </p:txBody>
      </p:sp>
      <p:sp>
        <p:nvSpPr>
          <p:cNvPr id="10" name="left_body">
            <a:extLst xmlns:a="http://schemas.openxmlformats.org/drawingml/2006/main">
              <a:ext uri="{FF2B5EF4-FFF2-40B4-BE49-F238E27FC236}">
                <a16:creationId xmlns:a16="http://schemas.microsoft.com/office/drawing/2014/main" id="{AFD13419-B891-4FC9-99DA-D48DEA16945D}"/>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Every published table has a plain-language purpose, grain, source systems, business owner, technical owner, refresh frequency, sensitivity classification and SLA where applicable.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Every business column has a definition, type, units, allowed values or reference, null meaning and calculation rule.</a:t>
            </a:r>
          </a:p>
        </p:txBody>
      </p:sp>
      <p:sp>
        <p:nvSpPr>
          <p:cNvPr id="11" name="right_body">
            <a:extLst xmlns:a="http://schemas.openxmlformats.org/drawingml/2006/main">
              <a:ext uri="{FF2B5EF4-FFF2-40B4-BE49-F238E27FC236}">
                <a16:creationId xmlns:a16="http://schemas.microsoft.com/office/drawing/2014/main" id="{46D1656F-D0AB-4174-9FEC-B6BA1BFF4011}"/>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Table: fact_claims_ageas. “One row per claim payment transaction at posting date; excludes reversed postings until netted by the certified rule.”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paid_amount: “Signed amount in transaction currency, two decimal places.”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Store SQL comments in Unity Catalog and link a maintained glossary or contract for longer rules. Review metadata on each material model change.</a:t>
            </a:r>
          </a:p>
        </p:txBody>
      </p:sp>
    </p:spTree>
    <p:extLst>
      <p:ext uri="{BB962C8B-B14F-4D97-AF65-F5344CB8AC3E}">
        <p14:creationId xmlns:p14="http://schemas.microsoft.com/office/powerpoint/2010/main" val="56626774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309C575-8581-4A25-B100-3B50C14E3DCA}"/>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42F953-92AD-41E9-A19E-780E5A33A660}"/>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be1a05687cb4f07"/>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84B90960-1E60-4417-B85E-C935707E8B90}"/>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22</a:t>
            </a:r>
          </a:p>
        </p:txBody>
      </p:sp>
      <p:sp>
        <p:nvSpPr>
          <p:cNvPr id="5" name="title">
            <a:extLst xmlns:a="http://schemas.openxmlformats.org/drawingml/2006/main">
              <a:ext uri="{FF2B5EF4-FFF2-40B4-BE49-F238E27FC236}">
                <a16:creationId xmlns:a16="http://schemas.microsoft.com/office/drawing/2014/main" id="{FA182CCA-6D2A-46DB-848B-5A3FEC2454FB}"/>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Governance and access</a:t>
            </a:r>
          </a:p>
        </p:txBody>
      </p:sp>
      <p:sp>
        <p:nvSpPr>
          <p:cNvPr id="6" name="text">
            <a:extLst xmlns:a="http://schemas.openxmlformats.org/drawingml/2006/main">
              <a:ext uri="{FF2B5EF4-FFF2-40B4-BE49-F238E27FC236}">
                <a16:creationId xmlns:a16="http://schemas.microsoft.com/office/drawing/2014/main" id="{25648B20-F7F4-428F-815F-08E705FFC563}"/>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D2B32AB4-DEB6-443E-A556-11BF8195A360}"/>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E3F079F0-5366-434C-997D-011FAFBDE832}"/>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Accountability</a:t>
            </a:r>
          </a:p>
        </p:txBody>
      </p:sp>
      <p:sp>
        <p:nvSpPr>
          <p:cNvPr id="9" name="text">
            <a:extLst xmlns:a="http://schemas.openxmlformats.org/drawingml/2006/main">
              <a:ext uri="{FF2B5EF4-FFF2-40B4-BE49-F238E27FC236}">
                <a16:creationId xmlns:a16="http://schemas.microsoft.com/office/drawing/2014/main" id="{E7D876C5-905D-4D18-B67F-3098BC4E8B0B}"/>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Unity Catalog controls</a:t>
            </a:r>
          </a:p>
        </p:txBody>
      </p:sp>
      <p:sp>
        <p:nvSpPr>
          <p:cNvPr id="10" name="left_body">
            <a:extLst xmlns:a="http://schemas.openxmlformats.org/drawingml/2006/main">
              <a:ext uri="{FF2B5EF4-FFF2-40B4-BE49-F238E27FC236}">
                <a16:creationId xmlns:a16="http://schemas.microsoft.com/office/drawing/2014/main" id="{798A91FA-7760-427F-B527-314CDCF5C973}"/>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 business owner approves meaning, acceptable use and quality thresholds. A technical owner maintains pipeline, schema, recovery and performance. A data steward resolves definitions and data issues.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Record named roles or groups in an inventory. Ownership transfer follows the operational change process.</a:t>
            </a:r>
          </a:p>
        </p:txBody>
      </p:sp>
      <p:sp>
        <p:nvSpPr>
          <p:cNvPr id="11" name="right_body">
            <a:extLst xmlns:a="http://schemas.openxmlformats.org/drawingml/2006/main">
              <a:ext uri="{FF2B5EF4-FFF2-40B4-BE49-F238E27FC236}">
                <a16:creationId xmlns:a16="http://schemas.microsoft.com/office/drawing/2014/main" id="{AB0AB439-7EE2-4D52-ACDA-D43D8B55F665}"/>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Grant privileges to groups on a least-privilege basis. Classify sensitive columns and use approved row or column controls where required.</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Review table and column lineage, transformation code, job run records and access logs for audit.</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Apply retention, privacy and insurance regulatory rules through the organization’s legal and security policies.</a:t>
            </a:r>
          </a:p>
        </p:txBody>
      </p:sp>
    </p:spTree>
    <p:extLst>
      <p:ext uri="{BB962C8B-B14F-4D97-AF65-F5344CB8AC3E}">
        <p14:creationId xmlns:p14="http://schemas.microsoft.com/office/powerpoint/2010/main" val="6619594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2E0A2F-065F-4447-977D-DB9E7611C909}"/>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9EC27F-968F-4A95-A5AB-57929F1A6DAE}"/>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e761c144ad54c9b"/>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89E3EFC5-049A-4EAC-B72D-06C84093E91F}"/>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23</a:t>
            </a:r>
          </a:p>
        </p:txBody>
      </p:sp>
      <p:sp>
        <p:nvSpPr>
          <p:cNvPr id="5" name="title">
            <a:extLst xmlns:a="http://schemas.openxmlformats.org/drawingml/2006/main">
              <a:ext uri="{FF2B5EF4-FFF2-40B4-BE49-F238E27FC236}">
                <a16:creationId xmlns:a16="http://schemas.microsoft.com/office/drawing/2014/main" id="{F7EAB577-31E6-48B5-8BEE-43BBE0B2C6BF}"/>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ACAP vehicle sales journey</a:t>
            </a:r>
          </a:p>
        </p:txBody>
      </p:sp>
      <p:sp>
        <p:nvSpPr>
          <p:cNvPr id="6" name="text">
            <a:extLst xmlns:a="http://schemas.openxmlformats.org/drawingml/2006/main">
              <a:ext uri="{FF2B5EF4-FFF2-40B4-BE49-F238E27FC236}">
                <a16:creationId xmlns:a16="http://schemas.microsoft.com/office/drawing/2014/main" id="{206EF44B-F7AC-4E21-AA95-20056B1999D6}"/>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ACA97830-B958-45FC-A94C-7074D75A1089}"/>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36EF33B3-46FF-4BF1-8E5E-358F9A46A8AC}"/>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Source and harmonization</a:t>
            </a:r>
          </a:p>
        </p:txBody>
      </p:sp>
      <p:sp>
        <p:nvSpPr>
          <p:cNvPr id="9" name="text">
            <a:extLst xmlns:a="http://schemas.openxmlformats.org/drawingml/2006/main">
              <a:ext uri="{FF2B5EF4-FFF2-40B4-BE49-F238E27FC236}">
                <a16:creationId xmlns:a16="http://schemas.microsoft.com/office/drawing/2014/main" id="{333914F8-53E3-44FE-95FE-EA4DB764C442}"/>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Analytical output</a:t>
            </a:r>
          </a:p>
        </p:txBody>
      </p:sp>
      <p:sp>
        <p:nvSpPr>
          <p:cNvPr id="10" name="left_body">
            <a:extLst xmlns:a="http://schemas.openxmlformats.org/drawingml/2006/main">
              <a:ext uri="{FF2B5EF4-FFF2-40B4-BE49-F238E27FC236}">
                <a16:creationId xmlns:a16="http://schemas.microsoft.com/office/drawing/2014/main" id="{1F7D7804-87F1-41B2-B52A-2A3BE1219D04}"/>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raw_vehicle_sales_acap_ageas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Ingest ACAP delivery as received; retain source file, original vehicle identifier, sales period and load evidence.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core_vehicle_sales_ageas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Normalize registration dates, brand/product codes and vehicle definitions. Apply approved duplicate handling and source priority. Preserve a crosswalk to raw records.</a:t>
            </a:r>
          </a:p>
        </p:txBody>
      </p:sp>
      <p:sp>
        <p:nvSpPr>
          <p:cNvPr id="11" name="right_body">
            <a:extLst xmlns:a="http://schemas.openxmlformats.org/drawingml/2006/main">
              <a:ext uri="{FF2B5EF4-FFF2-40B4-BE49-F238E27FC236}">
                <a16:creationId xmlns:a16="http://schemas.microsoft.com/office/drawing/2014/main" id="{E6063AB3-1BF9-4B00-87C0-DE67583BE0D1}"/>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fact_vehicle_sales_ageas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Define one row per source sale event or certified vehicle sale key. Add sale_date, dimension keys and count or value measures as appropriate.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agg_vehicle_sales_month_ageas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Group by sale month and approved business dimensions. Reconcile monthly count and monetary totals to the fact and document late corrections.</a:t>
            </a:r>
          </a:p>
        </p:txBody>
      </p:sp>
    </p:spTree>
    <p:extLst>
      <p:ext uri="{BB962C8B-B14F-4D97-AF65-F5344CB8AC3E}">
        <p14:creationId xmlns:p14="http://schemas.microsoft.com/office/powerpoint/2010/main" val="169718798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BC4213-A6AA-4557-AD8C-0A24C2E09748}"/>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1000E5-7A7E-459A-91DB-8B0A984B7766}"/>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801f7c5919448bb"/>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C0483BC9-E617-436C-BAC6-F01EF4F3E102}"/>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24</a:t>
            </a:r>
          </a:p>
        </p:txBody>
      </p:sp>
      <p:sp>
        <p:nvSpPr>
          <p:cNvPr id="5" name="title">
            <a:extLst xmlns:a="http://schemas.openxmlformats.org/drawingml/2006/main">
              <a:ext uri="{FF2B5EF4-FFF2-40B4-BE49-F238E27FC236}">
                <a16:creationId xmlns:a16="http://schemas.microsoft.com/office/drawing/2014/main" id="{6CAF569F-4ECD-41A8-BF01-36A0EEE21A17}"/>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SAS claims journey</a:t>
            </a:r>
          </a:p>
        </p:txBody>
      </p:sp>
      <p:sp>
        <p:nvSpPr>
          <p:cNvPr id="6" name="text">
            <a:extLst xmlns:a="http://schemas.openxmlformats.org/drawingml/2006/main">
              <a:ext uri="{FF2B5EF4-FFF2-40B4-BE49-F238E27FC236}">
                <a16:creationId xmlns:a16="http://schemas.microsoft.com/office/drawing/2014/main" id="{4D45925E-B001-4D18-A5D3-8465B87115F3}"/>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55D7247F-D4CE-4771-A30D-A341B8A0EE1A}"/>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7BE5F94-2213-4A15-947B-BFE170D2DF45}"/>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Source and harmonization</a:t>
            </a:r>
          </a:p>
        </p:txBody>
      </p:sp>
      <p:sp>
        <p:nvSpPr>
          <p:cNvPr id="9" name="text">
            <a:extLst xmlns:a="http://schemas.openxmlformats.org/drawingml/2006/main">
              <a:ext uri="{FF2B5EF4-FFF2-40B4-BE49-F238E27FC236}">
                <a16:creationId xmlns:a16="http://schemas.microsoft.com/office/drawing/2014/main" id="{7BE11749-2918-4F71-A5D9-10BED3346C3C}"/>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Analytical output</a:t>
            </a:r>
          </a:p>
        </p:txBody>
      </p:sp>
      <p:sp>
        <p:nvSpPr>
          <p:cNvPr id="10" name="left_body">
            <a:extLst xmlns:a="http://schemas.openxmlformats.org/drawingml/2006/main">
              <a:ext uri="{FF2B5EF4-FFF2-40B4-BE49-F238E27FC236}">
                <a16:creationId xmlns:a16="http://schemas.microsoft.com/office/drawing/2014/main" id="{E32B086B-FB8B-4C2D-80D8-CA8D1DDAB71C}"/>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raw_claims_sas_ageas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Capture source claim and transaction extracts with source keys, statuses and file or run provenance.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core_claims_ageas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Standardize claim number, coverage, event dates and status meanings. Resolve cross-source identifiers and retain source assertions.</a:t>
            </a:r>
          </a:p>
        </p:txBody>
      </p:sp>
      <p:sp>
        <p:nvSpPr>
          <p:cNvPr id="11" name="right_body">
            <a:extLst xmlns:a="http://schemas.openxmlformats.org/drawingml/2006/main">
              <a:ext uri="{FF2B5EF4-FFF2-40B4-BE49-F238E27FC236}">
                <a16:creationId xmlns:a16="http://schemas.microsoft.com/office/drawing/2014/main" id="{064D90A4-DB6D-4DEA-9BC3-82C05EDAD1DA}"/>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fact_claims_ageas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Choose transaction, claim event or periodic position grain explicitly. Separate payments from reserves where their time semantics differ.</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agg_claims_month_ageas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Define the reporting month and measures such as claim count, paid amount and closing reserve. Recompute ratios from components and reconcile to facts.</a:t>
            </a:r>
          </a:p>
        </p:txBody>
      </p:sp>
    </p:spTree>
    <p:extLst>
      <p:ext uri="{BB962C8B-B14F-4D97-AF65-F5344CB8AC3E}">
        <p14:creationId xmlns:p14="http://schemas.microsoft.com/office/powerpoint/2010/main" val="114611770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B89196D-8291-4960-9CBB-FA2BC0A0008D}"/>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FB9166-6876-4A9D-A519-160492746FD9}"/>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085f48342b6468b"/>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AFFE5748-4656-4DD5-A9A9-7CBAECA4F105}"/>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25</a:t>
            </a:r>
          </a:p>
        </p:txBody>
      </p:sp>
      <p:sp>
        <p:nvSpPr>
          <p:cNvPr id="5" name="title">
            <a:extLst xmlns:a="http://schemas.openxmlformats.org/drawingml/2006/main">
              <a:ext uri="{FF2B5EF4-FFF2-40B4-BE49-F238E27FC236}">
                <a16:creationId xmlns:a16="http://schemas.microsoft.com/office/drawing/2014/main" id="{B6E4EDC3-FCD2-4B72-BAA5-B28F60FDA278}"/>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Keys and column naming</a:t>
            </a:r>
          </a:p>
        </p:txBody>
      </p:sp>
      <p:sp>
        <p:nvSpPr>
          <p:cNvPr id="6" name="text">
            <a:extLst xmlns:a="http://schemas.openxmlformats.org/drawingml/2006/main">
              <a:ext uri="{FF2B5EF4-FFF2-40B4-BE49-F238E27FC236}">
                <a16:creationId xmlns:a16="http://schemas.microsoft.com/office/drawing/2014/main" id="{C106FEDF-B330-4006-BF94-6DC45DFBA680}"/>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17071A7D-24E5-4C2C-9C14-22B73C6E8918}"/>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8944975E-F785-4C57-814B-B4ECA92AEDA3}"/>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Key standards</a:t>
            </a:r>
          </a:p>
        </p:txBody>
      </p:sp>
      <p:sp>
        <p:nvSpPr>
          <p:cNvPr id="9" name="text">
            <a:extLst xmlns:a="http://schemas.openxmlformats.org/drawingml/2006/main">
              <a:ext uri="{FF2B5EF4-FFF2-40B4-BE49-F238E27FC236}">
                <a16:creationId xmlns:a16="http://schemas.microsoft.com/office/drawing/2014/main" id="{578C3444-CB8B-47E8-B4DF-540305CB9540}"/>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Column syntax</a:t>
            </a:r>
          </a:p>
        </p:txBody>
      </p:sp>
      <p:sp>
        <p:nvSpPr>
          <p:cNvPr id="10" name="left_body">
            <a:extLst xmlns:a="http://schemas.openxmlformats.org/drawingml/2006/main">
              <a:ext uri="{FF2B5EF4-FFF2-40B4-BE49-F238E27FC236}">
                <a16:creationId xmlns:a16="http://schemas.microsoft.com/office/drawing/2014/main" id="{B1A5B734-2251-4873-9D0D-0050FBFED2CC}"/>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Business keys identify an entity in source or domain context: claim_number plus source_system where necessary.</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Surrogate keys decouple dimensions from source changes: customer_sk, vehicle_sk.</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Declare PK/FK metadata where useful and supported, but enforce uniqueness and referential integrity in pipeline checks.</a:t>
            </a:r>
          </a:p>
        </p:txBody>
      </p:sp>
      <p:sp>
        <p:nvSpPr>
          <p:cNvPr id="11" name="right_body">
            <a:extLst xmlns:a="http://schemas.openxmlformats.org/drawingml/2006/main">
              <a:ext uri="{FF2B5EF4-FFF2-40B4-BE49-F238E27FC236}">
                <a16:creationId xmlns:a16="http://schemas.microsoft.com/office/drawing/2014/main" id="{9B6462ED-AF0D-4496-A287-ACFB8F53E09F}"/>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Use lowercase snake_case and stable business nouns: claim_number, event_date, paid_amount, currency_code.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Use *_date for DATE, *_timestamp for TIMESTAMP, *_amount for money, *_code for controlled codes, *_sk for surrogate keys.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Avoid overloaded names such as value, date, status or id without entity context.</a:t>
            </a:r>
          </a:p>
        </p:txBody>
      </p:sp>
    </p:spTree>
    <p:extLst>
      <p:ext uri="{BB962C8B-B14F-4D97-AF65-F5344CB8AC3E}">
        <p14:creationId xmlns:p14="http://schemas.microsoft.com/office/powerpoint/2010/main" val="4742535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92837C-E73C-482A-A5B3-946D82C80867}"/>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14A6D9-650C-4761-81BF-006D47539FAB}"/>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43a898732194bf0"/>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A6AE90A0-0EEA-49AD-8B09-0051E7211565}"/>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26</a:t>
            </a:r>
          </a:p>
        </p:txBody>
      </p:sp>
      <p:sp>
        <p:nvSpPr>
          <p:cNvPr id="5" name="title">
            <a:extLst xmlns:a="http://schemas.openxmlformats.org/drawingml/2006/main">
              <a:ext uri="{FF2B5EF4-FFF2-40B4-BE49-F238E27FC236}">
                <a16:creationId xmlns:a16="http://schemas.microsoft.com/office/drawing/2014/main" id="{F8A0E8AE-497A-47C3-ABA7-DDCB4B879E3E}"/>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Physical design and lifecycle</a:t>
            </a:r>
          </a:p>
        </p:txBody>
      </p:sp>
      <p:sp>
        <p:nvSpPr>
          <p:cNvPr id="6" name="text">
            <a:extLst xmlns:a="http://schemas.openxmlformats.org/drawingml/2006/main">
              <a:ext uri="{FF2B5EF4-FFF2-40B4-BE49-F238E27FC236}">
                <a16:creationId xmlns:a16="http://schemas.microsoft.com/office/drawing/2014/main" id="{08097079-6175-4E8A-AD76-370360EAED30}"/>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9CEBAF12-9EC4-4520-9E88-4559ECA8AEF9}"/>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D7F99171-3388-40F7-B73F-D2859A7F34C1}"/>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Performance choices</a:t>
            </a:r>
          </a:p>
        </p:txBody>
      </p:sp>
      <p:sp>
        <p:nvSpPr>
          <p:cNvPr id="9" name="text">
            <a:extLst xmlns:a="http://schemas.openxmlformats.org/drawingml/2006/main">
              <a:ext uri="{FF2B5EF4-FFF2-40B4-BE49-F238E27FC236}">
                <a16:creationId xmlns:a16="http://schemas.microsoft.com/office/drawing/2014/main" id="{7886F454-BB94-4871-94EB-0A51E052BED9}"/>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Retention and archiving</a:t>
            </a:r>
          </a:p>
        </p:txBody>
      </p:sp>
      <p:sp>
        <p:nvSpPr>
          <p:cNvPr id="10" name="left_body">
            <a:extLst xmlns:a="http://schemas.openxmlformats.org/drawingml/2006/main">
              <a:ext uri="{FF2B5EF4-FFF2-40B4-BE49-F238E27FC236}">
                <a16:creationId xmlns:a16="http://schemas.microsoft.com/office/drawing/2014/main" id="{B14050F0-6F75-49E5-9A5D-3CAD9D477203}"/>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Start without manual partitioning for new managed tables. Use predictive optimization and assess liquid clustering on filtered, sufficiently large workloads.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If partitioning is justified, select low-cardinality columns with demonstrable pruning and avoid tiny files. Measure latency, cost and write impact before and after.</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Materialize aggregates only against named consumer needs.</a:t>
            </a:r>
          </a:p>
        </p:txBody>
      </p:sp>
      <p:sp>
        <p:nvSpPr>
          <p:cNvPr id="11" name="right_body">
            <a:extLst xmlns:a="http://schemas.openxmlformats.org/drawingml/2006/main">
              <a:ext uri="{FF2B5EF4-FFF2-40B4-BE49-F238E27FC236}">
                <a16:creationId xmlns:a16="http://schemas.microsoft.com/office/drawing/2014/main" id="{77503CD6-4630-41FB-BFB1-D685AF07D457}"/>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Define retention separately for raw, work, core, analytical and regulated snapshots. Align VACUUM and log retention with restore needs.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Archive with ownership, access, retrieval test and deletion evidence. Preserve immutable regulatory outputs where required.</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Decommission tables with a dependency review and consumer notice.</a:t>
            </a:r>
          </a:p>
        </p:txBody>
      </p:sp>
    </p:spTree>
    <p:extLst>
      <p:ext uri="{BB962C8B-B14F-4D97-AF65-F5344CB8AC3E}">
        <p14:creationId xmlns:p14="http://schemas.microsoft.com/office/powerpoint/2010/main" val="129012814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9DFA40-2637-44C6-AE5C-22679CB610EF}"/>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19BEBE-1187-4A00-99CC-A401B37CEA51}"/>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8ff85fe1b9c4192"/>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CB08F889-89CB-45E8-8815-57BC98277E32}"/>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27</a:t>
            </a:r>
          </a:p>
        </p:txBody>
      </p:sp>
      <p:sp>
        <p:nvSpPr>
          <p:cNvPr id="5" name="title">
            <a:extLst xmlns:a="http://schemas.openxmlformats.org/drawingml/2006/main">
              <a:ext uri="{FF2B5EF4-FFF2-40B4-BE49-F238E27FC236}">
                <a16:creationId xmlns:a16="http://schemas.microsoft.com/office/drawing/2014/main" id="{C3DC3CF4-27C5-4C25-B247-5CDA0391BC46}"/>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Adoption gate and exceptions</a:t>
            </a:r>
          </a:p>
        </p:txBody>
      </p:sp>
      <p:sp>
        <p:nvSpPr>
          <p:cNvPr id="6" name="text">
            <a:extLst xmlns:a="http://schemas.openxmlformats.org/drawingml/2006/main">
              <a:ext uri="{FF2B5EF4-FFF2-40B4-BE49-F238E27FC236}">
                <a16:creationId xmlns:a16="http://schemas.microsoft.com/office/drawing/2014/main" id="{06320001-8DE0-4865-8CC1-74F35AE469B4}"/>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FEA24067-C11D-40A2-BC20-8FDB64D7A7AC}"/>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E99D827A-7CF7-4759-8106-4F1BF8A41924}"/>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Before publication</a:t>
            </a:r>
          </a:p>
        </p:txBody>
      </p:sp>
      <p:sp>
        <p:nvSpPr>
          <p:cNvPr id="9" name="text">
            <a:extLst xmlns:a="http://schemas.openxmlformats.org/drawingml/2006/main">
              <a:ext uri="{FF2B5EF4-FFF2-40B4-BE49-F238E27FC236}">
                <a16:creationId xmlns:a16="http://schemas.microsoft.com/office/drawing/2014/main" id="{D871A514-1B22-43BF-898D-399F45F42E95}"/>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Exception register</a:t>
            </a:r>
          </a:p>
        </p:txBody>
      </p:sp>
      <p:sp>
        <p:nvSpPr>
          <p:cNvPr id="10" name="left_body">
            <a:extLst xmlns:a="http://schemas.openxmlformats.org/drawingml/2006/main">
              <a:ext uri="{FF2B5EF4-FFF2-40B4-BE49-F238E27FC236}">
                <a16:creationId xmlns:a16="http://schemas.microsoft.com/office/drawing/2014/main" id="{96423FB2-B2A6-4E73-9206-F54572A5C00B}"/>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Confirm approved name and class, business purpose and grain.</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Verify types, mandatory technical fields and documented calculation rules.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Run uniqueness, null, domain and source reconciliation controls.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Add comments, owners, classification, lineage and refresh details.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Review group access, retention and workload performance.</a:t>
            </a:r>
          </a:p>
        </p:txBody>
      </p:sp>
      <p:sp>
        <p:nvSpPr>
          <p:cNvPr id="11" name="right_body">
            <a:extLst xmlns:a="http://schemas.openxmlformats.org/drawingml/2006/main">
              <a:ext uri="{FF2B5EF4-FFF2-40B4-BE49-F238E27FC236}">
                <a16:creationId xmlns:a16="http://schemas.microsoft.com/office/drawing/2014/main" id="{52A8C116-768A-4A1A-9BAD-7327A451770D}"/>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An exception records the standard clause, affected tables, business reason, impact, compensating controls, owner, approver and expiry date.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Review source or brand code additions centrally.</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Version this standard. Changes to a published table contract require consumer analysis, migration plan and an effective date.</a:t>
            </a:r>
          </a:p>
        </p:txBody>
      </p:sp>
    </p:spTree>
    <p:extLst>
      <p:ext uri="{BB962C8B-B14F-4D97-AF65-F5344CB8AC3E}">
        <p14:creationId xmlns:p14="http://schemas.microsoft.com/office/powerpoint/2010/main" val="42081195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92F6B02-EF1F-4AA4-ADCF-6C5826704E28}"/>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E87F10-9ADF-411A-A47E-49FFE64DE63A}"/>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d12d4bfb8be4c18"/>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787BC4BF-0EC6-49D6-BB02-5C95AEA09381}"/>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28</a:t>
            </a:r>
          </a:p>
        </p:txBody>
      </p:sp>
      <p:sp>
        <p:nvSpPr>
          <p:cNvPr id="5" name="title">
            <a:extLst xmlns:a="http://schemas.openxmlformats.org/drawingml/2006/main">
              <a:ext uri="{FF2B5EF4-FFF2-40B4-BE49-F238E27FC236}">
                <a16:creationId xmlns:a16="http://schemas.microsoft.com/office/drawing/2014/main" id="{70878D13-9176-4C84-87D9-76B2519FDC74}"/>
              </a:ext>
            </a:extLst>
          </p:cNvPr>
          <p:cNvSpPr>
            <a:spLocks xmlns:a="http://schemas.openxmlformats.org/drawingml/2006/main" noGrp="1"/>
          </p:cNvSpPr>
          <p:nvPr/>
        </p:nvSpPr>
        <p:spPr>
          <a:xfrm xmlns:a="http://schemas.openxmlformats.org/drawingml/2006/main">
            <a:off x="628650" y="3048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Naming convention cheat sheet</a:t>
            </a:r>
          </a:p>
        </p:txBody>
      </p:sp>
      <p:sp>
        <p:nvSpPr>
          <p:cNvPr id="6" name="text">
            <a:extLst xmlns:a="http://schemas.openxmlformats.org/drawingml/2006/main">
              <a:ext uri="{FF2B5EF4-FFF2-40B4-BE49-F238E27FC236}">
                <a16:creationId xmlns:a16="http://schemas.microsoft.com/office/drawing/2014/main" id="{5BCBEB7F-B6FB-4355-9647-EBF28C118756}"/>
              </a:ext>
            </a:extLst>
          </p:cNvPr>
          <p:cNvSpPr>
            <a:spLocks xmlns:a="http://schemas.openxmlformats.org/drawingml/2006/main" noGrp="1"/>
          </p:cNvSpPr>
          <p:nvPr/>
        </p:nvSpPr>
        <p:spPr>
          <a:xfrm xmlns:a="http://schemas.openxmlformats.org/drawingml/2006/main">
            <a:off x="628650" y="9144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STANDARD</a:t>
            </a:r>
          </a:p>
        </p:txBody>
      </p:sp>
      <p:sp>
        <p:nvSpPr>
          <p:cNvPr id="7" name="">
            <a:extLst xmlns:a="http://schemas.openxmlformats.org/drawingml/2006/main">
              <a:ext uri="{FF2B5EF4-FFF2-40B4-BE49-F238E27FC236}">
                <a16:creationId xmlns:a16="http://schemas.microsoft.com/office/drawing/2014/main" id="{45998C7E-8BD2-4E8D-8A6D-F9287C8F1699}"/>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71381F2-E5D9-4FE4-945D-CC2742AD4790}"/>
              </a:ext>
            </a:extLst>
          </p:cNvPr>
          <p:cNvSpPr>
            <a:spLocks xmlns:a="http://schemas.openxmlformats.org/drawingml/2006/main" noGrp="1"/>
          </p:cNvSpPr>
          <p:nvPr/>
        </p:nvSpPr>
        <p:spPr>
          <a:xfrm xmlns:a="http://schemas.openxmlformats.org/drawingml/2006/main">
            <a:off x="647700" y="14573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D30773"/>
                </a:solidFill>
                <a:latin typeface="Arial"/>
                <a:ea typeface="Arial"/>
                <a:cs typeface="Arial"/>
              </a:defRPr>
            </a:pPr>
            <a:r>
              <a:rPr sz="1650" b="1">
                <a:solidFill>
                  <a:srgbClr val="D30773"/>
                </a:solidFill>
                <a:latin typeface="Arial"/>
                <a:ea typeface="Arial"/>
                <a:cs typeface="Arial"/>
              </a:rPr>
              <a:t>Ingestion and integration</a:t>
            </a:r>
          </a:p>
        </p:txBody>
      </p:sp>
      <p:sp>
        <p:nvSpPr>
          <p:cNvPr id="9" name="text">
            <a:extLst xmlns:a="http://schemas.openxmlformats.org/drawingml/2006/main">
              <a:ext uri="{FF2B5EF4-FFF2-40B4-BE49-F238E27FC236}">
                <a16:creationId xmlns:a16="http://schemas.microsoft.com/office/drawing/2014/main" id="{7C86C3D1-9A7F-4F70-9CFB-8313B7DD54E4}"/>
              </a:ext>
            </a:extLst>
          </p:cNvPr>
          <p:cNvSpPr>
            <a:spLocks xmlns:a="http://schemas.openxmlformats.org/drawingml/2006/main" noGrp="1"/>
          </p:cNvSpPr>
          <p:nvPr/>
        </p:nvSpPr>
        <p:spPr>
          <a:xfrm xmlns:a="http://schemas.openxmlformats.org/drawingml/2006/main">
            <a:off x="6324600" y="1457325"/>
            <a:ext cx="502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EE5623"/>
                </a:solidFill>
                <a:latin typeface="Arial"/>
                <a:ea typeface="Arial"/>
                <a:cs typeface="Arial"/>
              </a:defRPr>
            </a:pPr>
            <a:r>
              <a:rPr sz="1650" b="1">
                <a:solidFill>
                  <a:srgbClr val="EE5623"/>
                </a:solidFill>
                <a:latin typeface="Arial"/>
                <a:ea typeface="Arial"/>
                <a:cs typeface="Arial"/>
              </a:rPr>
              <a:t>Analytical products</a:t>
            </a:r>
          </a:p>
        </p:txBody>
      </p:sp>
      <p:sp>
        <p:nvSpPr>
          <p:cNvPr id="10" name="left_body">
            <a:extLst xmlns:a="http://schemas.openxmlformats.org/drawingml/2006/main">
              <a:ext uri="{FF2B5EF4-FFF2-40B4-BE49-F238E27FC236}">
                <a16:creationId xmlns:a16="http://schemas.microsoft.com/office/drawing/2014/main" id="{9349B98D-F909-435C-81BB-68938E4069D9}"/>
              </a:ext>
            </a:extLst>
          </p:cNvPr>
          <p:cNvSpPr>
            <a:spLocks xmlns:a="http://schemas.openxmlformats.org/drawingml/2006/main" noGrp="1"/>
          </p:cNvSpPr>
          <p:nvPr/>
        </p:nvSpPr>
        <p:spPr>
          <a:xfrm xmlns:a="http://schemas.openxmlformats.org/drawingml/2006/main">
            <a:off x="6477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raw_&lt;entity&gt;_&lt;source&gt;_&lt;brand&gt;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raw_vehicle_sales_acap_ageas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core_&lt;entity&gt;_&lt;brand&gt;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core_claims_ageas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ref_&lt;entity&gt;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ref_claim_status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wrk_&lt;entity&gt;_&lt;process&gt;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wrk_claim_matching</a:t>
            </a:r>
          </a:p>
        </p:txBody>
      </p:sp>
      <p:sp>
        <p:nvSpPr>
          <p:cNvPr id="11" name="right_body">
            <a:extLst xmlns:a="http://schemas.openxmlformats.org/drawingml/2006/main">
              <a:ext uri="{FF2B5EF4-FFF2-40B4-BE49-F238E27FC236}">
                <a16:creationId xmlns:a16="http://schemas.microsoft.com/office/drawing/2014/main" id="{8E8EE73E-C8CC-4B9C-A1A9-7CC20A998843}"/>
              </a:ext>
            </a:extLst>
          </p:cNvPr>
          <p:cNvSpPr>
            <a:spLocks xmlns:a="http://schemas.openxmlformats.org/drawingml/2006/main" noGrp="1"/>
          </p:cNvSpPr>
          <p:nvPr/>
        </p:nvSpPr>
        <p:spPr>
          <a:xfrm xmlns:a="http://schemas.openxmlformats.org/drawingml/2006/main">
            <a:off x="6324600" y="1885950"/>
            <a:ext cx="4953000" cy="408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dim_&lt;entity&gt;_&lt;brand&gt;  dim_customer_ageas</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Shared: dim_date</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fact_&lt;entity&gt;_&lt;brand&gt;  fact_claims_ageas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agg_&lt;entity&gt;_&lt;granularity&gt;_&lt;brand&gt;</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agg_claims_month_ageas</a:t>
            </a:r>
          </a:p>
          <a:p xmlns:a="http://schemas.openxmlformats.org/drawingml/2006/main">
            <a:r>
              <a:t/>
            </a:r>
          </a:p>
          <a:p xmlns:a="http://schemas.openxmlformats.org/drawingml/2006/main">
            <a:pPr>
              <a:defRPr sz="1425" b="0">
                <a:solidFill>
                  <a:srgbClr val="111111"/>
                </a:solidFill>
                <a:latin typeface="Arial"/>
                <a:ea typeface="Arial"/>
                <a:cs typeface="Arial"/>
              </a:defRPr>
            </a:pPr>
            <a:r>
              <a:rPr sz="1425" b="0">
                <a:solidFill>
                  <a:srgbClr val="111111"/>
                </a:solidFill>
                <a:latin typeface="Arial"/>
                <a:ea typeface="Arial"/>
                <a:cs typeface="Arial"/>
              </a:rPr>
              <a:t>snap_&lt;entity&gt;_&lt;brand&gt;  snap_portfolio_ageas</a:t>
            </a:r>
          </a:p>
        </p:txBody>
      </p:sp>
    </p:spTree>
    <p:extLst>
      <p:ext uri="{BB962C8B-B14F-4D97-AF65-F5344CB8AC3E}">
        <p14:creationId xmlns:p14="http://schemas.microsoft.com/office/powerpoint/2010/main" val="206227260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34D6B6-0E9C-4D79-A80A-FACA43983C11}"/>
              </a:ext>
            </a:extLst>
          </p:cNvPr>
          <p:cNvSpPr>
            <a:spLocks xmlns:a="http://schemas.openxmlformats.org/drawingml/2006/main" noGrp="1"/>
          </p:cNvSpPr>
          <p:nvPr/>
        </p:nvSpPr>
        <p:spPr>
          <a:xfrm xmlns:a="http://schemas.openxmlformats.org/drawingml/2006/main">
            <a:off x="400050" y="323850"/>
            <a:ext cx="66675" cy="523875"/>
          </a:xfrm>
          <a:prstGeom xmlns:a="http://schemas.openxmlformats.org/drawingml/2006/main" prst="rect">
            <a:avLst/>
          </a:prstGeom>
          <a:solidFill xmlns:a="http://schemas.openxmlformats.org/drawingml/2006/main">
            <a:srgbClr val="00D5B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409011-DE68-44AF-A88B-D100E1240BF8}"/>
              </a:ext>
            </a:extLst>
          </p:cNvPr>
          <p:cNvSpPr>
            <a:spLocks xmlns:a="http://schemas.openxmlformats.org/drawingml/2006/main" noGrp="1"/>
          </p:cNvSpPr>
          <p:nvPr/>
        </p:nvSpPr>
        <p:spPr>
          <a:xfrm xmlns:a="http://schemas.openxmlformats.org/drawingml/2006/main">
            <a:off x="400050" y="581025"/>
            <a:ext cx="66675" cy="266700"/>
          </a:xfrm>
          <a:prstGeom xmlns:a="http://schemas.openxmlformats.org/drawingml/2006/main" prst="rect">
            <a:avLst/>
          </a:prstGeom>
          <a:solidFill xmlns:a="http://schemas.openxmlformats.org/drawingml/2006/main">
            <a:srgbClr val="D30773"/>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be04c58e20d444d"/>
          <a:stretch xmlns:a="http://schemas.openxmlformats.org/drawingml/2006/main"/>
        </p:blipFill>
        <p:spPr>
          <a:xfrm xmlns:a="http://schemas.openxmlformats.org/drawingml/2006/main">
            <a:off x="10821252" y="6248400"/>
            <a:ext cx="779347" cy="43815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D3106254-B488-4AD6-81B7-3397FEC12088}"/>
              </a:ext>
            </a:extLst>
          </p:cNvPr>
          <p:cNvSpPr>
            <a:spLocks xmlns:a="http://schemas.openxmlformats.org/drawingml/2006/main" noGrp="1"/>
          </p:cNvSpPr>
          <p:nvPr/>
        </p:nvSpPr>
        <p:spPr>
          <a:xfrm xmlns:a="http://schemas.openxmlformats.org/drawingml/2006/main">
            <a:off x="419100" y="641985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646464"/>
                </a:solidFill>
                <a:latin typeface="Arial"/>
                <a:ea typeface="Arial"/>
                <a:cs typeface="Arial"/>
              </a:defRPr>
            </a:pPr>
            <a:r>
              <a:rPr sz="750" b="0">
                <a:solidFill>
                  <a:srgbClr val="646464"/>
                </a:solidFill>
                <a:latin typeface="Arial"/>
                <a:ea typeface="Arial"/>
                <a:cs typeface="Arial"/>
              </a:rPr>
              <a:t>29</a:t>
            </a:r>
          </a:p>
        </p:txBody>
      </p:sp>
      <p:sp>
        <p:nvSpPr>
          <p:cNvPr id="5" name="title">
            <a:extLst xmlns:a="http://schemas.openxmlformats.org/drawingml/2006/main">
              <a:ext uri="{FF2B5EF4-FFF2-40B4-BE49-F238E27FC236}">
                <a16:creationId xmlns:a16="http://schemas.microsoft.com/office/drawing/2014/main" id="{722F3337-431B-46D8-A442-5907A5C943F9}"/>
              </a:ext>
            </a:extLst>
          </p:cNvPr>
          <p:cNvSpPr>
            <a:spLocks xmlns:a="http://schemas.openxmlformats.org/drawingml/2006/main" noGrp="1"/>
          </p:cNvSpPr>
          <p:nvPr/>
        </p:nvSpPr>
        <p:spPr>
          <a:xfrm xmlns:a="http://schemas.openxmlformats.org/drawingml/2006/main">
            <a:off x="628650" y="304800"/>
            <a:ext cx="1019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11111"/>
                </a:solidFill>
                <a:latin typeface="Arial"/>
                <a:ea typeface="Arial"/>
                <a:cs typeface="Arial"/>
              </a:defRPr>
            </a:pPr>
            <a:r>
              <a:rPr sz="2550" b="1">
                <a:solidFill>
                  <a:srgbClr val="111111"/>
                </a:solidFill>
                <a:latin typeface="Arial"/>
                <a:ea typeface="Arial"/>
                <a:cs typeface="Arial"/>
              </a:rPr>
              <a:t>Technical references</a:t>
            </a:r>
          </a:p>
        </p:txBody>
      </p:sp>
      <p:sp>
        <p:nvSpPr>
          <p:cNvPr id="6" name="text">
            <a:extLst xmlns:a="http://schemas.openxmlformats.org/drawingml/2006/main">
              <a:ext uri="{FF2B5EF4-FFF2-40B4-BE49-F238E27FC236}">
                <a16:creationId xmlns:a16="http://schemas.microsoft.com/office/drawing/2014/main" id="{10B69304-C112-4CD2-BD32-6C93A2C9D25B}"/>
              </a:ext>
            </a:extLst>
          </p:cNvPr>
          <p:cNvSpPr>
            <a:spLocks xmlns:a="http://schemas.openxmlformats.org/drawingml/2006/main" noGrp="1"/>
          </p:cNvSpPr>
          <p:nvPr/>
        </p:nvSpPr>
        <p:spPr>
          <a:xfrm xmlns:a="http://schemas.openxmlformats.org/drawingml/2006/main">
            <a:off x="628650" y="9144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D30773"/>
                </a:solidFill>
                <a:latin typeface="Arial"/>
                <a:ea typeface="Arial"/>
                <a:cs typeface="Arial"/>
              </a:defRPr>
            </a:pPr>
            <a:r>
              <a:rPr sz="825" b="1">
                <a:solidFill>
                  <a:srgbClr val="D30773"/>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8DCD32CB-1258-458D-B109-0A275E2F4761}"/>
              </a:ext>
            </a:extLst>
          </p:cNvPr>
          <p:cNvSpPr>
            <a:spLocks xmlns:a="http://schemas.openxmlformats.org/drawingml/2006/main" noGrp="1"/>
          </p:cNvSpPr>
          <p:nvPr/>
        </p:nvSpPr>
        <p:spPr>
          <a:xfrm xmlns:a="http://schemas.openxmlformats.org/drawingml/2006/main">
            <a:off x="628650" y="1190625"/>
            <a:ext cx="10934700" cy="19050"/>
          </a:xfrm>
          <a:prstGeom xmlns:a="http://schemas.openxmlformats.org/drawingml/2006/main" prst="rect">
            <a:avLst/>
          </a:prstGeom>
          <a:solidFill xmlns:a="http://schemas.openxmlformats.org/drawingml/2006/main">
            <a:srgbClr val="E7E7E7"/>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D84BC1E5-5E1D-4F30-8B5F-49EC9252BCB9}"/>
              </a:ext>
            </a:extLst>
          </p:cNvPr>
          <p:cNvSpPr>
            <a:spLocks xmlns:a="http://schemas.openxmlformats.org/drawingml/2006/main" noGrp="1"/>
          </p:cNvSpPr>
          <p:nvPr/>
        </p:nvSpPr>
        <p:spPr>
          <a:xfrm xmlns:a="http://schemas.openxmlformats.org/drawingml/2006/main">
            <a:off x="647700" y="1428750"/>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D30773"/>
                </a:solidFill>
                <a:latin typeface="Arial"/>
                <a:ea typeface="Arial"/>
                <a:cs typeface="Arial"/>
              </a:defRPr>
            </a:pPr>
            <a:r>
              <a:rPr sz="1875" b="1">
                <a:solidFill>
                  <a:srgbClr val="D30773"/>
                </a:solidFill>
                <a:latin typeface="Arial"/>
                <a:ea typeface="Arial"/>
                <a:cs typeface="Arial"/>
              </a:rPr>
              <a:t>Databricks documentation used to validate platform-specific guidance</a:t>
            </a:r>
          </a:p>
        </p:txBody>
      </p:sp>
      <p:sp>
        <p:nvSpPr>
          <p:cNvPr id="9" name="body">
            <a:extLst xmlns:a="http://schemas.openxmlformats.org/drawingml/2006/main">
              <a:ext uri="{FF2B5EF4-FFF2-40B4-BE49-F238E27FC236}">
                <a16:creationId xmlns:a16="http://schemas.microsoft.com/office/drawing/2014/main" id="{3EF49AC5-D3C1-44D2-9ABC-4610FC4B5F5F}"/>
              </a:ext>
            </a:extLst>
          </p:cNvPr>
          <p:cNvSpPr>
            <a:spLocks xmlns:a="http://schemas.openxmlformats.org/drawingml/2006/main" noGrp="1"/>
          </p:cNvSpPr>
          <p:nvPr/>
        </p:nvSpPr>
        <p:spPr>
          <a:xfrm xmlns:a="http://schemas.openxmlformats.org/drawingml/2006/main">
            <a:off x="647700" y="2333625"/>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Delta Lake best practices: https://docs.databricks.com/aws/en/delta/best-practices</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Managed tables: https://docs.databricks.com/aws/en/tables/managed</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Predictive optimization: https://docs.databricks.com/aws/en/optimizations/predictive-optimization</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Table constraints: https://docs.databricks.com/aws/en/tables/constraints</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Lineage: https://docs.databricks.com/aws/en/data-governance/unity-catalog/data-lineage</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Table and column comments: https://docs.databricks.com/aws/en/comments/</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VACUUM: https://docs.databricks.com/aws/en/delta/vacuum</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Partitioning: https://docs.databricks.com/aws/en/tables/partitions</a:t>
            </a:r>
          </a:p>
        </p:txBody>
      </p:sp>
    </p:spTree>
    <p:extLst>
      <p:ext uri="{BB962C8B-B14F-4D97-AF65-F5344CB8AC3E}">
        <p14:creationId xmlns:p14="http://schemas.microsoft.com/office/powerpoint/2010/main" val="787772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2026-09-23T08:57:27.3500000Z</dcterms:created>
  <dcterms:modified xsi:type="dcterms:W3CDTF">2026-09-23T08:57:27.3500000Z</dcterms:modified>
</coreProperties>
</file>