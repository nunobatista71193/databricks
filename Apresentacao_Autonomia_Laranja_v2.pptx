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Matriz" id="{04e858e0-6250-f4f5-ee26-e30967631154}">
          <p14:sldIdLst>
            <p14:sldId id="257"/>
          </p14:sldIdLst>
        </p14:section>
        <p14:section name="Modelo" id="{a6ec06f9-b547-36c0-276b-e11fc28cbd31}">
          <p14:sldIdLst>
            <p14:sldId id="258"/>
          </p14:sldIdLst>
        </p14:section>
        <p14:section name="Conclusões" id="{ec3b7110-501a-d92a-8589-a9d7aa1175d0}">
          <p14:sldIdLst>
            <p14:sldId id="259"/>
            <p14:sldId id="260"/>
          </p14:sldIdLst>
        </p14:section>
        <p14:section name="Fecho" id="{f0f01d46-4335-be78-81bc-91a48e63d5b5}">
          <p14:sldIdLst>
            <p14:sldId id="261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ARO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28032"/>
            <a:ext cx="36576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ESCURO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28032"/>
            <a:ext cx="36576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ARANJA">
    <p:bg>
      <p:bgPr>
        <a:solidFill>
          <a:schemeClr val="accen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28032"/>
            <a:ext cx="36576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nel grande"/>
          <p:cNvSpPr/>
          <p:nvPr/>
        </p:nvSpPr>
        <p:spPr>
          <a:xfrm>
            <a:off x="4937760" y="-1371600"/>
            <a:ext cx="6035040" cy="6035040"/>
          </a:xfrm>
          <a:prstGeom prst="ellipse">
            <a:avLst/>
          </a:prstGeom>
          <a:solidFill>
            <a:schemeClr val="tx2">
              <a:alpha val="0"/>
            </a:schemeClr>
          </a:solidFill>
          <a:ln w="177800">
            <a:solidFill>
              <a:schemeClr val="bg1">
                <a:alpha val="40000"/>
              </a:schemeClr>
            </a:solidFill>
            <a:prstDash val="solid"/>
          </a:ln>
        </p:spPr>
      </p:sp>
      <p:sp>
        <p:nvSpPr>
          <p:cNvPr id="3" name="Disco escuro"/>
          <p:cNvSpPr/>
          <p:nvPr/>
        </p:nvSpPr>
        <p:spPr>
          <a:xfrm>
            <a:off x="6675120" y="411480"/>
            <a:ext cx="2743200" cy="274320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>
                <a:alpha val="0"/>
              </a:schemeClr>
            </a:solidFill>
            <a:prstDash val="solid"/>
          </a:ln>
        </p:spPr>
      </p:sp>
      <p:sp>
        <p:nvSpPr>
          <p:cNvPr id="4" name="Titulo capa"/>
          <p:cNvSpPr txBox="1"/>
          <p:nvPr/>
        </p:nvSpPr>
        <p:spPr>
          <a:xfrm>
            <a:off x="548640" y="1554480"/>
            <a:ext cx="64008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600" b="1" dirty="0">
                <a:solidFill>
                  <a:schemeClr val="bg1"/>
                </a:solidFill>
              </a:rPr>
              <a:t>Autonomia</a:t>
            </a:r>
            <a:endParaRPr lang="en-US" sz="5600" dirty="0"/>
          </a:p>
          <a:p>
            <a:pPr indent="0" marL="0">
              <a:buNone/>
            </a:pPr>
            <a:r>
              <a:rPr lang="en-US" sz="5600" b="1" dirty="0">
                <a:solidFill>
                  <a:schemeClr val="bg1"/>
                </a:solidFill>
              </a:rPr>
              <a:t>comercial</a:t>
            </a:r>
            <a:endParaRPr lang="en-US" sz="5600" dirty="0"/>
          </a:p>
        </p:txBody>
      </p:sp>
      <p:sp>
        <p:nvSpPr>
          <p:cNvPr id="5" name="Subtitulo capa"/>
          <p:cNvSpPr txBox="1"/>
          <p:nvPr/>
        </p:nvSpPr>
        <p:spPr>
          <a:xfrm>
            <a:off x="548640" y="352044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Modelo atual vs modelo proposto</a:t>
            </a:r>
            <a:endParaRPr lang="en-US" sz="1800" dirty="0"/>
          </a:p>
        </p:txBody>
      </p:sp>
      <p:sp>
        <p:nvSpPr>
          <p:cNvPr id="6" name="Data"/>
          <p:cNvSpPr txBox="1"/>
          <p:nvPr/>
        </p:nvSpPr>
        <p:spPr>
          <a:xfrm>
            <a:off x="548640" y="45262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Outubro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cao"/>
          <p:cNvSpPr txBox="1"/>
          <p:nvPr/>
        </p:nvSpPr>
        <p:spPr>
          <a:xfrm>
            <a:off x="548640" y="32004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C2410C"/>
                </a:solidFill>
              </a:rPr>
              <a:t>1.1   MATRIZ DE MUDANÇA DOS AGENTES</a:t>
            </a:r>
            <a:endParaRPr lang="en-US" sz="1000" dirty="0"/>
          </a:p>
        </p:txBody>
      </p:sp>
      <p:sp>
        <p:nvSpPr>
          <p:cNvPr id="3" name="Titulo"/>
          <p:cNvSpPr txBox="1"/>
          <p:nvPr/>
        </p:nvSpPr>
        <p:spPr>
          <a:xfrm>
            <a:off x="548640" y="640080"/>
            <a:ext cx="8046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Do nível de desconto atual para o tier proposto</a:t>
            </a:r>
            <a:endParaRPr lang="en-US" sz="2800" dirty="0"/>
          </a:p>
        </p:txBody>
      </p:sp>
      <p:sp>
        <p:nvSpPr>
          <p:cNvPr id="4" name="Eixo colunas"/>
          <p:cNvSpPr txBox="1"/>
          <p:nvPr/>
        </p:nvSpPr>
        <p:spPr>
          <a:xfrm>
            <a:off x="1371600" y="1188720"/>
            <a:ext cx="4754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C2410C"/>
                </a:solidFill>
              </a:rPr>
              <a:t>MODELO PROPOSTO (TIER)</a:t>
            </a:r>
            <a:endParaRPr lang="en-US" sz="900" dirty="0"/>
          </a:p>
        </p:txBody>
      </p:sp>
      <p:sp>
        <p:nvSpPr>
          <p:cNvPr id="5" name="Eixo linhas"/>
          <p:cNvSpPr txBox="1"/>
          <p:nvPr/>
        </p:nvSpPr>
        <p:spPr>
          <a:xfrm>
            <a:off x="548640" y="1435608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spc="200" kern="0" dirty="0">
                <a:solidFill>
                  <a:srgbClr val="C2410C"/>
                </a:solidFill>
              </a:rPr>
              <a:t>ATUAL</a:t>
            </a:r>
            <a:endParaRPr lang="en-US" sz="900" dirty="0"/>
          </a:p>
        </p:txBody>
      </p:sp>
      <p:sp>
        <p:nvSpPr>
          <p:cNvPr id="6" name="Coluna Tier 1"/>
          <p:cNvSpPr txBox="1"/>
          <p:nvPr/>
        </p:nvSpPr>
        <p:spPr>
          <a:xfrm>
            <a:off x="1371600" y="143560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tx1"/>
                </a:solidFill>
              </a:rPr>
              <a:t>Tier 1</a:t>
            </a:r>
            <a:endParaRPr lang="en-US" sz="1000" dirty="0"/>
          </a:p>
        </p:txBody>
      </p:sp>
      <p:sp>
        <p:nvSpPr>
          <p:cNvPr id="7" name="Coluna Tier 2"/>
          <p:cNvSpPr txBox="1"/>
          <p:nvPr/>
        </p:nvSpPr>
        <p:spPr>
          <a:xfrm>
            <a:off x="2322576" y="143560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tx1"/>
                </a:solidFill>
              </a:rPr>
              <a:t>Tier 2</a:t>
            </a:r>
            <a:endParaRPr lang="en-US" sz="1000" dirty="0"/>
          </a:p>
        </p:txBody>
      </p:sp>
      <p:sp>
        <p:nvSpPr>
          <p:cNvPr id="8" name="Coluna Tier 3"/>
          <p:cNvSpPr txBox="1"/>
          <p:nvPr/>
        </p:nvSpPr>
        <p:spPr>
          <a:xfrm>
            <a:off x="3273552" y="143560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tx1"/>
                </a:solidFill>
              </a:rPr>
              <a:t>Tier 3</a:t>
            </a:r>
            <a:endParaRPr lang="en-US" sz="1000" dirty="0"/>
          </a:p>
        </p:txBody>
      </p:sp>
      <p:sp>
        <p:nvSpPr>
          <p:cNvPr id="9" name="Coluna Tier 4"/>
          <p:cNvSpPr txBox="1"/>
          <p:nvPr/>
        </p:nvSpPr>
        <p:spPr>
          <a:xfrm>
            <a:off x="4224528" y="143560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tx1"/>
                </a:solidFill>
              </a:rPr>
              <a:t>Tier 4</a:t>
            </a:r>
            <a:endParaRPr lang="en-US" sz="1000" dirty="0"/>
          </a:p>
        </p:txBody>
      </p:sp>
      <p:sp>
        <p:nvSpPr>
          <p:cNvPr id="10" name="Coluna Not Segmented"/>
          <p:cNvSpPr txBox="1"/>
          <p:nvPr/>
        </p:nvSpPr>
        <p:spPr>
          <a:xfrm>
            <a:off x="5175504" y="143560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tx1"/>
                </a:solidFill>
              </a:rPr>
              <a:t>Not Segmented</a:t>
            </a:r>
            <a:endParaRPr lang="en-US" sz="1000" dirty="0"/>
          </a:p>
        </p:txBody>
      </p:sp>
      <p:sp>
        <p:nvSpPr>
          <p:cNvPr id="11" name="Linha 0,0%"/>
          <p:cNvSpPr txBox="1"/>
          <p:nvPr/>
        </p:nvSpPr>
        <p:spPr>
          <a:xfrm>
            <a:off x="548640" y="1755648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chemeClr val="accent4"/>
                </a:solidFill>
              </a:rPr>
              <a:t>0,0%</a:t>
            </a:r>
            <a:endParaRPr lang="en-US" sz="1200" dirty="0"/>
          </a:p>
        </p:txBody>
      </p:sp>
      <p:sp>
        <p:nvSpPr>
          <p:cNvPr id="12" name="Celula 0,0% Tier 1"/>
          <p:cNvSpPr/>
          <p:nvPr/>
        </p:nvSpPr>
        <p:spPr>
          <a:xfrm>
            <a:off x="1371600" y="1755648"/>
            <a:ext cx="914400" cy="274320"/>
          </a:xfrm>
          <a:prstGeom prst="roundRect">
            <a:avLst>
              <a:gd name="adj" fmla="val 16667"/>
            </a:avLst>
          </a:prstGeom>
          <a:solidFill>
            <a:srgbClr val="FDF3EA"/>
          </a:solidFill>
          <a:ln w="12700">
            <a:solidFill>
              <a:srgbClr val="FDF3EA">
                <a:alpha val="0"/>
              </a:srgbClr>
            </a:solidFill>
            <a:prstDash val="solid"/>
          </a:ln>
        </p:spPr>
      </p:sp>
      <p:sp>
        <p:nvSpPr>
          <p:cNvPr id="13" name="Valor 0,0% Tier 1"/>
          <p:cNvSpPr txBox="1"/>
          <p:nvPr/>
        </p:nvSpPr>
        <p:spPr>
          <a:xfrm>
            <a:off x="1371600" y="175564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0</a:t>
            </a:r>
            <a:endParaRPr lang="en-US" sz="1200" dirty="0"/>
          </a:p>
        </p:txBody>
      </p:sp>
      <p:sp>
        <p:nvSpPr>
          <p:cNvPr id="14" name="Celula 0,0% Tier 2"/>
          <p:cNvSpPr/>
          <p:nvPr/>
        </p:nvSpPr>
        <p:spPr>
          <a:xfrm>
            <a:off x="2322576" y="1755648"/>
            <a:ext cx="914400" cy="274320"/>
          </a:xfrm>
          <a:prstGeom prst="roundRect">
            <a:avLst>
              <a:gd name="adj" fmla="val 16667"/>
            </a:avLst>
          </a:prstGeom>
          <a:solidFill>
            <a:srgbClr val="FCF1E7"/>
          </a:solidFill>
          <a:ln w="12700">
            <a:solidFill>
              <a:srgbClr val="FCF1E7">
                <a:alpha val="0"/>
              </a:srgbClr>
            </a:solidFill>
            <a:prstDash val="solid"/>
          </a:ln>
        </p:spPr>
      </p:sp>
      <p:sp>
        <p:nvSpPr>
          <p:cNvPr id="15" name="Valor 0,0% Tier 2"/>
          <p:cNvSpPr txBox="1"/>
          <p:nvPr/>
        </p:nvSpPr>
        <p:spPr>
          <a:xfrm>
            <a:off x="2322576" y="175564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1</a:t>
            </a:r>
            <a:endParaRPr lang="en-US" sz="1200" dirty="0"/>
          </a:p>
        </p:txBody>
      </p:sp>
      <p:sp>
        <p:nvSpPr>
          <p:cNvPr id="16" name="Celula 0,0% Tier 3"/>
          <p:cNvSpPr/>
          <p:nvPr/>
        </p:nvSpPr>
        <p:spPr>
          <a:xfrm>
            <a:off x="3273552" y="1755648"/>
            <a:ext cx="914400" cy="274320"/>
          </a:xfrm>
          <a:prstGeom prst="roundRect">
            <a:avLst>
              <a:gd name="adj" fmla="val 16667"/>
            </a:avLst>
          </a:prstGeom>
          <a:solidFill>
            <a:srgbClr val="FCEFE5"/>
          </a:solidFill>
          <a:ln w="12700">
            <a:solidFill>
              <a:srgbClr val="FCEFE5">
                <a:alpha val="0"/>
              </a:srgbClr>
            </a:solidFill>
            <a:prstDash val="solid"/>
          </a:ln>
        </p:spPr>
      </p:sp>
      <p:sp>
        <p:nvSpPr>
          <p:cNvPr id="17" name="Valor 0,0% Tier 3"/>
          <p:cNvSpPr txBox="1"/>
          <p:nvPr/>
        </p:nvSpPr>
        <p:spPr>
          <a:xfrm>
            <a:off x="3273552" y="175564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4</a:t>
            </a:r>
            <a:endParaRPr lang="en-US" sz="1200" dirty="0"/>
          </a:p>
        </p:txBody>
      </p:sp>
      <p:sp>
        <p:nvSpPr>
          <p:cNvPr id="18" name="Celula 0,0% Tier 4"/>
          <p:cNvSpPr/>
          <p:nvPr/>
        </p:nvSpPr>
        <p:spPr>
          <a:xfrm>
            <a:off x="4224528" y="1755648"/>
            <a:ext cx="914400" cy="274320"/>
          </a:xfrm>
          <a:prstGeom prst="roundRect">
            <a:avLst>
              <a:gd name="adj" fmla="val 16667"/>
            </a:avLst>
          </a:prstGeom>
          <a:solidFill>
            <a:srgbClr val="FBEDE3"/>
          </a:solidFill>
          <a:ln w="12700">
            <a:solidFill>
              <a:srgbClr val="FBEDE3">
                <a:alpha val="0"/>
              </a:srgbClr>
            </a:solidFill>
            <a:prstDash val="solid"/>
          </a:ln>
        </p:spPr>
      </p:sp>
      <p:sp>
        <p:nvSpPr>
          <p:cNvPr id="19" name="Valor 0,0% Tier 4"/>
          <p:cNvSpPr txBox="1"/>
          <p:nvPr/>
        </p:nvSpPr>
        <p:spPr>
          <a:xfrm>
            <a:off x="4224528" y="175564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5</a:t>
            </a:r>
            <a:endParaRPr lang="en-US" sz="1200" dirty="0"/>
          </a:p>
        </p:txBody>
      </p:sp>
      <p:sp>
        <p:nvSpPr>
          <p:cNvPr id="20" name="Celula 0,0% Not Segmented"/>
          <p:cNvSpPr/>
          <p:nvPr/>
        </p:nvSpPr>
        <p:spPr>
          <a:xfrm>
            <a:off x="5175504" y="1755648"/>
            <a:ext cx="914400" cy="274320"/>
          </a:xfrm>
          <a:prstGeom prst="roundRect">
            <a:avLst>
              <a:gd name="adj" fmla="val 16667"/>
            </a:avLst>
          </a:prstGeom>
          <a:solidFill>
            <a:srgbClr val="F7E0D3"/>
          </a:solidFill>
          <a:ln w="12700">
            <a:solidFill>
              <a:srgbClr val="F7E0D3">
                <a:alpha val="0"/>
              </a:srgbClr>
            </a:solidFill>
            <a:prstDash val="solid"/>
          </a:ln>
        </p:spPr>
      </p:sp>
      <p:sp>
        <p:nvSpPr>
          <p:cNvPr id="21" name="Valor 0,0% Not Segmented"/>
          <p:cNvSpPr txBox="1"/>
          <p:nvPr/>
        </p:nvSpPr>
        <p:spPr>
          <a:xfrm>
            <a:off x="5175504" y="175564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31</a:t>
            </a:r>
            <a:endParaRPr lang="en-US" sz="1200" dirty="0"/>
          </a:p>
        </p:txBody>
      </p:sp>
      <p:sp>
        <p:nvSpPr>
          <p:cNvPr id="22" name="Linha 5,0%"/>
          <p:cNvSpPr txBox="1"/>
          <p:nvPr/>
        </p:nvSpPr>
        <p:spPr>
          <a:xfrm>
            <a:off x="548640" y="2066544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chemeClr val="accent4"/>
                </a:solidFill>
              </a:rPr>
              <a:t>5,0%</a:t>
            </a:r>
            <a:endParaRPr lang="en-US" sz="1200" dirty="0"/>
          </a:p>
        </p:txBody>
      </p:sp>
      <p:sp>
        <p:nvSpPr>
          <p:cNvPr id="23" name="Celula 5,0% Tier 1"/>
          <p:cNvSpPr/>
          <p:nvPr/>
        </p:nvSpPr>
        <p:spPr>
          <a:xfrm>
            <a:off x="1371600" y="2066544"/>
            <a:ext cx="914400" cy="274320"/>
          </a:xfrm>
          <a:prstGeom prst="roundRect">
            <a:avLst>
              <a:gd name="adj" fmla="val 16667"/>
            </a:avLst>
          </a:prstGeom>
          <a:solidFill>
            <a:srgbClr val="FAEBE0"/>
          </a:solidFill>
          <a:ln w="12700">
            <a:solidFill>
              <a:srgbClr val="FAEBE0">
                <a:alpha val="0"/>
              </a:srgbClr>
            </a:solidFill>
            <a:prstDash val="solid"/>
          </a:ln>
        </p:spPr>
      </p:sp>
      <p:sp>
        <p:nvSpPr>
          <p:cNvPr id="24" name="Valor 5,0% Tier 1"/>
          <p:cNvSpPr txBox="1"/>
          <p:nvPr/>
        </p:nvSpPr>
        <p:spPr>
          <a:xfrm>
            <a:off x="1371600" y="2066544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1</a:t>
            </a:r>
            <a:endParaRPr lang="en-US" sz="1200" dirty="0"/>
          </a:p>
        </p:txBody>
      </p:sp>
      <p:sp>
        <p:nvSpPr>
          <p:cNvPr id="25" name="Celula 5,0% Tier 2"/>
          <p:cNvSpPr/>
          <p:nvPr/>
        </p:nvSpPr>
        <p:spPr>
          <a:xfrm>
            <a:off x="2322576" y="2066544"/>
            <a:ext cx="914400" cy="274320"/>
          </a:xfrm>
          <a:prstGeom prst="roundRect">
            <a:avLst>
              <a:gd name="adj" fmla="val 16667"/>
            </a:avLst>
          </a:prstGeom>
          <a:solidFill>
            <a:srgbClr val="FCF1E7"/>
          </a:solidFill>
          <a:ln w="12700">
            <a:solidFill>
              <a:srgbClr val="FCF1E7">
                <a:alpha val="0"/>
              </a:srgbClr>
            </a:solidFill>
            <a:prstDash val="solid"/>
          </a:ln>
        </p:spPr>
      </p:sp>
      <p:sp>
        <p:nvSpPr>
          <p:cNvPr id="26" name="Valor 5,0% Tier 2"/>
          <p:cNvSpPr txBox="1"/>
          <p:nvPr/>
        </p:nvSpPr>
        <p:spPr>
          <a:xfrm>
            <a:off x="2322576" y="2066544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1</a:t>
            </a:r>
            <a:endParaRPr lang="en-US" sz="1200" dirty="0"/>
          </a:p>
        </p:txBody>
      </p:sp>
      <p:sp>
        <p:nvSpPr>
          <p:cNvPr id="27" name="Celula 5,0% Tier 3"/>
          <p:cNvSpPr/>
          <p:nvPr/>
        </p:nvSpPr>
        <p:spPr>
          <a:xfrm>
            <a:off x="3273552" y="2066544"/>
            <a:ext cx="914400" cy="274320"/>
          </a:xfrm>
          <a:prstGeom prst="roundRect">
            <a:avLst>
              <a:gd name="adj" fmla="val 16667"/>
            </a:avLst>
          </a:prstGeom>
          <a:solidFill>
            <a:srgbClr val="FCEFE5"/>
          </a:solidFill>
          <a:ln w="12700">
            <a:solidFill>
              <a:srgbClr val="FCEFE5">
                <a:alpha val="0"/>
              </a:srgbClr>
            </a:solidFill>
            <a:prstDash val="solid"/>
          </a:ln>
        </p:spPr>
      </p:sp>
      <p:sp>
        <p:nvSpPr>
          <p:cNvPr id="28" name="Valor 5,0% Tier 3"/>
          <p:cNvSpPr txBox="1"/>
          <p:nvPr/>
        </p:nvSpPr>
        <p:spPr>
          <a:xfrm>
            <a:off x="3273552" y="2066544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4</a:t>
            </a:r>
            <a:endParaRPr lang="en-US" sz="1200" dirty="0"/>
          </a:p>
        </p:txBody>
      </p:sp>
      <p:sp>
        <p:nvSpPr>
          <p:cNvPr id="29" name="Celula 5,0% Tier 4"/>
          <p:cNvSpPr/>
          <p:nvPr/>
        </p:nvSpPr>
        <p:spPr>
          <a:xfrm>
            <a:off x="4224528" y="2066544"/>
            <a:ext cx="914400" cy="274320"/>
          </a:xfrm>
          <a:prstGeom prst="roundRect">
            <a:avLst>
              <a:gd name="adj" fmla="val 16667"/>
            </a:avLst>
          </a:prstGeom>
          <a:solidFill>
            <a:srgbClr val="FAEADE"/>
          </a:solidFill>
          <a:ln w="12700">
            <a:solidFill>
              <a:srgbClr val="FAEADE">
                <a:alpha val="0"/>
              </a:srgbClr>
            </a:solidFill>
            <a:prstDash val="solid"/>
          </a:ln>
        </p:spPr>
      </p:sp>
      <p:sp>
        <p:nvSpPr>
          <p:cNvPr id="30" name="Valor 5,0% Tier 4"/>
          <p:cNvSpPr txBox="1"/>
          <p:nvPr/>
        </p:nvSpPr>
        <p:spPr>
          <a:xfrm>
            <a:off x="4224528" y="2066544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8</a:t>
            </a:r>
            <a:endParaRPr lang="en-US" sz="1200" dirty="0"/>
          </a:p>
        </p:txBody>
      </p:sp>
      <p:sp>
        <p:nvSpPr>
          <p:cNvPr id="31" name="Celula 5,0% Not Segmented"/>
          <p:cNvSpPr/>
          <p:nvPr/>
        </p:nvSpPr>
        <p:spPr>
          <a:xfrm>
            <a:off x="5175504" y="2066544"/>
            <a:ext cx="914400" cy="274320"/>
          </a:xfrm>
          <a:prstGeom prst="roundRect">
            <a:avLst>
              <a:gd name="adj" fmla="val 16667"/>
            </a:avLst>
          </a:prstGeom>
          <a:solidFill>
            <a:srgbClr val="FAE9DE"/>
          </a:solidFill>
          <a:ln w="12700">
            <a:solidFill>
              <a:srgbClr val="FAE9DE">
                <a:alpha val="0"/>
              </a:srgbClr>
            </a:solidFill>
            <a:prstDash val="solid"/>
          </a:ln>
        </p:spPr>
      </p:sp>
      <p:sp>
        <p:nvSpPr>
          <p:cNvPr id="32" name="Valor 5,0% Not Segmented"/>
          <p:cNvSpPr txBox="1"/>
          <p:nvPr/>
        </p:nvSpPr>
        <p:spPr>
          <a:xfrm>
            <a:off x="5175504" y="2066544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16</a:t>
            </a:r>
            <a:endParaRPr lang="en-US" sz="1200" dirty="0"/>
          </a:p>
        </p:txBody>
      </p:sp>
      <p:sp>
        <p:nvSpPr>
          <p:cNvPr id="33" name="Linha 7,5%"/>
          <p:cNvSpPr txBox="1"/>
          <p:nvPr/>
        </p:nvSpPr>
        <p:spPr>
          <a:xfrm>
            <a:off x="548640" y="237744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chemeClr val="accent4"/>
                </a:solidFill>
              </a:rPr>
              <a:t>7,5%</a:t>
            </a:r>
            <a:endParaRPr lang="en-US" sz="1200" dirty="0"/>
          </a:p>
        </p:txBody>
      </p:sp>
      <p:sp>
        <p:nvSpPr>
          <p:cNvPr id="34" name="Celula 7,5% Tier 1"/>
          <p:cNvSpPr/>
          <p:nvPr/>
        </p:nvSpPr>
        <p:spPr>
          <a:xfrm>
            <a:off x="1371600" y="2377440"/>
            <a:ext cx="914400" cy="274320"/>
          </a:xfrm>
          <a:prstGeom prst="roundRect">
            <a:avLst>
              <a:gd name="adj" fmla="val 16667"/>
            </a:avLst>
          </a:prstGeom>
          <a:solidFill>
            <a:srgbClr val="F8E4D7"/>
          </a:solidFill>
          <a:ln w="12700">
            <a:solidFill>
              <a:srgbClr val="F8E4D7">
                <a:alpha val="0"/>
              </a:srgbClr>
            </a:solidFill>
            <a:prstDash val="solid"/>
          </a:ln>
        </p:spPr>
      </p:sp>
      <p:sp>
        <p:nvSpPr>
          <p:cNvPr id="35" name="Valor 7,5% Tier 1"/>
          <p:cNvSpPr txBox="1"/>
          <p:nvPr/>
        </p:nvSpPr>
        <p:spPr>
          <a:xfrm>
            <a:off x="1371600" y="23774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2</a:t>
            </a:r>
            <a:endParaRPr lang="en-US" sz="1200" dirty="0"/>
          </a:p>
        </p:txBody>
      </p:sp>
      <p:sp>
        <p:nvSpPr>
          <p:cNvPr id="36" name="Celula 7,5% Tier 2"/>
          <p:cNvSpPr/>
          <p:nvPr/>
        </p:nvSpPr>
        <p:spPr>
          <a:xfrm>
            <a:off x="2322576" y="2377440"/>
            <a:ext cx="914400" cy="274320"/>
          </a:xfrm>
          <a:prstGeom prst="roundRect">
            <a:avLst>
              <a:gd name="adj" fmla="val 16667"/>
            </a:avLst>
          </a:prstGeom>
          <a:solidFill>
            <a:srgbClr val="F9E7DB"/>
          </a:solidFill>
          <a:ln w="12700">
            <a:solidFill>
              <a:srgbClr val="F9E7DB">
                <a:alpha val="0"/>
              </a:srgbClr>
            </a:solidFill>
            <a:prstDash val="solid"/>
          </a:ln>
        </p:spPr>
      </p:sp>
      <p:sp>
        <p:nvSpPr>
          <p:cNvPr id="37" name="Valor 7,5% Tier 2"/>
          <p:cNvSpPr txBox="1"/>
          <p:nvPr/>
        </p:nvSpPr>
        <p:spPr>
          <a:xfrm>
            <a:off x="2322576" y="23774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5</a:t>
            </a:r>
            <a:endParaRPr lang="en-US" sz="1200" dirty="0"/>
          </a:p>
        </p:txBody>
      </p:sp>
      <p:sp>
        <p:nvSpPr>
          <p:cNvPr id="38" name="Celula 7,5% Tier 3"/>
          <p:cNvSpPr/>
          <p:nvPr/>
        </p:nvSpPr>
        <p:spPr>
          <a:xfrm>
            <a:off x="3273552" y="2377440"/>
            <a:ext cx="914400" cy="274320"/>
          </a:xfrm>
          <a:prstGeom prst="roundRect">
            <a:avLst>
              <a:gd name="adj" fmla="val 16667"/>
            </a:avLst>
          </a:prstGeom>
          <a:solidFill>
            <a:srgbClr val="F6DFD1"/>
          </a:solidFill>
          <a:ln w="12700">
            <a:solidFill>
              <a:srgbClr val="F6DFD1">
                <a:alpha val="0"/>
              </a:srgbClr>
            </a:solidFill>
            <a:prstDash val="solid"/>
          </a:ln>
        </p:spPr>
      </p:sp>
      <p:sp>
        <p:nvSpPr>
          <p:cNvPr id="39" name="Valor 7,5% Tier 3"/>
          <p:cNvSpPr txBox="1"/>
          <p:nvPr/>
        </p:nvSpPr>
        <p:spPr>
          <a:xfrm>
            <a:off x="3273552" y="23774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18</a:t>
            </a:r>
            <a:endParaRPr lang="en-US" sz="1200" dirty="0"/>
          </a:p>
        </p:txBody>
      </p:sp>
      <p:sp>
        <p:nvSpPr>
          <p:cNvPr id="40" name="Celula 7,5% Tier 4"/>
          <p:cNvSpPr/>
          <p:nvPr/>
        </p:nvSpPr>
        <p:spPr>
          <a:xfrm>
            <a:off x="4224528" y="2377440"/>
            <a:ext cx="914400" cy="274320"/>
          </a:xfrm>
          <a:prstGeom prst="roundRect">
            <a:avLst>
              <a:gd name="adj" fmla="val 16667"/>
            </a:avLst>
          </a:prstGeom>
          <a:solidFill>
            <a:srgbClr val="F9E6DA"/>
          </a:solidFill>
          <a:ln w="12700">
            <a:solidFill>
              <a:srgbClr val="F9E6DA">
                <a:alpha val="0"/>
              </a:srgbClr>
            </a:solidFill>
            <a:prstDash val="solid"/>
          </a:ln>
        </p:spPr>
      </p:sp>
      <p:sp>
        <p:nvSpPr>
          <p:cNvPr id="41" name="Valor 7,5% Tier 4"/>
          <p:cNvSpPr txBox="1"/>
          <p:nvPr/>
        </p:nvSpPr>
        <p:spPr>
          <a:xfrm>
            <a:off x="4224528" y="23774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11</a:t>
            </a:r>
            <a:endParaRPr lang="en-US" sz="1200" dirty="0"/>
          </a:p>
        </p:txBody>
      </p:sp>
      <p:sp>
        <p:nvSpPr>
          <p:cNvPr id="42" name="Celula 7,5% Not Segmented"/>
          <p:cNvSpPr/>
          <p:nvPr/>
        </p:nvSpPr>
        <p:spPr>
          <a:xfrm>
            <a:off x="5175504" y="2377440"/>
            <a:ext cx="914400" cy="274320"/>
          </a:xfrm>
          <a:prstGeom prst="roundRect">
            <a:avLst>
              <a:gd name="adj" fmla="val 16667"/>
            </a:avLst>
          </a:prstGeom>
          <a:solidFill>
            <a:srgbClr val="FAE9DD"/>
          </a:solidFill>
          <a:ln w="12700">
            <a:solidFill>
              <a:srgbClr val="FAE9DD">
                <a:alpha val="0"/>
              </a:srgbClr>
            </a:solidFill>
            <a:prstDash val="solid"/>
          </a:ln>
        </p:spPr>
      </p:sp>
      <p:sp>
        <p:nvSpPr>
          <p:cNvPr id="43" name="Valor 7,5% Not Segmented"/>
          <p:cNvSpPr txBox="1"/>
          <p:nvPr/>
        </p:nvSpPr>
        <p:spPr>
          <a:xfrm>
            <a:off x="5175504" y="23774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17</a:t>
            </a:r>
            <a:endParaRPr lang="en-US" sz="1200" dirty="0"/>
          </a:p>
        </p:txBody>
      </p:sp>
      <p:sp>
        <p:nvSpPr>
          <p:cNvPr id="44" name="Linha 10,0%"/>
          <p:cNvSpPr txBox="1"/>
          <p:nvPr/>
        </p:nvSpPr>
        <p:spPr>
          <a:xfrm>
            <a:off x="548640" y="2688336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chemeClr val="accent4"/>
                </a:solidFill>
              </a:rPr>
              <a:t>10,0%</a:t>
            </a:r>
            <a:endParaRPr lang="en-US" sz="1200" dirty="0"/>
          </a:p>
        </p:txBody>
      </p:sp>
      <p:sp>
        <p:nvSpPr>
          <p:cNvPr id="45" name="Celula 10,0% Tier 1"/>
          <p:cNvSpPr/>
          <p:nvPr/>
        </p:nvSpPr>
        <p:spPr>
          <a:xfrm>
            <a:off x="1371600" y="2688336"/>
            <a:ext cx="914400" cy="274320"/>
          </a:xfrm>
          <a:prstGeom prst="roundRect">
            <a:avLst>
              <a:gd name="adj" fmla="val 16667"/>
            </a:avLst>
          </a:prstGeom>
          <a:solidFill>
            <a:srgbClr val="FAEBE0"/>
          </a:solidFill>
          <a:ln w="12700">
            <a:solidFill>
              <a:srgbClr val="FAEBE0">
                <a:alpha val="0"/>
              </a:srgbClr>
            </a:solidFill>
            <a:prstDash val="solid"/>
          </a:ln>
        </p:spPr>
      </p:sp>
      <p:sp>
        <p:nvSpPr>
          <p:cNvPr id="46" name="Valor 10,0% Tier 1"/>
          <p:cNvSpPr txBox="1"/>
          <p:nvPr/>
        </p:nvSpPr>
        <p:spPr>
          <a:xfrm>
            <a:off x="1371600" y="268833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1</a:t>
            </a:r>
            <a:endParaRPr lang="en-US" sz="1200" dirty="0"/>
          </a:p>
        </p:txBody>
      </p:sp>
      <p:sp>
        <p:nvSpPr>
          <p:cNvPr id="47" name="Celula 10,0% Tier 2"/>
          <p:cNvSpPr/>
          <p:nvPr/>
        </p:nvSpPr>
        <p:spPr>
          <a:xfrm>
            <a:off x="2322576" y="2688336"/>
            <a:ext cx="914400" cy="274320"/>
          </a:xfrm>
          <a:prstGeom prst="roundRect">
            <a:avLst>
              <a:gd name="adj" fmla="val 16667"/>
            </a:avLst>
          </a:prstGeom>
          <a:solidFill>
            <a:srgbClr val="F4D7C7"/>
          </a:solidFill>
          <a:ln w="12700">
            <a:solidFill>
              <a:srgbClr val="F4D7C7">
                <a:alpha val="0"/>
              </a:srgbClr>
            </a:solidFill>
            <a:prstDash val="solid"/>
          </a:ln>
        </p:spPr>
      </p:sp>
      <p:sp>
        <p:nvSpPr>
          <p:cNvPr id="48" name="Valor 10,0% Tier 2"/>
          <p:cNvSpPr txBox="1"/>
          <p:nvPr/>
        </p:nvSpPr>
        <p:spPr>
          <a:xfrm>
            <a:off x="2322576" y="268833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12</a:t>
            </a:r>
            <a:endParaRPr lang="en-US" sz="1200" dirty="0"/>
          </a:p>
        </p:txBody>
      </p:sp>
      <p:sp>
        <p:nvSpPr>
          <p:cNvPr id="49" name="Celula 10,0% Tier 3"/>
          <p:cNvSpPr/>
          <p:nvPr/>
        </p:nvSpPr>
        <p:spPr>
          <a:xfrm>
            <a:off x="3273552" y="2688336"/>
            <a:ext cx="914400" cy="274320"/>
          </a:xfrm>
          <a:prstGeom prst="roundRect">
            <a:avLst>
              <a:gd name="adj" fmla="val 16667"/>
            </a:avLst>
          </a:prstGeom>
          <a:solidFill>
            <a:srgbClr val="F1CEBC"/>
          </a:solidFill>
          <a:ln w="12700">
            <a:solidFill>
              <a:srgbClr val="F1CEBC">
                <a:alpha val="0"/>
              </a:srgbClr>
            </a:solidFill>
            <a:prstDash val="solid"/>
          </a:ln>
        </p:spPr>
      </p:sp>
      <p:sp>
        <p:nvSpPr>
          <p:cNvPr id="50" name="Valor 10,0% Tier 3"/>
          <p:cNvSpPr txBox="1"/>
          <p:nvPr/>
        </p:nvSpPr>
        <p:spPr>
          <a:xfrm>
            <a:off x="3273552" y="268833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34</a:t>
            </a:r>
            <a:endParaRPr lang="en-US" sz="1200" dirty="0"/>
          </a:p>
        </p:txBody>
      </p:sp>
      <p:sp>
        <p:nvSpPr>
          <p:cNvPr id="51" name="Celula 10,0% Tier 4"/>
          <p:cNvSpPr/>
          <p:nvPr/>
        </p:nvSpPr>
        <p:spPr>
          <a:xfrm>
            <a:off x="4224528" y="2688336"/>
            <a:ext cx="914400" cy="274320"/>
          </a:xfrm>
          <a:prstGeom prst="roundRect">
            <a:avLst>
              <a:gd name="adj" fmla="val 16667"/>
            </a:avLst>
          </a:prstGeom>
          <a:solidFill>
            <a:srgbClr val="E9B59D"/>
          </a:solidFill>
          <a:ln w="12700">
            <a:solidFill>
              <a:srgbClr val="E9B59D">
                <a:alpha val="0"/>
              </a:srgbClr>
            </a:solidFill>
            <a:prstDash val="solid"/>
          </a:ln>
        </p:spPr>
      </p:sp>
      <p:sp>
        <p:nvSpPr>
          <p:cNvPr id="52" name="Valor 10,0% Tier 4"/>
          <p:cNvSpPr txBox="1"/>
          <p:nvPr/>
        </p:nvSpPr>
        <p:spPr>
          <a:xfrm>
            <a:off x="4224528" y="268833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52</a:t>
            </a:r>
            <a:endParaRPr lang="en-US" sz="1200" dirty="0"/>
          </a:p>
        </p:txBody>
      </p:sp>
      <p:sp>
        <p:nvSpPr>
          <p:cNvPr id="53" name="Celula 10,0% Not Segmented"/>
          <p:cNvSpPr/>
          <p:nvPr/>
        </p:nvSpPr>
        <p:spPr>
          <a:xfrm>
            <a:off x="5175504" y="2688336"/>
            <a:ext cx="914400" cy="274320"/>
          </a:xfrm>
          <a:prstGeom prst="roundRect">
            <a:avLst>
              <a:gd name="adj" fmla="val 16667"/>
            </a:avLst>
          </a:prstGeom>
          <a:solidFill>
            <a:srgbClr val="E9B69D"/>
          </a:solidFill>
          <a:ln w="12700">
            <a:solidFill>
              <a:srgbClr val="E9B69D">
                <a:alpha val="0"/>
              </a:srgbClr>
            </a:solidFill>
            <a:prstDash val="solid"/>
          </a:ln>
        </p:spPr>
      </p:sp>
      <p:sp>
        <p:nvSpPr>
          <p:cNvPr id="54" name="Valor 10,0% Not Segmented"/>
          <p:cNvSpPr txBox="1"/>
          <p:nvPr/>
        </p:nvSpPr>
        <p:spPr>
          <a:xfrm>
            <a:off x="5175504" y="268833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102</a:t>
            </a:r>
            <a:endParaRPr lang="en-US" sz="1200" dirty="0"/>
          </a:p>
        </p:txBody>
      </p:sp>
      <p:sp>
        <p:nvSpPr>
          <p:cNvPr id="55" name="Linha 12,5%"/>
          <p:cNvSpPr txBox="1"/>
          <p:nvPr/>
        </p:nvSpPr>
        <p:spPr>
          <a:xfrm>
            <a:off x="548640" y="299923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chemeClr val="accent4"/>
                </a:solidFill>
              </a:rPr>
              <a:t>12,5%</a:t>
            </a:r>
            <a:endParaRPr lang="en-US" sz="1200" dirty="0"/>
          </a:p>
        </p:txBody>
      </p:sp>
      <p:sp>
        <p:nvSpPr>
          <p:cNvPr id="56" name="Celula 12,5% Tier 1"/>
          <p:cNvSpPr/>
          <p:nvPr/>
        </p:nvSpPr>
        <p:spPr>
          <a:xfrm>
            <a:off x="1371600" y="2999232"/>
            <a:ext cx="914400" cy="274320"/>
          </a:xfrm>
          <a:prstGeom prst="roundRect">
            <a:avLst>
              <a:gd name="adj" fmla="val 16667"/>
            </a:avLst>
          </a:prstGeom>
          <a:solidFill>
            <a:srgbClr val="F3D4C4"/>
          </a:solidFill>
          <a:ln w="12700">
            <a:solidFill>
              <a:srgbClr val="F3D4C4">
                <a:alpha val="0"/>
              </a:srgbClr>
            </a:solidFill>
            <a:prstDash val="solid"/>
          </a:ln>
        </p:spPr>
      </p:sp>
      <p:sp>
        <p:nvSpPr>
          <p:cNvPr id="57" name="Valor 12,5% Tier 1"/>
          <p:cNvSpPr txBox="1"/>
          <p:nvPr/>
        </p:nvSpPr>
        <p:spPr>
          <a:xfrm>
            <a:off x="1371600" y="299923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4</a:t>
            </a:r>
            <a:endParaRPr lang="en-US" sz="1200" dirty="0"/>
          </a:p>
        </p:txBody>
      </p:sp>
      <p:sp>
        <p:nvSpPr>
          <p:cNvPr id="58" name="Celula 12,5% Tier 2"/>
          <p:cNvSpPr/>
          <p:nvPr/>
        </p:nvSpPr>
        <p:spPr>
          <a:xfrm>
            <a:off x="2322576" y="2999232"/>
            <a:ext cx="914400" cy="274320"/>
          </a:xfrm>
          <a:prstGeom prst="roundRect">
            <a:avLst>
              <a:gd name="adj" fmla="val 16667"/>
            </a:avLst>
          </a:prstGeom>
          <a:solidFill>
            <a:srgbClr val="EDC2AD"/>
          </a:solidFill>
          <a:ln w="12700">
            <a:solidFill>
              <a:srgbClr val="EDC2AD">
                <a:alpha val="0"/>
              </a:srgbClr>
            </a:solidFill>
            <a:prstDash val="solid"/>
          </a:ln>
        </p:spPr>
      </p:sp>
      <p:sp>
        <p:nvSpPr>
          <p:cNvPr id="59" name="Valor 12,5% Tier 2"/>
          <p:cNvSpPr txBox="1"/>
          <p:nvPr/>
        </p:nvSpPr>
        <p:spPr>
          <a:xfrm>
            <a:off x="2322576" y="299923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21</a:t>
            </a:r>
            <a:endParaRPr lang="en-US" sz="1200" dirty="0"/>
          </a:p>
        </p:txBody>
      </p:sp>
      <p:sp>
        <p:nvSpPr>
          <p:cNvPr id="60" name="Celula 12,5% Tier 3"/>
          <p:cNvSpPr/>
          <p:nvPr/>
        </p:nvSpPr>
        <p:spPr>
          <a:xfrm>
            <a:off x="3273552" y="2999232"/>
            <a:ext cx="914400" cy="274320"/>
          </a:xfrm>
          <a:prstGeom prst="roundRect">
            <a:avLst>
              <a:gd name="adj" fmla="val 16667"/>
            </a:avLst>
          </a:prstGeom>
          <a:solidFill>
            <a:srgbClr val="F4D9C9"/>
          </a:solidFill>
          <a:ln w="12700">
            <a:solidFill>
              <a:srgbClr val="F4D9C9">
                <a:alpha val="0"/>
              </a:srgbClr>
            </a:solidFill>
            <a:prstDash val="solid"/>
          </a:ln>
        </p:spPr>
      </p:sp>
      <p:sp>
        <p:nvSpPr>
          <p:cNvPr id="61" name="Valor 12,5% Tier 3"/>
          <p:cNvSpPr txBox="1"/>
          <p:nvPr/>
        </p:nvSpPr>
        <p:spPr>
          <a:xfrm>
            <a:off x="3273552" y="299923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24</a:t>
            </a:r>
            <a:endParaRPr lang="en-US" sz="1200" dirty="0"/>
          </a:p>
        </p:txBody>
      </p:sp>
      <p:sp>
        <p:nvSpPr>
          <p:cNvPr id="62" name="Celula 12,5% Tier 4"/>
          <p:cNvSpPr/>
          <p:nvPr/>
        </p:nvSpPr>
        <p:spPr>
          <a:xfrm>
            <a:off x="4224528" y="2999232"/>
            <a:ext cx="914400" cy="274320"/>
          </a:xfrm>
          <a:prstGeom prst="roundRect">
            <a:avLst>
              <a:gd name="adj" fmla="val 16667"/>
            </a:avLst>
          </a:prstGeom>
          <a:solidFill>
            <a:srgbClr val="F8E5D8"/>
          </a:solidFill>
          <a:ln w="12700">
            <a:solidFill>
              <a:srgbClr val="F8E5D8">
                <a:alpha val="0"/>
              </a:srgbClr>
            </a:solidFill>
            <a:prstDash val="solid"/>
          </a:ln>
        </p:spPr>
      </p:sp>
      <p:sp>
        <p:nvSpPr>
          <p:cNvPr id="63" name="Valor 12,5% Tier 4"/>
          <p:cNvSpPr txBox="1"/>
          <p:nvPr/>
        </p:nvSpPr>
        <p:spPr>
          <a:xfrm>
            <a:off x="4224528" y="299923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12</a:t>
            </a:r>
            <a:endParaRPr lang="en-US" sz="1200" dirty="0"/>
          </a:p>
        </p:txBody>
      </p:sp>
      <p:sp>
        <p:nvSpPr>
          <p:cNvPr id="64" name="Celula 12,5% Not Segmented"/>
          <p:cNvSpPr/>
          <p:nvPr/>
        </p:nvSpPr>
        <p:spPr>
          <a:xfrm>
            <a:off x="5175504" y="2999232"/>
            <a:ext cx="914400" cy="274320"/>
          </a:xfrm>
          <a:prstGeom prst="roundRect">
            <a:avLst>
              <a:gd name="adj" fmla="val 16667"/>
            </a:avLst>
          </a:prstGeom>
          <a:solidFill>
            <a:srgbClr val="F8E5D9"/>
          </a:solidFill>
          <a:ln w="12700">
            <a:solidFill>
              <a:srgbClr val="F8E5D9">
                <a:alpha val="0"/>
              </a:srgbClr>
            </a:solidFill>
            <a:prstDash val="solid"/>
          </a:ln>
        </p:spPr>
      </p:sp>
      <p:sp>
        <p:nvSpPr>
          <p:cNvPr id="65" name="Valor 12,5% Not Segmented"/>
          <p:cNvSpPr txBox="1"/>
          <p:nvPr/>
        </p:nvSpPr>
        <p:spPr>
          <a:xfrm>
            <a:off x="5175504" y="299923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23</a:t>
            </a:r>
            <a:endParaRPr lang="en-US" sz="1200" dirty="0"/>
          </a:p>
        </p:txBody>
      </p:sp>
      <p:sp>
        <p:nvSpPr>
          <p:cNvPr id="66" name="Linha 15,0%"/>
          <p:cNvSpPr txBox="1"/>
          <p:nvPr/>
        </p:nvSpPr>
        <p:spPr>
          <a:xfrm>
            <a:off x="548640" y="3310128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C2410C"/>
                </a:solidFill>
              </a:rPr>
              <a:t>15,0%</a:t>
            </a:r>
            <a:endParaRPr lang="en-US" sz="1200" dirty="0"/>
          </a:p>
        </p:txBody>
      </p:sp>
      <p:sp>
        <p:nvSpPr>
          <p:cNvPr id="67" name="Celula 15,0% Tier 1"/>
          <p:cNvSpPr/>
          <p:nvPr/>
        </p:nvSpPr>
        <p:spPr>
          <a:xfrm>
            <a:off x="1371600" y="3310128"/>
            <a:ext cx="914400" cy="274320"/>
          </a:xfrm>
          <a:prstGeom prst="roundRect">
            <a:avLst>
              <a:gd name="adj" fmla="val 16667"/>
            </a:avLst>
          </a:prstGeom>
          <a:solidFill>
            <a:srgbClr val="E6AE94"/>
          </a:solidFill>
          <a:ln w="12700">
            <a:solidFill>
              <a:srgbClr val="E6AE94">
                <a:alpha val="0"/>
              </a:srgbClr>
            </a:solidFill>
            <a:prstDash val="solid"/>
          </a:ln>
        </p:spPr>
      </p:sp>
      <p:sp>
        <p:nvSpPr>
          <p:cNvPr id="68" name="Valor 15,0% Tier 1"/>
          <p:cNvSpPr txBox="1"/>
          <p:nvPr/>
        </p:nvSpPr>
        <p:spPr>
          <a:xfrm>
            <a:off x="1371600" y="331012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9</a:t>
            </a:r>
            <a:endParaRPr lang="en-US" sz="1200" dirty="0"/>
          </a:p>
        </p:txBody>
      </p:sp>
      <p:sp>
        <p:nvSpPr>
          <p:cNvPr id="69" name="Celula 15,0% Tier 2"/>
          <p:cNvSpPr/>
          <p:nvPr/>
        </p:nvSpPr>
        <p:spPr>
          <a:xfrm>
            <a:off x="2322576" y="3310128"/>
            <a:ext cx="914400" cy="274320"/>
          </a:xfrm>
          <a:prstGeom prst="roundRect">
            <a:avLst>
              <a:gd name="adj" fmla="val 16667"/>
            </a:avLst>
          </a:prstGeom>
          <a:solidFill>
            <a:srgbClr val="E4A88C"/>
          </a:solidFill>
          <a:ln w="12700">
            <a:solidFill>
              <a:srgbClr val="E4A88C">
                <a:alpha val="0"/>
              </a:srgbClr>
            </a:solidFill>
            <a:prstDash val="solid"/>
          </a:ln>
        </p:spPr>
      </p:sp>
      <p:sp>
        <p:nvSpPr>
          <p:cNvPr id="70" name="Valor 15,0% Tier 2"/>
          <p:cNvSpPr txBox="1"/>
          <p:nvPr/>
        </p:nvSpPr>
        <p:spPr>
          <a:xfrm>
            <a:off x="2322576" y="331012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32</a:t>
            </a:r>
            <a:endParaRPr lang="en-US" sz="1200" dirty="0"/>
          </a:p>
        </p:txBody>
      </p:sp>
      <p:sp>
        <p:nvSpPr>
          <p:cNvPr id="71" name="Celula 15,0% Tier 3"/>
          <p:cNvSpPr/>
          <p:nvPr/>
        </p:nvSpPr>
        <p:spPr>
          <a:xfrm>
            <a:off x="3273552" y="3310128"/>
            <a:ext cx="914400" cy="274320"/>
          </a:xfrm>
          <a:prstGeom prst="roundRect">
            <a:avLst>
              <a:gd name="adj" fmla="val 16667"/>
            </a:avLst>
          </a:prstGeom>
          <a:solidFill>
            <a:srgbClr val="D98864"/>
          </a:solidFill>
          <a:ln w="12700">
            <a:solidFill>
              <a:srgbClr val="D98864">
                <a:alpha val="0"/>
              </a:srgbClr>
            </a:solidFill>
            <a:prstDash val="solid"/>
          </a:ln>
        </p:spPr>
      </p:sp>
      <p:sp>
        <p:nvSpPr>
          <p:cNvPr id="72" name="Valor 15,0% Tier 3"/>
          <p:cNvSpPr txBox="1"/>
          <p:nvPr/>
        </p:nvSpPr>
        <p:spPr>
          <a:xfrm>
            <a:off x="3273552" y="331012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98</a:t>
            </a:r>
            <a:endParaRPr lang="en-US" sz="1200" dirty="0"/>
          </a:p>
        </p:txBody>
      </p:sp>
      <p:sp>
        <p:nvSpPr>
          <p:cNvPr id="73" name="Celula 15,0% Tier 4"/>
          <p:cNvSpPr/>
          <p:nvPr/>
        </p:nvSpPr>
        <p:spPr>
          <a:xfrm>
            <a:off x="4224528" y="3310128"/>
            <a:ext cx="914400" cy="274320"/>
          </a:xfrm>
          <a:prstGeom prst="roundRect">
            <a:avLst>
              <a:gd name="adj" fmla="val 16667"/>
            </a:avLst>
          </a:prstGeom>
          <a:solidFill>
            <a:srgbClr val="C2410C"/>
          </a:solidFill>
          <a:ln w="12700">
            <a:solidFill>
              <a:srgbClr val="C2410C">
                <a:alpha val="0"/>
              </a:srgbClr>
            </a:solidFill>
            <a:prstDash val="solid"/>
          </a:ln>
        </p:spPr>
      </p:sp>
      <p:sp>
        <p:nvSpPr>
          <p:cNvPr id="74" name="Valor 15,0% Tier 4"/>
          <p:cNvSpPr txBox="1"/>
          <p:nvPr/>
        </p:nvSpPr>
        <p:spPr>
          <a:xfrm>
            <a:off x="4224528" y="331012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158</a:t>
            </a:r>
            <a:endParaRPr lang="en-US" sz="1200" dirty="0"/>
          </a:p>
        </p:txBody>
      </p:sp>
      <p:sp>
        <p:nvSpPr>
          <p:cNvPr id="75" name="Celula 15,0% Not Segmented"/>
          <p:cNvSpPr/>
          <p:nvPr/>
        </p:nvSpPr>
        <p:spPr>
          <a:xfrm>
            <a:off x="5175504" y="3310128"/>
            <a:ext cx="914400" cy="274320"/>
          </a:xfrm>
          <a:prstGeom prst="roundRect">
            <a:avLst>
              <a:gd name="adj" fmla="val 16667"/>
            </a:avLst>
          </a:prstGeom>
          <a:solidFill>
            <a:srgbClr val="CD6235"/>
          </a:solidFill>
          <a:ln w="12700">
            <a:solidFill>
              <a:srgbClr val="CD6235">
                <a:alpha val="0"/>
              </a:srgbClr>
            </a:solidFill>
            <a:prstDash val="solid"/>
          </a:ln>
        </p:spPr>
      </p:sp>
      <p:sp>
        <p:nvSpPr>
          <p:cNvPr id="76" name="Valor 15,0% Not Segmented"/>
          <p:cNvSpPr txBox="1"/>
          <p:nvPr/>
        </p:nvSpPr>
        <p:spPr>
          <a:xfrm>
            <a:off x="5175504" y="331012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241</a:t>
            </a:r>
            <a:endParaRPr lang="en-US" sz="1200" dirty="0"/>
          </a:p>
        </p:txBody>
      </p:sp>
      <p:sp>
        <p:nvSpPr>
          <p:cNvPr id="77" name="Linha 15,0%"/>
          <p:cNvSpPr txBox="1"/>
          <p:nvPr/>
        </p:nvSpPr>
        <p:spPr>
          <a:xfrm>
            <a:off x="548640" y="3621024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C2410C"/>
                </a:solidFill>
              </a:rPr>
              <a:t>15,0%</a:t>
            </a:r>
            <a:endParaRPr lang="en-US" sz="1200" dirty="0"/>
          </a:p>
        </p:txBody>
      </p:sp>
      <p:sp>
        <p:nvSpPr>
          <p:cNvPr id="78" name="Celula 15,0% Tier 1"/>
          <p:cNvSpPr/>
          <p:nvPr/>
        </p:nvSpPr>
        <p:spPr>
          <a:xfrm>
            <a:off x="1371600" y="3621024"/>
            <a:ext cx="914400" cy="274320"/>
          </a:xfrm>
          <a:prstGeom prst="roundRect">
            <a:avLst>
              <a:gd name="adj" fmla="val 16667"/>
            </a:avLst>
          </a:prstGeom>
          <a:solidFill>
            <a:srgbClr val="F5DCCD"/>
          </a:solidFill>
          <a:ln w="12700">
            <a:solidFill>
              <a:srgbClr val="F5DCCD">
                <a:alpha val="0"/>
              </a:srgbClr>
            </a:solidFill>
            <a:prstDash val="solid"/>
          </a:ln>
        </p:spPr>
      </p:sp>
      <p:sp>
        <p:nvSpPr>
          <p:cNvPr id="79" name="Valor 15,0% Tier 1"/>
          <p:cNvSpPr txBox="1"/>
          <p:nvPr/>
        </p:nvSpPr>
        <p:spPr>
          <a:xfrm>
            <a:off x="1371600" y="3621024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3</a:t>
            </a:r>
            <a:endParaRPr lang="en-US" sz="1200" dirty="0"/>
          </a:p>
        </p:txBody>
      </p:sp>
      <p:sp>
        <p:nvSpPr>
          <p:cNvPr id="80" name="Celula 15,0% Tier 2"/>
          <p:cNvSpPr/>
          <p:nvPr/>
        </p:nvSpPr>
        <p:spPr>
          <a:xfrm>
            <a:off x="2322576" y="3621024"/>
            <a:ext cx="914400" cy="274320"/>
          </a:xfrm>
          <a:prstGeom prst="roundRect">
            <a:avLst>
              <a:gd name="adj" fmla="val 16667"/>
            </a:avLst>
          </a:prstGeom>
          <a:solidFill>
            <a:srgbClr val="FBEEE4"/>
          </a:solidFill>
          <a:ln w="12700">
            <a:solidFill>
              <a:srgbClr val="FBEEE4">
                <a:alpha val="0"/>
              </a:srgbClr>
            </a:solidFill>
            <a:prstDash val="solid"/>
          </a:ln>
        </p:spPr>
      </p:sp>
      <p:sp>
        <p:nvSpPr>
          <p:cNvPr id="81" name="Valor 15,0% Tier 2"/>
          <p:cNvSpPr txBox="1"/>
          <p:nvPr/>
        </p:nvSpPr>
        <p:spPr>
          <a:xfrm>
            <a:off x="2322576" y="3621024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2</a:t>
            </a:r>
            <a:endParaRPr lang="en-US" sz="1200" dirty="0"/>
          </a:p>
        </p:txBody>
      </p:sp>
      <p:sp>
        <p:nvSpPr>
          <p:cNvPr id="82" name="Celula 15,0% Tier 3"/>
          <p:cNvSpPr/>
          <p:nvPr/>
        </p:nvSpPr>
        <p:spPr>
          <a:xfrm>
            <a:off x="3273552" y="3621024"/>
            <a:ext cx="914400" cy="274320"/>
          </a:xfrm>
          <a:prstGeom prst="roundRect">
            <a:avLst>
              <a:gd name="adj" fmla="val 16667"/>
            </a:avLst>
          </a:prstGeom>
          <a:solidFill>
            <a:srgbClr val="FAEBE0"/>
          </a:solidFill>
          <a:ln w="12700">
            <a:solidFill>
              <a:srgbClr val="FAEBE0">
                <a:alpha val="0"/>
              </a:srgbClr>
            </a:solidFill>
            <a:prstDash val="solid"/>
          </a:ln>
        </p:spPr>
      </p:sp>
      <p:sp>
        <p:nvSpPr>
          <p:cNvPr id="83" name="Valor 15,0% Tier 3"/>
          <p:cNvSpPr txBox="1"/>
          <p:nvPr/>
        </p:nvSpPr>
        <p:spPr>
          <a:xfrm>
            <a:off x="3273552" y="3621024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7</a:t>
            </a:r>
            <a:endParaRPr lang="en-US" sz="1200" dirty="0"/>
          </a:p>
        </p:txBody>
      </p:sp>
      <p:sp>
        <p:nvSpPr>
          <p:cNvPr id="84" name="Celula 15,0% Tier 4"/>
          <p:cNvSpPr/>
          <p:nvPr/>
        </p:nvSpPr>
        <p:spPr>
          <a:xfrm>
            <a:off x="4224528" y="3621024"/>
            <a:ext cx="914400" cy="274320"/>
          </a:xfrm>
          <a:prstGeom prst="roundRect">
            <a:avLst>
              <a:gd name="adj" fmla="val 16667"/>
            </a:avLst>
          </a:prstGeom>
          <a:solidFill>
            <a:srgbClr val="FBEEE4"/>
          </a:solidFill>
          <a:ln w="12700">
            <a:solidFill>
              <a:srgbClr val="FBEEE4">
                <a:alpha val="0"/>
              </a:srgbClr>
            </a:solidFill>
            <a:prstDash val="solid"/>
          </a:ln>
        </p:spPr>
      </p:sp>
      <p:sp>
        <p:nvSpPr>
          <p:cNvPr id="85" name="Valor 15,0% Tier 4"/>
          <p:cNvSpPr txBox="1"/>
          <p:nvPr/>
        </p:nvSpPr>
        <p:spPr>
          <a:xfrm>
            <a:off x="4224528" y="3621024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4</a:t>
            </a:r>
            <a:endParaRPr lang="en-US" sz="1200" dirty="0"/>
          </a:p>
        </p:txBody>
      </p:sp>
      <p:sp>
        <p:nvSpPr>
          <p:cNvPr id="86" name="Celula 15,0% Not Segmented"/>
          <p:cNvSpPr/>
          <p:nvPr/>
        </p:nvSpPr>
        <p:spPr>
          <a:xfrm>
            <a:off x="5175504" y="3621024"/>
            <a:ext cx="914400" cy="274320"/>
          </a:xfrm>
          <a:prstGeom prst="roundRect">
            <a:avLst>
              <a:gd name="adj" fmla="val 16667"/>
            </a:avLst>
          </a:prstGeom>
          <a:solidFill>
            <a:srgbClr val="FDF2E9"/>
          </a:solidFill>
          <a:ln w="12700">
            <a:solidFill>
              <a:srgbClr val="FDF2E9">
                <a:alpha val="0"/>
              </a:srgbClr>
            </a:solidFill>
            <a:prstDash val="solid"/>
          </a:ln>
        </p:spPr>
      </p:sp>
      <p:sp>
        <p:nvSpPr>
          <p:cNvPr id="87" name="Valor 15,0% Not Segmented"/>
          <p:cNvSpPr txBox="1"/>
          <p:nvPr/>
        </p:nvSpPr>
        <p:spPr>
          <a:xfrm>
            <a:off x="5175504" y="3621024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1</a:t>
            </a:r>
            <a:endParaRPr lang="en-US" sz="1200" dirty="0"/>
          </a:p>
        </p:txBody>
      </p:sp>
      <p:sp>
        <p:nvSpPr>
          <p:cNvPr id="88" name="Linha 17,5%"/>
          <p:cNvSpPr txBox="1"/>
          <p:nvPr/>
        </p:nvSpPr>
        <p:spPr>
          <a:xfrm>
            <a:off x="548640" y="393192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C2410C"/>
                </a:solidFill>
              </a:rPr>
              <a:t>17,5%</a:t>
            </a:r>
            <a:endParaRPr lang="en-US" sz="1200" dirty="0"/>
          </a:p>
        </p:txBody>
      </p:sp>
      <p:sp>
        <p:nvSpPr>
          <p:cNvPr id="89" name="Celula 17,5% Tier 1"/>
          <p:cNvSpPr/>
          <p:nvPr/>
        </p:nvSpPr>
        <p:spPr>
          <a:xfrm>
            <a:off x="1371600" y="3931920"/>
            <a:ext cx="914400" cy="274320"/>
          </a:xfrm>
          <a:prstGeom prst="roundRect">
            <a:avLst>
              <a:gd name="adj" fmla="val 16667"/>
            </a:avLst>
          </a:prstGeom>
          <a:solidFill>
            <a:srgbClr val="C54917"/>
          </a:solidFill>
          <a:ln w="12700">
            <a:solidFill>
              <a:srgbClr val="C54917">
                <a:alpha val="0"/>
              </a:srgbClr>
            </a:solidFill>
            <a:prstDash val="solid"/>
          </a:ln>
        </p:spPr>
      </p:sp>
      <p:sp>
        <p:nvSpPr>
          <p:cNvPr id="90" name="Valor 17,5% Tier 1"/>
          <p:cNvSpPr txBox="1"/>
          <p:nvPr/>
        </p:nvSpPr>
        <p:spPr>
          <a:xfrm>
            <a:off x="1371600" y="39319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22</a:t>
            </a:r>
            <a:endParaRPr lang="en-US" sz="1200" dirty="0"/>
          </a:p>
        </p:txBody>
      </p:sp>
      <p:sp>
        <p:nvSpPr>
          <p:cNvPr id="91" name="Celula 17,5% Tier 2"/>
          <p:cNvSpPr/>
          <p:nvPr/>
        </p:nvSpPr>
        <p:spPr>
          <a:xfrm>
            <a:off x="2322576" y="3931920"/>
            <a:ext cx="914400" cy="274320"/>
          </a:xfrm>
          <a:prstGeom prst="roundRect">
            <a:avLst>
              <a:gd name="adj" fmla="val 16667"/>
            </a:avLst>
          </a:prstGeom>
          <a:solidFill>
            <a:srgbClr val="CB5D2F"/>
          </a:solidFill>
          <a:ln w="12700">
            <a:solidFill>
              <a:srgbClr val="CB5D2F">
                <a:alpha val="0"/>
              </a:srgbClr>
            </a:solidFill>
            <a:prstDash val="solid"/>
          </a:ln>
        </p:spPr>
      </p:sp>
      <p:sp>
        <p:nvSpPr>
          <p:cNvPr id="92" name="Valor 17,5% Tier 2"/>
          <p:cNvSpPr txBox="1"/>
          <p:nvPr/>
        </p:nvSpPr>
        <p:spPr>
          <a:xfrm>
            <a:off x="2322576" y="39319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64</a:t>
            </a:r>
            <a:endParaRPr lang="en-US" sz="1200" dirty="0"/>
          </a:p>
        </p:txBody>
      </p:sp>
      <p:sp>
        <p:nvSpPr>
          <p:cNvPr id="93" name="Celula 17,5% Tier 3"/>
          <p:cNvSpPr/>
          <p:nvPr/>
        </p:nvSpPr>
        <p:spPr>
          <a:xfrm>
            <a:off x="3273552" y="3931920"/>
            <a:ext cx="914400" cy="274320"/>
          </a:xfrm>
          <a:prstGeom prst="roundRect">
            <a:avLst>
              <a:gd name="adj" fmla="val 16667"/>
            </a:avLst>
          </a:prstGeom>
          <a:solidFill>
            <a:srgbClr val="D67E58"/>
          </a:solidFill>
          <a:ln w="12700">
            <a:solidFill>
              <a:srgbClr val="D67E58">
                <a:alpha val="0"/>
              </a:srgbClr>
            </a:solidFill>
            <a:prstDash val="solid"/>
          </a:ln>
        </p:spPr>
      </p:sp>
      <p:sp>
        <p:nvSpPr>
          <p:cNvPr id="94" name="Valor 17,5% Tier 3"/>
          <p:cNvSpPr txBox="1"/>
          <p:nvPr/>
        </p:nvSpPr>
        <p:spPr>
          <a:xfrm>
            <a:off x="3273552" y="39319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107</a:t>
            </a:r>
            <a:endParaRPr lang="en-US" sz="1200" dirty="0"/>
          </a:p>
        </p:txBody>
      </p:sp>
      <p:sp>
        <p:nvSpPr>
          <p:cNvPr id="95" name="Celula 17,5% Tier 4"/>
          <p:cNvSpPr/>
          <p:nvPr/>
        </p:nvSpPr>
        <p:spPr>
          <a:xfrm>
            <a:off x="4224528" y="3931920"/>
            <a:ext cx="914400" cy="274320"/>
          </a:xfrm>
          <a:prstGeom prst="roundRect">
            <a:avLst>
              <a:gd name="adj" fmla="val 16667"/>
            </a:avLst>
          </a:prstGeom>
          <a:solidFill>
            <a:srgbClr val="F4D8C8"/>
          </a:solidFill>
          <a:ln w="12700">
            <a:solidFill>
              <a:srgbClr val="F4D8C8">
                <a:alpha val="0"/>
              </a:srgbClr>
            </a:solidFill>
            <a:prstDash val="solid"/>
          </a:ln>
        </p:spPr>
      </p:sp>
      <p:sp>
        <p:nvSpPr>
          <p:cNvPr id="96" name="Valor 17,5% Tier 4"/>
          <p:cNvSpPr txBox="1"/>
          <p:nvPr/>
        </p:nvSpPr>
        <p:spPr>
          <a:xfrm>
            <a:off x="4224528" y="39319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23</a:t>
            </a:r>
            <a:endParaRPr lang="en-US" sz="1200" dirty="0"/>
          </a:p>
        </p:txBody>
      </p:sp>
      <p:sp>
        <p:nvSpPr>
          <p:cNvPr id="97" name="Celula 17,5% Not Segmented"/>
          <p:cNvSpPr/>
          <p:nvPr/>
        </p:nvSpPr>
        <p:spPr>
          <a:xfrm>
            <a:off x="5175504" y="3931920"/>
            <a:ext cx="914400" cy="274320"/>
          </a:xfrm>
          <a:prstGeom prst="roundRect">
            <a:avLst>
              <a:gd name="adj" fmla="val 16667"/>
            </a:avLst>
          </a:prstGeom>
          <a:solidFill>
            <a:srgbClr val="E8B39A"/>
          </a:solidFill>
          <a:ln w="12700">
            <a:solidFill>
              <a:srgbClr val="E8B39A">
                <a:alpha val="0"/>
              </a:srgbClr>
            </a:solidFill>
            <a:prstDash val="solid"/>
          </a:ln>
        </p:spPr>
      </p:sp>
      <p:sp>
        <p:nvSpPr>
          <p:cNvPr id="98" name="Valor 17,5% Not Segmented"/>
          <p:cNvSpPr txBox="1"/>
          <p:nvPr/>
        </p:nvSpPr>
        <p:spPr>
          <a:xfrm>
            <a:off x="5175504" y="39319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106</a:t>
            </a:r>
            <a:endParaRPr lang="en-US" sz="1200" dirty="0"/>
          </a:p>
        </p:txBody>
      </p:sp>
      <p:sp>
        <p:nvSpPr>
          <p:cNvPr id="99" name="Total rotulo"/>
          <p:cNvSpPr txBox="1"/>
          <p:nvPr/>
        </p:nvSpPr>
        <p:spPr>
          <a:xfrm>
            <a:off x="548640" y="427939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Total</a:t>
            </a:r>
            <a:endParaRPr lang="en-US" sz="1200" dirty="0"/>
          </a:p>
        </p:txBody>
      </p:sp>
      <p:sp>
        <p:nvSpPr>
          <p:cNvPr id="100" name="Total Tier 1"/>
          <p:cNvSpPr txBox="1"/>
          <p:nvPr/>
        </p:nvSpPr>
        <p:spPr>
          <a:xfrm>
            <a:off x="1371600" y="427939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42</a:t>
            </a:r>
            <a:endParaRPr lang="en-US" sz="1200" dirty="0"/>
          </a:p>
        </p:txBody>
      </p:sp>
      <p:sp>
        <p:nvSpPr>
          <p:cNvPr id="101" name="Total Tier 2"/>
          <p:cNvSpPr txBox="1"/>
          <p:nvPr/>
        </p:nvSpPr>
        <p:spPr>
          <a:xfrm>
            <a:off x="2322576" y="427939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138</a:t>
            </a:r>
            <a:endParaRPr lang="en-US" sz="1200" dirty="0"/>
          </a:p>
        </p:txBody>
      </p:sp>
      <p:sp>
        <p:nvSpPr>
          <p:cNvPr id="102" name="Total Tier 3"/>
          <p:cNvSpPr txBox="1"/>
          <p:nvPr/>
        </p:nvSpPr>
        <p:spPr>
          <a:xfrm>
            <a:off x="3273552" y="427939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296</a:t>
            </a:r>
            <a:endParaRPr lang="en-US" sz="1200" dirty="0"/>
          </a:p>
        </p:txBody>
      </p:sp>
      <p:sp>
        <p:nvSpPr>
          <p:cNvPr id="103" name="Total Tier 4"/>
          <p:cNvSpPr txBox="1"/>
          <p:nvPr/>
        </p:nvSpPr>
        <p:spPr>
          <a:xfrm>
            <a:off x="4224528" y="427939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273</a:t>
            </a:r>
            <a:endParaRPr lang="en-US" sz="1200" dirty="0"/>
          </a:p>
        </p:txBody>
      </p:sp>
      <p:sp>
        <p:nvSpPr>
          <p:cNvPr id="104" name="Total Not Segmented"/>
          <p:cNvSpPr txBox="1"/>
          <p:nvPr/>
        </p:nvSpPr>
        <p:spPr>
          <a:xfrm>
            <a:off x="5175504" y="427939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537</a:t>
            </a:r>
            <a:endParaRPr lang="en-US" sz="1200" dirty="0"/>
          </a:p>
        </p:txBody>
      </p:sp>
      <p:sp>
        <p:nvSpPr>
          <p:cNvPr id="105" name="Destaque niveis altos"/>
          <p:cNvSpPr/>
          <p:nvPr/>
        </p:nvSpPr>
        <p:spPr>
          <a:xfrm>
            <a:off x="1280160" y="3282696"/>
            <a:ext cx="4937760" cy="950976"/>
          </a:xfrm>
          <a:prstGeom prst="roundRect">
            <a:avLst>
              <a:gd name="adj" fmla="val 7692"/>
            </a:avLst>
          </a:prstGeom>
          <a:solidFill>
            <a:schemeClr val="accent1">
              <a:alpha val="0"/>
            </a:schemeClr>
          </a:solidFill>
          <a:ln w="25400">
            <a:solidFill>
              <a:schemeClr val="tx1"/>
            </a:solidFill>
            <a:prstDash val="solid"/>
          </a:ln>
        </p:spPr>
      </p:sp>
      <p:sp>
        <p:nvSpPr>
          <p:cNvPr id="106" name="Numero destaque"/>
          <p:cNvSpPr txBox="1"/>
          <p:nvPr/>
        </p:nvSpPr>
        <p:spPr>
          <a:xfrm>
            <a:off x="6583680" y="1463040"/>
            <a:ext cx="2103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chemeClr val="accent1"/>
                </a:solidFill>
              </a:rPr>
              <a:t>68%</a:t>
            </a:r>
            <a:endParaRPr lang="en-US" sz="6000" dirty="0"/>
          </a:p>
        </p:txBody>
      </p:sp>
      <p:sp>
        <p:nvSpPr>
          <p:cNvPr id="107" name="Legenda destaque"/>
          <p:cNvSpPr txBox="1"/>
          <p:nvPr/>
        </p:nvSpPr>
        <p:spPr>
          <a:xfrm>
            <a:off x="6583680" y="2423160"/>
            <a:ext cx="2011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dos 1.286 agentes têm hoje desconto de 15,0% ou 17,5%</a:t>
            </a:r>
            <a:endParaRPr lang="en-US" sz="1400" dirty="0"/>
          </a:p>
        </p:txBody>
      </p:sp>
      <p:sp>
        <p:nvSpPr>
          <p:cNvPr id="108" name="Nota"/>
          <p:cNvSpPr txBox="1"/>
          <p:nvPr/>
        </p:nvSpPr>
        <p:spPr>
          <a:xfrm>
            <a:off x="6583680" y="3703320"/>
            <a:ext cx="2011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i="1" dirty="0">
                <a:solidFill>
                  <a:schemeClr val="accent4"/>
                </a:solidFill>
              </a:rPr>
              <a:t>Nota 1. O âmbito da iniciativa está limitado ao negócio de retalho. Ficam excluídos os negócios cujo valor global seja superior a 15.000€.</a:t>
            </a:r>
            <a:endParaRPr lang="en-US" sz="900" dirty="0"/>
          </a:p>
        </p:txBody>
      </p:sp>
      <p:sp>
        <p:nvSpPr>
          <p:cNvPr id="109" name="Legenda cor"/>
          <p:cNvSpPr txBox="1"/>
          <p:nvPr/>
        </p:nvSpPr>
        <p:spPr>
          <a:xfrm>
            <a:off x="548640" y="4608576"/>
            <a:ext cx="5760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chemeClr val="accent4"/>
                </a:solidFill>
              </a:rPr>
              <a:t>Linhas: nível de desconto no modelo atual. Colunas: tier no modelo proposto. Cor: peso no total da coluna.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28032"/>
            <a:ext cx="36576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cao"/>
          <p:cNvSpPr txBox="1"/>
          <p:nvPr/>
        </p:nvSpPr>
        <p:spPr>
          <a:xfrm>
            <a:off x="548640" y="32004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C2410C"/>
                </a:solidFill>
              </a:rPr>
              <a:t>1.2   MODELO ATUAL VS PROPOSTO</a:t>
            </a:r>
            <a:endParaRPr lang="en-US" sz="1000" dirty="0"/>
          </a:p>
        </p:txBody>
      </p:sp>
      <p:sp>
        <p:nvSpPr>
          <p:cNvPr id="3" name="Titulo"/>
          <p:cNvSpPr txBox="1"/>
          <p:nvPr/>
        </p:nvSpPr>
        <p:spPr>
          <a:xfrm>
            <a:off x="548640" y="640080"/>
            <a:ext cx="8046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Da diferenciação por desempenho para a distribuição da autonomia</a:t>
            </a:r>
            <a:endParaRPr lang="en-US" sz="2800" dirty="0"/>
          </a:p>
        </p:txBody>
      </p:sp>
      <p:sp>
        <p:nvSpPr>
          <p:cNvPr id="4" name="Cartao atual"/>
          <p:cNvSpPr/>
          <p:nvPr/>
        </p:nvSpPr>
        <p:spPr>
          <a:xfrm>
            <a:off x="548640" y="1691640"/>
            <a:ext cx="3749040" cy="2971800"/>
          </a:xfrm>
          <a:prstGeom prst="roundRect">
            <a:avLst>
              <a:gd name="adj" fmla="val 4308"/>
            </a:avLst>
          </a:prstGeom>
          <a:solidFill>
            <a:schemeClr val="bg2"/>
          </a:solidFill>
          <a:ln w="12700">
            <a:solidFill>
              <a:schemeClr val="bg2">
                <a:alpha val="0"/>
              </a:schemeClr>
            </a:solidFill>
            <a:prstDash val="solid"/>
          </a:ln>
        </p:spPr>
      </p:sp>
      <p:sp>
        <p:nvSpPr>
          <p:cNvPr id="5" name="Etiqueta atual"/>
          <p:cNvSpPr txBox="1"/>
          <p:nvPr/>
        </p:nvSpPr>
        <p:spPr>
          <a:xfrm>
            <a:off x="822960" y="187452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4"/>
                </a:solidFill>
              </a:rPr>
              <a:t>MODELO ATUAL</a:t>
            </a:r>
            <a:endParaRPr lang="en-US" sz="1100" dirty="0"/>
          </a:p>
        </p:txBody>
      </p:sp>
      <p:sp>
        <p:nvSpPr>
          <p:cNvPr id="6" name="Palavra atual"/>
          <p:cNvSpPr txBox="1"/>
          <p:nvPr/>
        </p:nvSpPr>
        <p:spPr>
          <a:xfrm>
            <a:off x="822960" y="214884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Desempenho</a:t>
            </a:r>
            <a:endParaRPr lang="en-US" sz="3000" dirty="0"/>
          </a:p>
        </p:txBody>
      </p:sp>
      <p:sp>
        <p:nvSpPr>
          <p:cNvPr id="7" name="Ponto atual 1"/>
          <p:cNvSpPr/>
          <p:nvPr/>
        </p:nvSpPr>
        <p:spPr>
          <a:xfrm>
            <a:off x="822960" y="2971800"/>
            <a:ext cx="109728" cy="109728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>
                <a:alpha val="0"/>
              </a:schemeClr>
            </a:solidFill>
            <a:prstDash val="solid"/>
          </a:ln>
        </p:spPr>
      </p:sp>
      <p:sp>
        <p:nvSpPr>
          <p:cNvPr id="8" name="Item atual 1"/>
          <p:cNvSpPr txBox="1"/>
          <p:nvPr/>
        </p:nvSpPr>
        <p:spPr>
          <a:xfrm>
            <a:off x="1051560" y="2834640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Autonomia ligada ao desempenho</a:t>
            </a:r>
            <a:endParaRPr lang="en-US" sz="1400" dirty="0"/>
          </a:p>
        </p:txBody>
      </p:sp>
      <p:sp>
        <p:nvSpPr>
          <p:cNvPr id="9" name="Ponto atual 2"/>
          <p:cNvSpPr/>
          <p:nvPr/>
        </p:nvSpPr>
        <p:spPr>
          <a:xfrm>
            <a:off x="822960" y="3401568"/>
            <a:ext cx="109728" cy="109728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>
                <a:alpha val="0"/>
              </a:schemeClr>
            </a:solidFill>
            <a:prstDash val="solid"/>
          </a:ln>
        </p:spPr>
      </p:sp>
      <p:sp>
        <p:nvSpPr>
          <p:cNvPr id="10" name="Item atual 2"/>
          <p:cNvSpPr txBox="1"/>
          <p:nvPr/>
        </p:nvSpPr>
        <p:spPr>
          <a:xfrm>
            <a:off x="1051560" y="3264408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Tiers claramente diferenciados</a:t>
            </a:r>
            <a:endParaRPr lang="en-US" sz="1400" dirty="0"/>
          </a:p>
        </p:txBody>
      </p:sp>
      <p:sp>
        <p:nvSpPr>
          <p:cNvPr id="11" name="Ponto atual 3"/>
          <p:cNvSpPr/>
          <p:nvPr/>
        </p:nvSpPr>
        <p:spPr>
          <a:xfrm>
            <a:off x="822960" y="3831336"/>
            <a:ext cx="109728" cy="109728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>
                <a:alpha val="0"/>
              </a:schemeClr>
            </a:solidFill>
            <a:prstDash val="solid"/>
          </a:ln>
        </p:spPr>
      </p:sp>
      <p:sp>
        <p:nvSpPr>
          <p:cNvPr id="12" name="Item atual 3"/>
          <p:cNvSpPr txBox="1"/>
          <p:nvPr/>
        </p:nvSpPr>
        <p:spPr>
          <a:xfrm>
            <a:off x="1051560" y="3694176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Melhores com mais autonomia</a:t>
            </a:r>
            <a:endParaRPr lang="en-US" sz="1400" dirty="0"/>
          </a:p>
        </p:txBody>
      </p:sp>
      <p:sp>
        <p:nvSpPr>
          <p:cNvPr id="13" name="Ponto atual 4"/>
          <p:cNvSpPr/>
          <p:nvPr/>
        </p:nvSpPr>
        <p:spPr>
          <a:xfrm>
            <a:off x="822960" y="4261104"/>
            <a:ext cx="109728" cy="109728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>
                <a:alpha val="0"/>
              </a:schemeClr>
            </a:solidFill>
            <a:prstDash val="solid"/>
          </a:ln>
        </p:spPr>
      </p:sp>
      <p:sp>
        <p:nvSpPr>
          <p:cNvPr id="14" name="Item atual 4"/>
          <p:cNvSpPr txBox="1"/>
          <p:nvPr/>
        </p:nvSpPr>
        <p:spPr>
          <a:xfrm>
            <a:off x="1051560" y="4123944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Atribuição de desconto seletiva</a:t>
            </a:r>
            <a:endParaRPr lang="en-US" sz="1400" dirty="0"/>
          </a:p>
        </p:txBody>
      </p:sp>
      <p:sp>
        <p:nvSpPr>
          <p:cNvPr id="15" name="Cartao proposto"/>
          <p:cNvSpPr/>
          <p:nvPr/>
        </p:nvSpPr>
        <p:spPr>
          <a:xfrm>
            <a:off x="4846320" y="1691640"/>
            <a:ext cx="3749040" cy="2971800"/>
          </a:xfrm>
          <a:prstGeom prst="roundRect">
            <a:avLst>
              <a:gd name="adj" fmla="val 4308"/>
            </a:avLst>
          </a:prstGeom>
          <a:solidFill>
            <a:schemeClr val="accent1"/>
          </a:solidFill>
          <a:ln w="12700">
            <a:solidFill>
              <a:schemeClr val="accent1">
                <a:alpha val="0"/>
              </a:schemeClr>
            </a:solidFill>
            <a:prstDash val="solid"/>
          </a:ln>
        </p:spPr>
      </p:sp>
      <p:sp>
        <p:nvSpPr>
          <p:cNvPr id="16" name="Etiqueta proposto"/>
          <p:cNvSpPr txBox="1"/>
          <p:nvPr/>
        </p:nvSpPr>
        <p:spPr>
          <a:xfrm>
            <a:off x="5120640" y="187452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tx1"/>
                </a:solidFill>
              </a:rPr>
              <a:t>MODELO PROPOSTO</a:t>
            </a:r>
            <a:endParaRPr lang="en-US" sz="1100" dirty="0"/>
          </a:p>
        </p:txBody>
      </p:sp>
      <p:sp>
        <p:nvSpPr>
          <p:cNvPr id="17" name="Palavra proposto"/>
          <p:cNvSpPr txBox="1"/>
          <p:nvPr/>
        </p:nvSpPr>
        <p:spPr>
          <a:xfrm>
            <a:off x="5120640" y="214884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Distribuição</a:t>
            </a:r>
            <a:endParaRPr lang="en-US" sz="3000" dirty="0"/>
          </a:p>
        </p:txBody>
      </p:sp>
      <p:sp>
        <p:nvSpPr>
          <p:cNvPr id="18" name="Ponto proposto 1"/>
          <p:cNvSpPr/>
          <p:nvPr/>
        </p:nvSpPr>
        <p:spPr>
          <a:xfrm>
            <a:off x="5120640" y="2971800"/>
            <a:ext cx="109728" cy="109728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>
                <a:alpha val="0"/>
              </a:schemeClr>
            </a:solidFill>
            <a:prstDash val="solid"/>
          </a:ln>
        </p:spPr>
      </p:sp>
      <p:sp>
        <p:nvSpPr>
          <p:cNvPr id="19" name="Item proposto 1"/>
          <p:cNvSpPr txBox="1"/>
          <p:nvPr/>
        </p:nvSpPr>
        <p:spPr>
          <a:xfrm>
            <a:off x="5349240" y="2834640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Maior utilização de jokers</a:t>
            </a:r>
            <a:endParaRPr lang="en-US" sz="1400" dirty="0"/>
          </a:p>
        </p:txBody>
      </p:sp>
      <p:sp>
        <p:nvSpPr>
          <p:cNvPr id="20" name="Ponto proposto 2"/>
          <p:cNvSpPr/>
          <p:nvPr/>
        </p:nvSpPr>
        <p:spPr>
          <a:xfrm>
            <a:off x="5120640" y="3401568"/>
            <a:ext cx="109728" cy="109728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>
                <a:alpha val="0"/>
              </a:schemeClr>
            </a:solidFill>
            <a:prstDash val="solid"/>
          </a:ln>
        </p:spPr>
      </p:sp>
      <p:sp>
        <p:nvSpPr>
          <p:cNvPr id="21" name="Item proposto 2"/>
          <p:cNvSpPr txBox="1"/>
          <p:nvPr/>
        </p:nvSpPr>
        <p:spPr>
          <a:xfrm>
            <a:off x="5349240" y="3264408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Tiers menos diferenciados</a:t>
            </a:r>
            <a:endParaRPr lang="en-US" sz="1400" dirty="0"/>
          </a:p>
        </p:txBody>
      </p:sp>
      <p:sp>
        <p:nvSpPr>
          <p:cNvPr id="22" name="Ponto proposto 3"/>
          <p:cNvSpPr/>
          <p:nvPr/>
        </p:nvSpPr>
        <p:spPr>
          <a:xfrm>
            <a:off x="5120640" y="3831336"/>
            <a:ext cx="109728" cy="109728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>
                <a:alpha val="0"/>
              </a:schemeClr>
            </a:solidFill>
            <a:prstDash val="solid"/>
          </a:ln>
        </p:spPr>
      </p:sp>
      <p:sp>
        <p:nvSpPr>
          <p:cNvPr id="23" name="Item proposto 3"/>
          <p:cNvSpPr txBox="1"/>
          <p:nvPr/>
        </p:nvSpPr>
        <p:spPr>
          <a:xfrm>
            <a:off x="5349240" y="3694176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Autonomia distribuída pela rede</a:t>
            </a:r>
            <a:endParaRPr lang="en-US" sz="1400" dirty="0"/>
          </a:p>
        </p:txBody>
      </p:sp>
      <p:sp>
        <p:nvSpPr>
          <p:cNvPr id="24" name="Ponto proposto 4"/>
          <p:cNvSpPr/>
          <p:nvPr/>
        </p:nvSpPr>
        <p:spPr>
          <a:xfrm>
            <a:off x="5120640" y="4261104"/>
            <a:ext cx="109728" cy="109728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>
                <a:alpha val="0"/>
              </a:schemeClr>
            </a:solidFill>
            <a:prstDash val="solid"/>
          </a:ln>
        </p:spPr>
      </p:sp>
      <p:sp>
        <p:nvSpPr>
          <p:cNvPr id="25" name="Item proposto 4"/>
          <p:cNvSpPr txBox="1"/>
          <p:nvPr/>
        </p:nvSpPr>
        <p:spPr>
          <a:xfrm>
            <a:off x="5349240" y="4123944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Acesso alargado aos descontos</a:t>
            </a:r>
            <a:endParaRPr lang="en-US" sz="1400" dirty="0"/>
          </a:p>
        </p:txBody>
      </p:sp>
      <p:sp>
        <p:nvSpPr>
          <p:cNvPr id="26" name="Seta central"/>
          <p:cNvSpPr/>
          <p:nvPr/>
        </p:nvSpPr>
        <p:spPr>
          <a:xfrm>
            <a:off x="4224528" y="2926080"/>
            <a:ext cx="457200" cy="45720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>
                <a:alpha val="0"/>
              </a:schemeClr>
            </a:solidFill>
            <a:prstDash val="solid"/>
          </a:ln>
        </p:spPr>
      </p:sp>
      <p:sp>
        <p:nvSpPr>
          <p:cNvPr id="27" name="Seta central texto"/>
          <p:cNvSpPr txBox="1"/>
          <p:nvPr/>
        </p:nvSpPr>
        <p:spPr>
          <a:xfrm>
            <a:off x="4224528" y="2926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→</a:t>
            </a:r>
            <a:endParaRPr lang="en-US" sz="1800" dirty="0"/>
          </a:p>
        </p:txBody>
      </p:sp>
      <p:sp>
        <p:nvSpPr>
          <p:cNvPr id="28" name="Seta central branca"/>
          <p:cNvSpPr txBox="1"/>
          <p:nvPr/>
        </p:nvSpPr>
        <p:spPr>
          <a:xfrm>
            <a:off x="4224528" y="2926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→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28032"/>
            <a:ext cx="36576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cao"/>
          <p:cNvSpPr txBox="1"/>
          <p:nvPr/>
        </p:nvSpPr>
        <p:spPr>
          <a:xfrm>
            <a:off x="548640" y="32004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C2410C"/>
                </a:solidFill>
              </a:rPr>
              <a:t>2.1   CONCLUSÃO #1</a:t>
            </a:r>
            <a:endParaRPr lang="en-US" sz="1000" dirty="0"/>
          </a:p>
        </p:txBody>
      </p:sp>
      <p:sp>
        <p:nvSpPr>
          <p:cNvPr id="3" name="Titulo"/>
          <p:cNvSpPr txBox="1"/>
          <p:nvPr/>
        </p:nvSpPr>
        <p:spPr>
          <a:xfrm>
            <a:off x="548640" y="640080"/>
            <a:ext cx="8046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Estamos a uniformizar a abordagem e a reduzir a diferenciação entre agentes</a:t>
            </a:r>
            <a:endParaRPr lang="en-US" sz="2800" dirty="0"/>
          </a:p>
        </p:txBody>
      </p:sp>
      <p:sp>
        <p:nvSpPr>
          <p:cNvPr id="4" name="Etiqueta 322 AGENTES COM 17,5% HOJE, POR TIER NOVO"/>
          <p:cNvSpPr txBox="1"/>
          <p:nvPr/>
        </p:nvSpPr>
        <p:spPr>
          <a:xfrm>
            <a:off x="548640" y="1691640"/>
            <a:ext cx="4846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4"/>
                </a:solidFill>
              </a:rPr>
              <a:t>322 AGENTES COM 17,5% HOJE, POR TIER NOVO</a:t>
            </a:r>
            <a:endParaRPr lang="en-US" sz="1100" dirty="0"/>
          </a:p>
        </p:txBody>
      </p:sp>
      <p:sp>
        <p:nvSpPr>
          <p:cNvPr id="5" name="Painel grafico"/>
          <p:cNvSpPr/>
          <p:nvPr/>
        </p:nvSpPr>
        <p:spPr>
          <a:xfrm>
            <a:off x="548640" y="2011680"/>
            <a:ext cx="4846320" cy="2148840"/>
          </a:xfrm>
          <a:prstGeom prst="roundRect">
            <a:avLst>
              <a:gd name="adj" fmla="val 5106"/>
            </a:avLst>
          </a:prstGeom>
          <a:solidFill>
            <a:schemeClr val="bg2"/>
          </a:solidFill>
          <a:ln w="12700">
            <a:solidFill>
              <a:schemeClr val="bg2">
                <a:alpha val="0"/>
              </a:schemeClr>
            </a:solidFill>
            <a:prstDash val="solid"/>
          </a:ln>
        </p:spPr>
      </p:sp>
      <p:sp>
        <p:nvSpPr>
          <p:cNvPr id="6" name="Barra Tier 1"/>
          <p:cNvSpPr/>
          <p:nvPr/>
        </p:nvSpPr>
        <p:spPr>
          <a:xfrm>
            <a:off x="868680" y="3285431"/>
            <a:ext cx="566928" cy="235009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>
                <a:alpha val="0"/>
              </a:schemeClr>
            </a:solidFill>
            <a:prstDash val="solid"/>
          </a:ln>
        </p:spPr>
      </p:sp>
      <p:sp>
        <p:nvSpPr>
          <p:cNvPr id="7" name="Valor Tier 1"/>
          <p:cNvSpPr txBox="1"/>
          <p:nvPr/>
        </p:nvSpPr>
        <p:spPr>
          <a:xfrm>
            <a:off x="777240" y="2992823"/>
            <a:ext cx="749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22</a:t>
            </a:r>
            <a:endParaRPr lang="en-US" sz="1400" dirty="0"/>
          </a:p>
        </p:txBody>
      </p:sp>
      <p:sp>
        <p:nvSpPr>
          <p:cNvPr id="8" name="Rotulo Tier 1"/>
          <p:cNvSpPr txBox="1"/>
          <p:nvPr/>
        </p:nvSpPr>
        <p:spPr>
          <a:xfrm>
            <a:off x="731520" y="3557016"/>
            <a:ext cx="8412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Tier 1</a:t>
            </a:r>
            <a:endParaRPr lang="en-US" sz="1000" dirty="0"/>
          </a:p>
        </p:txBody>
      </p:sp>
      <p:sp>
        <p:nvSpPr>
          <p:cNvPr id="9" name="Peso Tier 1"/>
          <p:cNvSpPr txBox="1"/>
          <p:nvPr/>
        </p:nvSpPr>
        <p:spPr>
          <a:xfrm>
            <a:off x="777240" y="3886200"/>
            <a:ext cx="7498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2410C"/>
                </a:solidFill>
              </a:rPr>
              <a:t>7%</a:t>
            </a:r>
            <a:endParaRPr lang="en-US" sz="1100" dirty="0"/>
          </a:p>
        </p:txBody>
      </p:sp>
      <p:sp>
        <p:nvSpPr>
          <p:cNvPr id="10" name="Barra Tier 2"/>
          <p:cNvSpPr/>
          <p:nvPr/>
        </p:nvSpPr>
        <p:spPr>
          <a:xfrm>
            <a:off x="1764792" y="2836776"/>
            <a:ext cx="566928" cy="683664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>
                <a:alpha val="0"/>
              </a:schemeClr>
            </a:solidFill>
            <a:prstDash val="solid"/>
          </a:ln>
        </p:spPr>
      </p:sp>
      <p:sp>
        <p:nvSpPr>
          <p:cNvPr id="11" name="Valor Tier 2"/>
          <p:cNvSpPr txBox="1"/>
          <p:nvPr/>
        </p:nvSpPr>
        <p:spPr>
          <a:xfrm>
            <a:off x="1673352" y="2544168"/>
            <a:ext cx="749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64</a:t>
            </a:r>
            <a:endParaRPr lang="en-US" sz="1400" dirty="0"/>
          </a:p>
        </p:txBody>
      </p:sp>
      <p:sp>
        <p:nvSpPr>
          <p:cNvPr id="12" name="Rotulo Tier 2"/>
          <p:cNvSpPr txBox="1"/>
          <p:nvPr/>
        </p:nvSpPr>
        <p:spPr>
          <a:xfrm>
            <a:off x="1627632" y="3557016"/>
            <a:ext cx="8412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Tier 2</a:t>
            </a:r>
            <a:endParaRPr lang="en-US" sz="1000" dirty="0"/>
          </a:p>
        </p:txBody>
      </p:sp>
      <p:sp>
        <p:nvSpPr>
          <p:cNvPr id="13" name="Peso Tier 2"/>
          <p:cNvSpPr txBox="1"/>
          <p:nvPr/>
        </p:nvSpPr>
        <p:spPr>
          <a:xfrm>
            <a:off x="1673352" y="3886200"/>
            <a:ext cx="7498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2410C"/>
                </a:solidFill>
              </a:rPr>
              <a:t>20%</a:t>
            </a:r>
            <a:endParaRPr lang="en-US" sz="1100" dirty="0"/>
          </a:p>
        </p:txBody>
      </p:sp>
      <p:sp>
        <p:nvSpPr>
          <p:cNvPr id="14" name="Barra Tier 3"/>
          <p:cNvSpPr/>
          <p:nvPr/>
        </p:nvSpPr>
        <p:spPr>
          <a:xfrm>
            <a:off x="2660904" y="2377440"/>
            <a:ext cx="566928" cy="114300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>
                <a:alpha val="0"/>
              </a:schemeClr>
            </a:solidFill>
            <a:prstDash val="solid"/>
          </a:ln>
        </p:spPr>
      </p:sp>
      <p:sp>
        <p:nvSpPr>
          <p:cNvPr id="15" name="Valor Tier 3"/>
          <p:cNvSpPr txBox="1"/>
          <p:nvPr/>
        </p:nvSpPr>
        <p:spPr>
          <a:xfrm>
            <a:off x="2569464" y="2084832"/>
            <a:ext cx="749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107</a:t>
            </a:r>
            <a:endParaRPr lang="en-US" sz="1400" dirty="0"/>
          </a:p>
        </p:txBody>
      </p:sp>
      <p:sp>
        <p:nvSpPr>
          <p:cNvPr id="16" name="Rotulo Tier 3"/>
          <p:cNvSpPr txBox="1"/>
          <p:nvPr/>
        </p:nvSpPr>
        <p:spPr>
          <a:xfrm>
            <a:off x="2523744" y="3557016"/>
            <a:ext cx="8412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Tier 3</a:t>
            </a:r>
            <a:endParaRPr lang="en-US" sz="1000" dirty="0"/>
          </a:p>
        </p:txBody>
      </p:sp>
      <p:sp>
        <p:nvSpPr>
          <p:cNvPr id="17" name="Peso Tier 3"/>
          <p:cNvSpPr txBox="1"/>
          <p:nvPr/>
        </p:nvSpPr>
        <p:spPr>
          <a:xfrm>
            <a:off x="2569464" y="3886200"/>
            <a:ext cx="7498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2410C"/>
                </a:solidFill>
              </a:rPr>
              <a:t>33%</a:t>
            </a:r>
            <a:endParaRPr lang="en-US" sz="1100" dirty="0"/>
          </a:p>
        </p:txBody>
      </p:sp>
      <p:sp>
        <p:nvSpPr>
          <p:cNvPr id="18" name="Barra Tier 4"/>
          <p:cNvSpPr/>
          <p:nvPr/>
        </p:nvSpPr>
        <p:spPr>
          <a:xfrm>
            <a:off x="3557016" y="3274748"/>
            <a:ext cx="566928" cy="245692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>
                <a:alpha val="0"/>
              </a:schemeClr>
            </a:solidFill>
            <a:prstDash val="solid"/>
          </a:ln>
        </p:spPr>
      </p:sp>
      <p:sp>
        <p:nvSpPr>
          <p:cNvPr id="19" name="Valor Tier 4"/>
          <p:cNvSpPr txBox="1"/>
          <p:nvPr/>
        </p:nvSpPr>
        <p:spPr>
          <a:xfrm>
            <a:off x="3465576" y="2982140"/>
            <a:ext cx="749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23</a:t>
            </a:r>
            <a:endParaRPr lang="en-US" sz="1400" dirty="0"/>
          </a:p>
        </p:txBody>
      </p:sp>
      <p:sp>
        <p:nvSpPr>
          <p:cNvPr id="20" name="Rotulo Tier 4"/>
          <p:cNvSpPr txBox="1"/>
          <p:nvPr/>
        </p:nvSpPr>
        <p:spPr>
          <a:xfrm>
            <a:off x="3419856" y="3557016"/>
            <a:ext cx="8412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Tier 4</a:t>
            </a:r>
            <a:endParaRPr lang="en-US" sz="1000" dirty="0"/>
          </a:p>
        </p:txBody>
      </p:sp>
      <p:sp>
        <p:nvSpPr>
          <p:cNvPr id="21" name="Peso Tier 4"/>
          <p:cNvSpPr txBox="1"/>
          <p:nvPr/>
        </p:nvSpPr>
        <p:spPr>
          <a:xfrm>
            <a:off x="3465576" y="3886200"/>
            <a:ext cx="7498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2410C"/>
                </a:solidFill>
              </a:rPr>
              <a:t>7%</a:t>
            </a:r>
            <a:endParaRPr lang="en-US" sz="1100" dirty="0"/>
          </a:p>
        </p:txBody>
      </p:sp>
      <p:sp>
        <p:nvSpPr>
          <p:cNvPr id="22" name="Barra Not Segmented"/>
          <p:cNvSpPr/>
          <p:nvPr/>
        </p:nvSpPr>
        <p:spPr>
          <a:xfrm>
            <a:off x="4453128" y="2388122"/>
            <a:ext cx="566928" cy="1132318"/>
          </a:xfrm>
          <a:prstGeom prst="rect">
            <a:avLst/>
          </a:prstGeom>
          <a:solidFill>
            <a:schemeClr val="tx2"/>
          </a:solidFill>
          <a:ln w="12700">
            <a:solidFill>
              <a:schemeClr val="accent1">
                <a:alpha val="0"/>
              </a:schemeClr>
            </a:solidFill>
            <a:prstDash val="solid"/>
          </a:ln>
        </p:spPr>
      </p:sp>
      <p:sp>
        <p:nvSpPr>
          <p:cNvPr id="23" name="Valor Not Segmented"/>
          <p:cNvSpPr txBox="1"/>
          <p:nvPr/>
        </p:nvSpPr>
        <p:spPr>
          <a:xfrm>
            <a:off x="4361688" y="2095514"/>
            <a:ext cx="749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106</a:t>
            </a:r>
            <a:endParaRPr lang="en-US" sz="1400" dirty="0"/>
          </a:p>
        </p:txBody>
      </p:sp>
      <p:sp>
        <p:nvSpPr>
          <p:cNvPr id="24" name="Rotulo Not Segmented"/>
          <p:cNvSpPr txBox="1"/>
          <p:nvPr/>
        </p:nvSpPr>
        <p:spPr>
          <a:xfrm>
            <a:off x="4315968" y="3557016"/>
            <a:ext cx="8412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Not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Segmented</a:t>
            </a:r>
            <a:endParaRPr lang="en-US" sz="1000" dirty="0"/>
          </a:p>
        </p:txBody>
      </p:sp>
      <p:sp>
        <p:nvSpPr>
          <p:cNvPr id="25" name="Peso Not Segmented"/>
          <p:cNvSpPr txBox="1"/>
          <p:nvPr/>
        </p:nvSpPr>
        <p:spPr>
          <a:xfrm>
            <a:off x="4361688" y="3886200"/>
            <a:ext cx="7498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2410C"/>
                </a:solidFill>
              </a:rPr>
              <a:t>33%</a:t>
            </a:r>
            <a:endParaRPr lang="en-US" sz="1100" dirty="0"/>
          </a:p>
        </p:txBody>
      </p:sp>
      <p:sp>
        <p:nvSpPr>
          <p:cNvPr id="26" name="Mensagem esquema"/>
          <p:cNvSpPr txBox="1"/>
          <p:nvPr/>
        </p:nvSpPr>
        <p:spPr>
          <a:xfrm>
            <a:off x="548640" y="429768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Mesmo nível de desconto atual, tiers diferentes: os critérios deixam de coincidir</a:t>
            </a:r>
            <a:endParaRPr lang="en-US" sz="1400" dirty="0"/>
          </a:p>
        </p:txBody>
      </p:sp>
      <p:sp>
        <p:nvSpPr>
          <p:cNvPr id="27" name="Etiqueta IMPLICAÇÕES"/>
          <p:cNvSpPr txBox="1"/>
          <p:nvPr/>
        </p:nvSpPr>
        <p:spPr>
          <a:xfrm>
            <a:off x="5760720" y="1691640"/>
            <a:ext cx="2834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4"/>
                </a:solidFill>
              </a:rPr>
              <a:t>IMPLICAÇÕES</a:t>
            </a:r>
            <a:endParaRPr lang="en-US" sz="1100" dirty="0"/>
          </a:p>
        </p:txBody>
      </p:sp>
      <p:sp>
        <p:nvSpPr>
          <p:cNvPr id="28" name="Cartao implicacao 1"/>
          <p:cNvSpPr/>
          <p:nvPr/>
        </p:nvSpPr>
        <p:spPr>
          <a:xfrm>
            <a:off x="5760720" y="2057400"/>
            <a:ext cx="2834640" cy="749808"/>
          </a:xfrm>
          <a:prstGeom prst="roundRect">
            <a:avLst>
              <a:gd name="adj" fmla="val 12195"/>
            </a:avLst>
          </a:prstGeom>
          <a:solidFill>
            <a:schemeClr val="tx2"/>
          </a:solidFill>
          <a:ln w="12700">
            <a:solidFill>
              <a:schemeClr val="tx2">
                <a:alpha val="0"/>
              </a:schemeClr>
            </a:solidFill>
            <a:prstDash val="solid"/>
          </a:ln>
        </p:spPr>
      </p:sp>
      <p:sp>
        <p:nvSpPr>
          <p:cNvPr id="29" name="Estado 1"/>
          <p:cNvSpPr/>
          <p:nvPr/>
        </p:nvSpPr>
        <p:spPr>
          <a:xfrm>
            <a:off x="5943600" y="2276856"/>
            <a:ext cx="310896" cy="310896"/>
          </a:xfrm>
          <a:prstGeom prst="ellipse">
            <a:avLst/>
          </a:prstGeom>
          <a:solidFill>
            <a:srgbClr val="3FAE6A"/>
          </a:solidFill>
          <a:ln w="12700">
            <a:solidFill>
              <a:srgbClr val="3FAE6A">
                <a:alpha val="0"/>
              </a:srgbClr>
            </a:solidFill>
            <a:prstDash val="solid"/>
          </a:ln>
        </p:spPr>
      </p:sp>
      <p:sp>
        <p:nvSpPr>
          <p:cNvPr id="30" name="Estado 1 texto"/>
          <p:cNvSpPr txBox="1"/>
          <p:nvPr/>
        </p:nvSpPr>
        <p:spPr>
          <a:xfrm>
            <a:off x="5943600" y="227685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✓</a:t>
            </a:r>
            <a:endParaRPr lang="en-US" sz="1300" dirty="0"/>
          </a:p>
        </p:txBody>
      </p:sp>
      <p:sp>
        <p:nvSpPr>
          <p:cNvPr id="31" name="Implicacao 1"/>
          <p:cNvSpPr txBox="1"/>
          <p:nvPr/>
        </p:nvSpPr>
        <p:spPr>
          <a:xfrm>
            <a:off x="6400800" y="2057400"/>
            <a:ext cx="21031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Maior uniformização do tratamento dos agentes</a:t>
            </a:r>
            <a:endParaRPr lang="en-US" sz="1300" dirty="0"/>
          </a:p>
        </p:txBody>
      </p:sp>
      <p:sp>
        <p:nvSpPr>
          <p:cNvPr id="32" name="Cartao implicacao 2"/>
          <p:cNvSpPr/>
          <p:nvPr/>
        </p:nvSpPr>
        <p:spPr>
          <a:xfrm>
            <a:off x="5760720" y="2926080"/>
            <a:ext cx="2834640" cy="749808"/>
          </a:xfrm>
          <a:prstGeom prst="roundRect">
            <a:avLst>
              <a:gd name="adj" fmla="val 12195"/>
            </a:avLst>
          </a:prstGeom>
          <a:solidFill>
            <a:schemeClr val="tx2"/>
          </a:solidFill>
          <a:ln w="12700">
            <a:solidFill>
              <a:schemeClr val="tx2">
                <a:alpha val="0"/>
              </a:schemeClr>
            </a:solidFill>
            <a:prstDash val="solid"/>
          </a:ln>
        </p:spPr>
      </p:sp>
      <p:sp>
        <p:nvSpPr>
          <p:cNvPr id="33" name="Estado 2"/>
          <p:cNvSpPr/>
          <p:nvPr/>
        </p:nvSpPr>
        <p:spPr>
          <a:xfrm>
            <a:off x="5943600" y="3145536"/>
            <a:ext cx="310896" cy="310896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>
                <a:alpha val="0"/>
              </a:schemeClr>
            </a:solidFill>
            <a:prstDash val="solid"/>
          </a:ln>
        </p:spPr>
      </p:sp>
      <p:sp>
        <p:nvSpPr>
          <p:cNvPr id="34" name="Estado 2 texto"/>
          <p:cNvSpPr txBox="1"/>
          <p:nvPr/>
        </p:nvSpPr>
        <p:spPr>
          <a:xfrm>
            <a:off x="5943600" y="314553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!</a:t>
            </a:r>
            <a:endParaRPr lang="en-US" sz="1300" dirty="0"/>
          </a:p>
        </p:txBody>
      </p:sp>
      <p:sp>
        <p:nvSpPr>
          <p:cNvPr id="35" name="Implicacao 2"/>
          <p:cNvSpPr txBox="1"/>
          <p:nvPr/>
        </p:nvSpPr>
        <p:spPr>
          <a:xfrm>
            <a:off x="6400800" y="2926080"/>
            <a:ext cx="21031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Menor valorização dos melhores agentes</a:t>
            </a:r>
            <a:endParaRPr lang="en-US" sz="1300" dirty="0"/>
          </a:p>
        </p:txBody>
      </p:sp>
      <p:sp>
        <p:nvSpPr>
          <p:cNvPr id="36" name="Cartao implicacao 3"/>
          <p:cNvSpPr/>
          <p:nvPr/>
        </p:nvSpPr>
        <p:spPr>
          <a:xfrm>
            <a:off x="5760720" y="3794760"/>
            <a:ext cx="2834640" cy="749808"/>
          </a:xfrm>
          <a:prstGeom prst="roundRect">
            <a:avLst>
              <a:gd name="adj" fmla="val 12195"/>
            </a:avLst>
          </a:prstGeom>
          <a:solidFill>
            <a:schemeClr val="tx2"/>
          </a:solidFill>
          <a:ln w="12700">
            <a:solidFill>
              <a:schemeClr val="tx2">
                <a:alpha val="0"/>
              </a:schemeClr>
            </a:solidFill>
            <a:prstDash val="solid"/>
          </a:ln>
        </p:spPr>
      </p:sp>
      <p:sp>
        <p:nvSpPr>
          <p:cNvPr id="37" name="Estado 3"/>
          <p:cNvSpPr/>
          <p:nvPr/>
        </p:nvSpPr>
        <p:spPr>
          <a:xfrm>
            <a:off x="5943600" y="4014216"/>
            <a:ext cx="310896" cy="310896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>
                <a:alpha val="0"/>
              </a:schemeClr>
            </a:solidFill>
            <a:prstDash val="solid"/>
          </a:ln>
        </p:spPr>
      </p:sp>
      <p:sp>
        <p:nvSpPr>
          <p:cNvPr id="38" name="Estado 3 texto"/>
          <p:cNvSpPr txBox="1"/>
          <p:nvPr/>
        </p:nvSpPr>
        <p:spPr>
          <a:xfrm>
            <a:off x="5943600" y="401421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!</a:t>
            </a:r>
            <a:endParaRPr lang="en-US" sz="1300" dirty="0"/>
          </a:p>
        </p:txBody>
      </p:sp>
      <p:sp>
        <p:nvSpPr>
          <p:cNvPr id="39" name="Implicacao 3"/>
          <p:cNvSpPr txBox="1"/>
          <p:nvPr/>
        </p:nvSpPr>
        <p:spPr>
          <a:xfrm>
            <a:off x="6400800" y="3794760"/>
            <a:ext cx="21031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Menor capacidade para premiar a performance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28032"/>
            <a:ext cx="36576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cao"/>
          <p:cNvSpPr txBox="1"/>
          <p:nvPr/>
        </p:nvSpPr>
        <p:spPr>
          <a:xfrm>
            <a:off x="548640" y="32004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C2410C"/>
                </a:solidFill>
              </a:rPr>
              <a:t>2.2   CONCLUSÃO #2</a:t>
            </a:r>
            <a:endParaRPr lang="en-US" sz="1000" dirty="0"/>
          </a:p>
        </p:txBody>
      </p:sp>
      <p:sp>
        <p:nvSpPr>
          <p:cNvPr id="3" name="Titulo"/>
          <p:cNvSpPr txBox="1"/>
          <p:nvPr/>
        </p:nvSpPr>
        <p:spPr>
          <a:xfrm>
            <a:off x="548640" y="640080"/>
            <a:ext cx="8046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Mais apólices com desconto, mas com um desconto médio inferior</a:t>
            </a:r>
            <a:endParaRPr lang="en-US" sz="2800" dirty="0"/>
          </a:p>
        </p:txBody>
      </p:sp>
      <p:sp>
        <p:nvSpPr>
          <p:cNvPr id="4" name="Etiqueta APÓLICES COM DESCONTO"/>
          <p:cNvSpPr txBox="1"/>
          <p:nvPr/>
        </p:nvSpPr>
        <p:spPr>
          <a:xfrm>
            <a:off x="548640" y="1600200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4"/>
                </a:solidFill>
              </a:rPr>
              <a:t>APÓLICES COM DESCONTO</a:t>
            </a:r>
            <a:endParaRPr lang="en-US" sz="1100" dirty="0"/>
          </a:p>
        </p:txBody>
      </p:sp>
      <p:sp>
        <p:nvSpPr>
          <p:cNvPr id="5" name="Rotulo Apólices com desconto Atual"/>
          <p:cNvSpPr txBox="1"/>
          <p:nvPr/>
        </p:nvSpPr>
        <p:spPr>
          <a:xfrm>
            <a:off x="548640" y="1920240"/>
            <a:ext cx="777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4"/>
                </a:solidFill>
              </a:rPr>
              <a:t>Atual</a:t>
            </a:r>
            <a:endParaRPr lang="en-US" sz="1200" dirty="0"/>
          </a:p>
        </p:txBody>
      </p:sp>
      <p:sp>
        <p:nvSpPr>
          <p:cNvPr id="6" name="Pista Apólices com desconto Atual"/>
          <p:cNvSpPr/>
          <p:nvPr/>
        </p:nvSpPr>
        <p:spPr>
          <a:xfrm>
            <a:off x="1371600" y="1947672"/>
            <a:ext cx="2194560" cy="292608"/>
          </a:xfrm>
          <a:prstGeom prst="roundRect">
            <a:avLst>
              <a:gd name="adj" fmla="val 15625"/>
            </a:avLst>
          </a:prstGeom>
          <a:solidFill>
            <a:schemeClr val="bg2"/>
          </a:solidFill>
          <a:ln w="12700">
            <a:solidFill>
              <a:schemeClr val="bg2">
                <a:alpha val="0"/>
              </a:schemeClr>
            </a:solidFill>
            <a:prstDash val="solid"/>
          </a:ln>
        </p:spPr>
      </p:sp>
      <p:sp>
        <p:nvSpPr>
          <p:cNvPr id="7" name="Barra Apólices com desconto Atual"/>
          <p:cNvSpPr/>
          <p:nvPr/>
        </p:nvSpPr>
        <p:spPr>
          <a:xfrm>
            <a:off x="1371600" y="1947672"/>
            <a:ext cx="2082637" cy="292608"/>
          </a:xfrm>
          <a:prstGeom prst="roundRect">
            <a:avLst>
              <a:gd name="adj" fmla="val 15625"/>
            </a:avLst>
          </a:prstGeom>
          <a:solidFill>
            <a:schemeClr val="accent5"/>
          </a:solidFill>
          <a:ln w="12700">
            <a:solidFill>
              <a:schemeClr val="accent5">
                <a:alpha val="0"/>
              </a:schemeClr>
            </a:solidFill>
            <a:prstDash val="solid"/>
          </a:ln>
        </p:spPr>
      </p:sp>
      <p:sp>
        <p:nvSpPr>
          <p:cNvPr id="8" name="Valor Apólices com desconto Atual"/>
          <p:cNvSpPr txBox="1"/>
          <p:nvPr/>
        </p:nvSpPr>
        <p:spPr>
          <a:xfrm>
            <a:off x="3657600" y="1920240"/>
            <a:ext cx="822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accent4"/>
                </a:solidFill>
              </a:rPr>
              <a:t>94,9%</a:t>
            </a:r>
            <a:endParaRPr lang="en-US" sz="1600" dirty="0"/>
          </a:p>
        </p:txBody>
      </p:sp>
      <p:sp>
        <p:nvSpPr>
          <p:cNvPr id="9" name="Rotulo Apólices com desconto Proposto"/>
          <p:cNvSpPr txBox="1"/>
          <p:nvPr/>
        </p:nvSpPr>
        <p:spPr>
          <a:xfrm>
            <a:off x="548640" y="2377440"/>
            <a:ext cx="777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4"/>
                </a:solidFill>
              </a:rPr>
              <a:t>Proposto</a:t>
            </a:r>
            <a:endParaRPr lang="en-US" sz="1200" dirty="0"/>
          </a:p>
        </p:txBody>
      </p:sp>
      <p:sp>
        <p:nvSpPr>
          <p:cNvPr id="10" name="Pista Apólices com desconto Proposto"/>
          <p:cNvSpPr/>
          <p:nvPr/>
        </p:nvSpPr>
        <p:spPr>
          <a:xfrm>
            <a:off x="1371600" y="2404872"/>
            <a:ext cx="2194560" cy="292608"/>
          </a:xfrm>
          <a:prstGeom prst="roundRect">
            <a:avLst>
              <a:gd name="adj" fmla="val 15625"/>
            </a:avLst>
          </a:prstGeom>
          <a:solidFill>
            <a:schemeClr val="bg2"/>
          </a:solidFill>
          <a:ln w="12700">
            <a:solidFill>
              <a:schemeClr val="bg2">
                <a:alpha val="0"/>
              </a:schemeClr>
            </a:solidFill>
            <a:prstDash val="solid"/>
          </a:ln>
        </p:spPr>
      </p:sp>
      <p:sp>
        <p:nvSpPr>
          <p:cNvPr id="11" name="Barra Apólices com desconto Proposto"/>
          <p:cNvSpPr/>
          <p:nvPr/>
        </p:nvSpPr>
        <p:spPr>
          <a:xfrm>
            <a:off x="1371600" y="2404872"/>
            <a:ext cx="2187976" cy="292608"/>
          </a:xfrm>
          <a:prstGeom prst="roundRect">
            <a:avLst>
              <a:gd name="adj" fmla="val 15625"/>
            </a:avLst>
          </a:prstGeom>
          <a:solidFill>
            <a:schemeClr val="accent1"/>
          </a:solidFill>
          <a:ln w="12700">
            <a:solidFill>
              <a:schemeClr val="accent1">
                <a:alpha val="0"/>
              </a:schemeClr>
            </a:solidFill>
            <a:prstDash val="solid"/>
          </a:ln>
        </p:spPr>
      </p:sp>
      <p:sp>
        <p:nvSpPr>
          <p:cNvPr id="12" name="Valor Apólices com desconto Proposto"/>
          <p:cNvSpPr txBox="1"/>
          <p:nvPr/>
        </p:nvSpPr>
        <p:spPr>
          <a:xfrm>
            <a:off x="3657600" y="2377440"/>
            <a:ext cx="822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99,7%</a:t>
            </a:r>
            <a:endParaRPr lang="en-US" sz="2000" dirty="0"/>
          </a:p>
        </p:txBody>
      </p:sp>
      <p:sp>
        <p:nvSpPr>
          <p:cNvPr id="13" name="Etiqueta DESCONTO MÉDIO"/>
          <p:cNvSpPr txBox="1"/>
          <p:nvPr/>
        </p:nvSpPr>
        <p:spPr>
          <a:xfrm>
            <a:off x="4754880" y="1600200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4"/>
                </a:solidFill>
              </a:rPr>
              <a:t>DESCONTO MÉDIO</a:t>
            </a:r>
            <a:endParaRPr lang="en-US" sz="1100" dirty="0"/>
          </a:p>
        </p:txBody>
      </p:sp>
      <p:sp>
        <p:nvSpPr>
          <p:cNvPr id="14" name="Rotulo Desconto médio Atual"/>
          <p:cNvSpPr txBox="1"/>
          <p:nvPr/>
        </p:nvSpPr>
        <p:spPr>
          <a:xfrm>
            <a:off x="4754880" y="1920240"/>
            <a:ext cx="777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4"/>
                </a:solidFill>
              </a:rPr>
              <a:t>Atual</a:t>
            </a:r>
            <a:endParaRPr lang="en-US" sz="1200" dirty="0"/>
          </a:p>
        </p:txBody>
      </p:sp>
      <p:sp>
        <p:nvSpPr>
          <p:cNvPr id="15" name="Pista Desconto médio Atual"/>
          <p:cNvSpPr/>
          <p:nvPr/>
        </p:nvSpPr>
        <p:spPr>
          <a:xfrm>
            <a:off x="5577840" y="1947672"/>
            <a:ext cx="2194560" cy="292608"/>
          </a:xfrm>
          <a:prstGeom prst="roundRect">
            <a:avLst>
              <a:gd name="adj" fmla="val 15625"/>
            </a:avLst>
          </a:prstGeom>
          <a:solidFill>
            <a:schemeClr val="bg2"/>
          </a:solidFill>
          <a:ln w="12700">
            <a:solidFill>
              <a:schemeClr val="bg2">
                <a:alpha val="0"/>
              </a:schemeClr>
            </a:solidFill>
            <a:prstDash val="solid"/>
          </a:ln>
        </p:spPr>
      </p:sp>
      <p:sp>
        <p:nvSpPr>
          <p:cNvPr id="16" name="Barra Desconto médio Atual"/>
          <p:cNvSpPr/>
          <p:nvPr/>
        </p:nvSpPr>
        <p:spPr>
          <a:xfrm>
            <a:off x="5577840" y="1947672"/>
            <a:ext cx="2029968" cy="292608"/>
          </a:xfrm>
          <a:prstGeom prst="roundRect">
            <a:avLst>
              <a:gd name="adj" fmla="val 15625"/>
            </a:avLst>
          </a:prstGeom>
          <a:solidFill>
            <a:schemeClr val="accent5"/>
          </a:solidFill>
          <a:ln w="12700">
            <a:solidFill>
              <a:schemeClr val="accent5">
                <a:alpha val="0"/>
              </a:schemeClr>
            </a:solidFill>
            <a:prstDash val="solid"/>
          </a:ln>
        </p:spPr>
      </p:sp>
      <p:sp>
        <p:nvSpPr>
          <p:cNvPr id="17" name="Valor Desconto médio Atual"/>
          <p:cNvSpPr txBox="1"/>
          <p:nvPr/>
        </p:nvSpPr>
        <p:spPr>
          <a:xfrm>
            <a:off x="7863840" y="1920240"/>
            <a:ext cx="822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accent4"/>
                </a:solidFill>
              </a:rPr>
              <a:t>11,1%</a:t>
            </a:r>
            <a:endParaRPr lang="en-US" sz="1600" dirty="0"/>
          </a:p>
        </p:txBody>
      </p:sp>
      <p:sp>
        <p:nvSpPr>
          <p:cNvPr id="18" name="Rotulo Desconto médio Proposto"/>
          <p:cNvSpPr txBox="1"/>
          <p:nvPr/>
        </p:nvSpPr>
        <p:spPr>
          <a:xfrm>
            <a:off x="4754880" y="2377440"/>
            <a:ext cx="777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4"/>
                </a:solidFill>
              </a:rPr>
              <a:t>Proposto</a:t>
            </a:r>
            <a:endParaRPr lang="en-US" sz="1200" dirty="0"/>
          </a:p>
        </p:txBody>
      </p:sp>
      <p:sp>
        <p:nvSpPr>
          <p:cNvPr id="19" name="Pista Desconto médio Proposto"/>
          <p:cNvSpPr/>
          <p:nvPr/>
        </p:nvSpPr>
        <p:spPr>
          <a:xfrm>
            <a:off x="5577840" y="2404872"/>
            <a:ext cx="2194560" cy="292608"/>
          </a:xfrm>
          <a:prstGeom prst="roundRect">
            <a:avLst>
              <a:gd name="adj" fmla="val 15625"/>
            </a:avLst>
          </a:prstGeom>
          <a:solidFill>
            <a:schemeClr val="bg2"/>
          </a:solidFill>
          <a:ln w="12700">
            <a:solidFill>
              <a:schemeClr val="bg2">
                <a:alpha val="0"/>
              </a:schemeClr>
            </a:solidFill>
            <a:prstDash val="solid"/>
          </a:ln>
        </p:spPr>
      </p:sp>
      <p:sp>
        <p:nvSpPr>
          <p:cNvPr id="20" name="Barra Desconto médio Proposto"/>
          <p:cNvSpPr/>
          <p:nvPr/>
        </p:nvSpPr>
        <p:spPr>
          <a:xfrm>
            <a:off x="5577840" y="2404872"/>
            <a:ext cx="1517904" cy="292608"/>
          </a:xfrm>
          <a:prstGeom prst="roundRect">
            <a:avLst>
              <a:gd name="adj" fmla="val 15625"/>
            </a:avLst>
          </a:prstGeom>
          <a:solidFill>
            <a:schemeClr val="accent1"/>
          </a:solidFill>
          <a:ln w="12700">
            <a:solidFill>
              <a:schemeClr val="accent1">
                <a:alpha val="0"/>
              </a:schemeClr>
            </a:solidFill>
            <a:prstDash val="solid"/>
          </a:ln>
        </p:spPr>
      </p:sp>
      <p:sp>
        <p:nvSpPr>
          <p:cNvPr id="21" name="Valor Desconto médio Proposto"/>
          <p:cNvSpPr txBox="1"/>
          <p:nvPr/>
        </p:nvSpPr>
        <p:spPr>
          <a:xfrm>
            <a:off x="7863840" y="2377440"/>
            <a:ext cx="822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8,3%</a:t>
            </a:r>
            <a:endParaRPr lang="en-US" sz="2000" dirty="0"/>
          </a:p>
        </p:txBody>
      </p:sp>
      <p:sp>
        <p:nvSpPr>
          <p:cNvPr id="22" name="Separador"/>
          <p:cNvSpPr/>
          <p:nvPr/>
        </p:nvSpPr>
        <p:spPr>
          <a:xfrm>
            <a:off x="548640" y="2971800"/>
            <a:ext cx="8046720" cy="0"/>
          </a:xfrm>
          <a:prstGeom prst="line">
            <a:avLst/>
          </a:prstGeom>
          <a:noFill/>
          <a:ln w="9525">
            <a:solidFill>
              <a:srgbClr val="EBD9CB"/>
            </a:solidFill>
            <a:prstDash val="solid"/>
          </a:ln>
        </p:spPr>
      </p:sp>
      <p:sp>
        <p:nvSpPr>
          <p:cNvPr id="23" name="Etiqueta O QUE MUDA"/>
          <p:cNvSpPr txBox="1"/>
          <p:nvPr/>
        </p:nvSpPr>
        <p:spPr>
          <a:xfrm>
            <a:off x="548640" y="310896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4"/>
                </a:solidFill>
              </a:rPr>
              <a:t>O QUE MUDA</a:t>
            </a:r>
            <a:endParaRPr lang="en-US" sz="1100" dirty="0"/>
          </a:p>
        </p:txBody>
      </p:sp>
      <p:sp>
        <p:nvSpPr>
          <p:cNvPr id="24" name="Lista o que muda"/>
          <p:cNvSpPr txBox="1"/>
          <p:nvPr/>
        </p:nvSpPr>
        <p:spPr>
          <a:xfrm>
            <a:off x="548640" y="3401568"/>
            <a:ext cx="3840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O desconto está presente em praticamente todo o negócio novo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A poupança vem da redução do desconto médio, não do número de apólices descontadas</a:t>
            </a:r>
            <a:endParaRPr lang="en-US" sz="1400" dirty="0"/>
          </a:p>
        </p:txBody>
      </p:sp>
      <p:sp>
        <p:nvSpPr>
          <p:cNvPr id="25" name="Etiqueta IMPLICAÇÕES"/>
          <p:cNvSpPr txBox="1"/>
          <p:nvPr/>
        </p:nvSpPr>
        <p:spPr>
          <a:xfrm>
            <a:off x="4754880" y="310896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4"/>
                </a:solidFill>
              </a:rPr>
              <a:t>IMPLICAÇÕES</a:t>
            </a:r>
            <a:endParaRPr lang="en-US" sz="1100" dirty="0"/>
          </a:p>
        </p:txBody>
      </p:sp>
      <p:sp>
        <p:nvSpPr>
          <p:cNvPr id="26" name="Estado 1"/>
          <p:cNvSpPr/>
          <p:nvPr/>
        </p:nvSpPr>
        <p:spPr>
          <a:xfrm>
            <a:off x="4754880" y="3429000"/>
            <a:ext cx="237744" cy="237744"/>
          </a:xfrm>
          <a:prstGeom prst="ellipse">
            <a:avLst/>
          </a:prstGeom>
          <a:solidFill>
            <a:srgbClr val="3FAE6A"/>
          </a:solidFill>
          <a:ln w="12700">
            <a:solidFill>
              <a:srgbClr val="3FAE6A">
                <a:alpha val="0"/>
              </a:srgbClr>
            </a:solidFill>
            <a:prstDash val="solid"/>
          </a:ln>
        </p:spPr>
      </p:sp>
      <p:sp>
        <p:nvSpPr>
          <p:cNvPr id="27" name="Estado 1 texto"/>
          <p:cNvSpPr txBox="1"/>
          <p:nvPr/>
        </p:nvSpPr>
        <p:spPr>
          <a:xfrm>
            <a:off x="4754880" y="3429000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✓</a:t>
            </a:r>
            <a:endParaRPr lang="en-US" sz="1100" dirty="0"/>
          </a:p>
        </p:txBody>
      </p:sp>
      <p:sp>
        <p:nvSpPr>
          <p:cNvPr id="28" name="Implicacao 1"/>
          <p:cNvSpPr txBox="1"/>
          <p:nvPr/>
        </p:nvSpPr>
        <p:spPr>
          <a:xfrm>
            <a:off x="5120640" y="3401568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Menor desconto médio por apólice</a:t>
            </a:r>
            <a:endParaRPr lang="en-US" sz="1300" dirty="0"/>
          </a:p>
        </p:txBody>
      </p:sp>
      <p:sp>
        <p:nvSpPr>
          <p:cNvPr id="29" name="Estado 2"/>
          <p:cNvSpPr/>
          <p:nvPr/>
        </p:nvSpPr>
        <p:spPr>
          <a:xfrm>
            <a:off x="4754880" y="3758184"/>
            <a:ext cx="237744" cy="237744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>
                <a:alpha val="0"/>
              </a:schemeClr>
            </a:solidFill>
            <a:prstDash val="solid"/>
          </a:ln>
        </p:spPr>
      </p:sp>
      <p:sp>
        <p:nvSpPr>
          <p:cNvPr id="30" name="Estado 2 texto"/>
          <p:cNvSpPr txBox="1"/>
          <p:nvPr/>
        </p:nvSpPr>
        <p:spPr>
          <a:xfrm>
            <a:off x="4754880" y="3758184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!</a:t>
            </a:r>
            <a:endParaRPr lang="en-US" sz="1100" dirty="0"/>
          </a:p>
        </p:txBody>
      </p:sp>
      <p:sp>
        <p:nvSpPr>
          <p:cNvPr id="31" name="Implicacao 2"/>
          <p:cNvSpPr txBox="1"/>
          <p:nvPr/>
        </p:nvSpPr>
        <p:spPr>
          <a:xfrm>
            <a:off x="5120640" y="3730752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Maior dependência dos descontos</a:t>
            </a:r>
            <a:endParaRPr lang="en-US" sz="1300" dirty="0"/>
          </a:p>
        </p:txBody>
      </p:sp>
      <p:sp>
        <p:nvSpPr>
          <p:cNvPr id="32" name="Estado 3"/>
          <p:cNvSpPr/>
          <p:nvPr/>
        </p:nvSpPr>
        <p:spPr>
          <a:xfrm>
            <a:off x="4754880" y="4087368"/>
            <a:ext cx="237744" cy="237744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>
                <a:alpha val="0"/>
              </a:schemeClr>
            </a:solidFill>
            <a:prstDash val="solid"/>
          </a:ln>
        </p:spPr>
      </p:sp>
      <p:sp>
        <p:nvSpPr>
          <p:cNvPr id="33" name="Estado 3 texto"/>
          <p:cNvSpPr txBox="1"/>
          <p:nvPr/>
        </p:nvSpPr>
        <p:spPr>
          <a:xfrm>
            <a:off x="4754880" y="4087368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!</a:t>
            </a:r>
            <a:endParaRPr lang="en-US" sz="1100" dirty="0"/>
          </a:p>
        </p:txBody>
      </p:sp>
      <p:sp>
        <p:nvSpPr>
          <p:cNvPr id="34" name="Implicacao 3"/>
          <p:cNvSpPr txBox="1"/>
          <p:nvPr/>
        </p:nvSpPr>
        <p:spPr>
          <a:xfrm>
            <a:off x="5120640" y="4059936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Expectativa generalizada de desconto</a:t>
            </a:r>
            <a:endParaRPr lang="en-US" sz="1300" dirty="0"/>
          </a:p>
        </p:txBody>
      </p:sp>
      <p:sp>
        <p:nvSpPr>
          <p:cNvPr id="35" name="Estado 4"/>
          <p:cNvSpPr/>
          <p:nvPr/>
        </p:nvSpPr>
        <p:spPr>
          <a:xfrm>
            <a:off x="4754880" y="4416552"/>
            <a:ext cx="237744" cy="237744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>
                <a:alpha val="0"/>
              </a:schemeClr>
            </a:solidFill>
            <a:prstDash val="solid"/>
          </a:ln>
        </p:spPr>
      </p:sp>
      <p:sp>
        <p:nvSpPr>
          <p:cNvPr id="36" name="Estado 4 texto"/>
          <p:cNvSpPr txBox="1"/>
          <p:nvPr/>
        </p:nvSpPr>
        <p:spPr>
          <a:xfrm>
            <a:off x="4754880" y="4416552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!</a:t>
            </a:r>
            <a:endParaRPr lang="en-US" sz="1100" dirty="0"/>
          </a:p>
        </p:txBody>
      </p:sp>
      <p:sp>
        <p:nvSpPr>
          <p:cNvPr id="37" name="Implicacao 4"/>
          <p:cNvSpPr txBox="1"/>
          <p:nvPr/>
        </p:nvSpPr>
        <p:spPr>
          <a:xfrm>
            <a:off x="5120640" y="4389120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Mais monitorização e governação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28032"/>
            <a:ext cx="36576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cao"/>
          <p:cNvSpPr txBox="1"/>
          <p:nvPr/>
        </p:nvSpPr>
        <p:spPr>
          <a:xfrm>
            <a:off x="548640" y="32004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chemeClr val="accent2"/>
                </a:solidFill>
              </a:rPr>
              <a:t>3.1   RODAPÉ EXECUTIVO</a:t>
            </a:r>
            <a:endParaRPr lang="en-US" sz="1000" dirty="0"/>
          </a:p>
        </p:txBody>
      </p:sp>
      <p:sp>
        <p:nvSpPr>
          <p:cNvPr id="3" name="Titulo"/>
          <p:cNvSpPr txBox="1"/>
          <p:nvPr/>
        </p:nvSpPr>
        <p:spPr>
          <a:xfrm>
            <a:off x="548640" y="640080"/>
            <a:ext cx="8046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chemeClr val="bg1"/>
                </a:solidFill>
              </a:rPr>
              <a:t>O equilíbrio entre flexibilidade comercial e mérito será central na decisão final</a:t>
            </a:r>
            <a:endParaRPr lang="en-US" sz="2800" dirty="0"/>
          </a:p>
        </p:txBody>
      </p:sp>
      <p:sp>
        <p:nvSpPr>
          <p:cNvPr id="4" name="Etiqueta CONSIDERAÇÕES OPERACIONAIS"/>
          <p:cNvSpPr txBox="1"/>
          <p:nvPr/>
        </p:nvSpPr>
        <p:spPr>
          <a:xfrm>
            <a:off x="548640" y="169164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2"/>
                </a:solidFill>
              </a:rPr>
              <a:t>CONSIDERAÇÕES OPERACIONAIS</a:t>
            </a:r>
            <a:endParaRPr lang="en-US" sz="1100" dirty="0"/>
          </a:p>
        </p:txBody>
      </p:sp>
      <p:sp>
        <p:nvSpPr>
          <p:cNvPr id="5" name="Numero 1"/>
          <p:cNvSpPr txBox="1"/>
          <p:nvPr/>
        </p:nvSpPr>
        <p:spPr>
          <a:xfrm>
            <a:off x="548640" y="2011680"/>
            <a:ext cx="457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1"/>
                </a:solidFill>
              </a:rPr>
              <a:t>1</a:t>
            </a:r>
            <a:endParaRPr lang="en-US" sz="2800" dirty="0"/>
          </a:p>
        </p:txBody>
      </p:sp>
      <p:sp>
        <p:nvSpPr>
          <p:cNvPr id="6" name="Consideracao 1"/>
          <p:cNvSpPr txBox="1"/>
          <p:nvPr/>
        </p:nvSpPr>
        <p:spPr>
          <a:xfrm>
            <a:off x="1097280" y="2011680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Reforçar a monitorização dos jokers</a:t>
            </a:r>
            <a:endParaRPr lang="en-US" sz="1500" dirty="0"/>
          </a:p>
        </p:txBody>
      </p:sp>
      <p:sp>
        <p:nvSpPr>
          <p:cNvPr id="7" name="Numero 2"/>
          <p:cNvSpPr txBox="1"/>
          <p:nvPr/>
        </p:nvSpPr>
        <p:spPr>
          <a:xfrm>
            <a:off x="548640" y="2651760"/>
            <a:ext cx="457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1"/>
                </a:solidFill>
              </a:rPr>
              <a:t>2</a:t>
            </a:r>
            <a:endParaRPr lang="en-US" sz="2800" dirty="0"/>
          </a:p>
        </p:txBody>
      </p:sp>
      <p:sp>
        <p:nvSpPr>
          <p:cNvPr id="8" name="Consideracao 2"/>
          <p:cNvSpPr txBox="1"/>
          <p:nvPr/>
        </p:nvSpPr>
        <p:spPr>
          <a:xfrm>
            <a:off x="1097280" y="2651760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Reforçar a governação e o controlo dos descontos</a:t>
            </a:r>
            <a:endParaRPr lang="en-US" sz="1500" dirty="0"/>
          </a:p>
        </p:txBody>
      </p:sp>
      <p:sp>
        <p:nvSpPr>
          <p:cNvPr id="9" name="Numero 3"/>
          <p:cNvSpPr txBox="1"/>
          <p:nvPr/>
        </p:nvSpPr>
        <p:spPr>
          <a:xfrm>
            <a:off x="548640" y="3291840"/>
            <a:ext cx="457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1"/>
                </a:solidFill>
              </a:rPr>
              <a:t>3</a:t>
            </a:r>
            <a:endParaRPr lang="en-US" sz="2800" dirty="0"/>
          </a:p>
        </p:txBody>
      </p:sp>
      <p:sp>
        <p:nvSpPr>
          <p:cNvPr id="10" name="Consideracao 3"/>
          <p:cNvSpPr txBox="1"/>
          <p:nvPr/>
        </p:nvSpPr>
        <p:spPr>
          <a:xfrm>
            <a:off x="1097280" y="3291840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Rever periodicamente os critérios de segmentação e tiers</a:t>
            </a:r>
            <a:endParaRPr lang="en-US" sz="1500" dirty="0"/>
          </a:p>
        </p:txBody>
      </p:sp>
      <p:sp>
        <p:nvSpPr>
          <p:cNvPr id="11" name="Numero 4"/>
          <p:cNvSpPr txBox="1"/>
          <p:nvPr/>
        </p:nvSpPr>
        <p:spPr>
          <a:xfrm>
            <a:off x="548640" y="3931920"/>
            <a:ext cx="457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1"/>
                </a:solidFill>
              </a:rPr>
              <a:t>4</a:t>
            </a:r>
            <a:endParaRPr lang="en-US" sz="2800" dirty="0"/>
          </a:p>
        </p:txBody>
      </p:sp>
      <p:sp>
        <p:nvSpPr>
          <p:cNvPr id="12" name="Consideracao 4"/>
          <p:cNvSpPr txBox="1"/>
          <p:nvPr/>
        </p:nvSpPr>
        <p:spPr>
          <a:xfrm>
            <a:off x="1097280" y="3931920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Preservar o reconhecimento dos agentes de melhor desempenho</a:t>
            </a:r>
            <a:endParaRPr lang="en-US" sz="1500" dirty="0"/>
          </a:p>
        </p:txBody>
      </p:sp>
      <p:sp>
        <p:nvSpPr>
          <p:cNvPr id="13" name="Cartao mensagem"/>
          <p:cNvSpPr/>
          <p:nvPr/>
        </p:nvSpPr>
        <p:spPr>
          <a:xfrm>
            <a:off x="5394960" y="1691640"/>
            <a:ext cx="3200400" cy="2834640"/>
          </a:xfrm>
          <a:prstGeom prst="roundRect">
            <a:avLst>
              <a:gd name="adj" fmla="val 3871"/>
            </a:avLst>
          </a:prstGeom>
          <a:solidFill>
            <a:schemeClr val="accent1"/>
          </a:solidFill>
          <a:ln w="12700">
            <a:solidFill>
              <a:schemeClr val="accent1">
                <a:alpha val="0"/>
              </a:schemeClr>
            </a:solidFill>
            <a:prstDash val="solid"/>
          </a:ln>
        </p:spPr>
      </p:sp>
      <p:sp>
        <p:nvSpPr>
          <p:cNvPr id="14" name="Etiqueta mensagem"/>
          <p:cNvSpPr txBox="1"/>
          <p:nvPr/>
        </p:nvSpPr>
        <p:spPr>
          <a:xfrm>
            <a:off x="5669280" y="187452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tx2"/>
                </a:solidFill>
              </a:rPr>
              <a:t>MENSAGEM PRINCIPAL</a:t>
            </a:r>
            <a:endParaRPr lang="en-US" sz="1100" dirty="0"/>
          </a:p>
        </p:txBody>
      </p:sp>
      <p:sp>
        <p:nvSpPr>
          <p:cNvPr id="15" name="Texto mensagem"/>
          <p:cNvSpPr txBox="1"/>
          <p:nvPr/>
        </p:nvSpPr>
        <p:spPr>
          <a:xfrm>
            <a:off x="5669280" y="2240280"/>
            <a:ext cx="26517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A proposta não reduz a utilização de descontos: aumenta as apólices com desconto e poupa através de um desconto médio inferior.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28032"/>
            <a:ext cx="36576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Editorial Laranja">
  <a:themeElements>
    <a:clrScheme name="Editorial Laranja">
      <a:dk1>
        <a:srgbClr val="2A1A12"/>
      </a:dk1>
      <a:lt1>
        <a:srgbClr val="FFFFFF"/>
      </a:lt1>
      <a:dk2>
        <a:srgbClr val="26170F"/>
      </a:dk2>
      <a:lt2>
        <a:srgbClr val="FDEFE3"/>
      </a:lt2>
      <a:accent1>
        <a:srgbClr val="F26A1B"/>
      </a:accent1>
      <a:accent2>
        <a:srgbClr val="FF9A52"/>
      </a:accent2>
      <a:accent3>
        <a:srgbClr val="FFC247"/>
      </a:accent3>
      <a:accent4>
        <a:srgbClr val="7A6A60"/>
      </a:accent4>
      <a:accent5>
        <a:srgbClr val="D9B8A0"/>
      </a:accent5>
      <a:accent6>
        <a:srgbClr val="B3261E"/>
      </a:accent6>
      <a:hlink>
        <a:srgbClr val="F26A1B"/>
      </a:hlink>
      <a:folHlink>
        <a:srgbClr val="7A6A60"/>
      </a:folHlink>
    </a:clrScheme>
    <a:fontScheme name="Editorial Laranja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Autonomia comercial: modelo atual vs modelo proposto</dc:title>
  <dc:subject>PptxGenJS Presentation</dc:subject>
  <dc:creator>PptxGenJS</dc:creator>
  <cp:lastModifiedBy>PptxGenJS</cp:lastModifiedBy>
  <cp:revision>1</cp:revision>
  <dcterms:created xsi:type="dcterms:W3CDTF">2026-10-25T11:13:27Z</dcterms:created>
  <dcterms:modified xsi:type="dcterms:W3CDTF">2026-10-25T11:13:27Z</dcterms:modified>
</cp:coreProperties>
</file>