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936001fde34480" /><Relationship Type="http://schemas.openxmlformats.org/officeDocument/2006/relationships/extended-properties" Target="/docProps/app.xml" Id="R9525319ffc8d4e85" /><Relationship Type="http://schemas.openxmlformats.org/officeDocument/2006/relationships/officeDocument" Target="/ppt/presentation.xml" Id="R1c2036400a4a41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0ebc9228b745bf"/>
  </p:sldMasterIdLst>
  <p:notesMasterIdLst>
    <p:notesMasterId xmlns:r="http://schemas.openxmlformats.org/officeDocument/2006/relationships" r:id="R25eb1d0df59f4c9f"/>
  </p:notesMasterIdLst>
  <p:sldIdLst>
    <p:sldId xmlns:r="http://schemas.openxmlformats.org/officeDocument/2006/relationships" id="256" r:id="Ra461c6be006d40d2"/>
    <p:sldId xmlns:r="http://schemas.openxmlformats.org/officeDocument/2006/relationships" id="257" r:id="Rf680906d66814d1d"/>
    <p:sldId xmlns:r="http://schemas.openxmlformats.org/officeDocument/2006/relationships" id="258" r:id="R1cfe39b2df334800"/>
    <p:sldId xmlns:r="http://schemas.openxmlformats.org/officeDocument/2006/relationships" id="259" r:id="R7513f3ed78014151"/>
    <p:sldId xmlns:r="http://schemas.openxmlformats.org/officeDocument/2006/relationships" id="260" r:id="R33bdda506f7b4c99"/>
    <p:sldId xmlns:r="http://schemas.openxmlformats.org/officeDocument/2006/relationships" id="261" r:id="Re7ff14677a6a4814"/>
    <p:sldId xmlns:r="http://schemas.openxmlformats.org/officeDocument/2006/relationships" id="262" r:id="R647fbb4c09984d60"/>
    <p:sldId xmlns:r="http://schemas.openxmlformats.org/officeDocument/2006/relationships" id="263" r:id="R21e0aa188cea4977"/>
    <p:sldId xmlns:r="http://schemas.openxmlformats.org/officeDocument/2006/relationships" id="264" r:id="Rdc403cc545cf485e"/>
    <p:sldId xmlns:r="http://schemas.openxmlformats.org/officeDocument/2006/relationships" id="265" r:id="R391c8eb023d24fc3"/>
    <p:sldId xmlns:r="http://schemas.openxmlformats.org/officeDocument/2006/relationships" id="266" r:id="R908b50e511724532"/>
    <p:sldId xmlns:r="http://schemas.openxmlformats.org/officeDocument/2006/relationships" id="267" r:id="R68290bd83cb941ad"/>
    <p:sldId xmlns:r="http://schemas.openxmlformats.org/officeDocument/2006/relationships" id="268" r:id="Ra8bac4afff8044e8"/>
    <p:sldId xmlns:r="http://schemas.openxmlformats.org/officeDocument/2006/relationships" id="269" r:id="R5306f6eedf234f09"/>
    <p:sldId xmlns:r="http://schemas.openxmlformats.org/officeDocument/2006/relationships" id="270" r:id="R05138b3bf92c4bee"/>
    <p:sldId xmlns:r="http://schemas.openxmlformats.org/officeDocument/2006/relationships" id="271" r:id="R3f20a46e4d0144aa"/>
    <p:sldId xmlns:r="http://schemas.openxmlformats.org/officeDocument/2006/relationships" id="272" r:id="R0b3673f23a084e1a"/>
    <p:sldId xmlns:r="http://schemas.openxmlformats.org/officeDocument/2006/relationships" id="273" r:id="R81b8c51ec4e54139"/>
    <p:sldId xmlns:r="http://schemas.openxmlformats.org/officeDocument/2006/relationships" id="274" r:id="R6e4b1977c75b4e16"/>
    <p:sldId xmlns:r="http://schemas.openxmlformats.org/officeDocument/2006/relationships" id="275" r:id="Rcd469c610d29444a"/>
    <p:sldId xmlns:r="http://schemas.openxmlformats.org/officeDocument/2006/relationships" id="276" r:id="Rf00dde58a39241fe"/>
    <p:sldId xmlns:r="http://schemas.openxmlformats.org/officeDocument/2006/relationships" id="277" r:id="R7a0a54ab695c4921"/>
    <p:sldId xmlns:r="http://schemas.openxmlformats.org/officeDocument/2006/relationships" id="278" r:id="Re59a9ccaa5584e9c"/>
    <p:sldId xmlns:r="http://schemas.openxmlformats.org/officeDocument/2006/relationships" id="279" r:id="Rd4a27415e56b40da"/>
    <p:sldId xmlns:r="http://schemas.openxmlformats.org/officeDocument/2006/relationships" id="280" r:id="Rcb8485f1c4c84169"/>
    <p:sldId xmlns:r="http://schemas.openxmlformats.org/officeDocument/2006/relationships" id="281" r:id="Re07b2618430341a5"/>
    <p:sldId xmlns:r="http://schemas.openxmlformats.org/officeDocument/2006/relationships" id="282" r:id="Rf1f0ffd4bc17464a"/>
    <p:sldId xmlns:r="http://schemas.openxmlformats.org/officeDocument/2006/relationships" id="283" r:id="Ra8fd817c37084188"/>
    <p:sldId xmlns:r="http://schemas.openxmlformats.org/officeDocument/2006/relationships" id="284" r:id="R8dda778362a540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f36709b42a486d" /><Relationship Type="http://schemas.openxmlformats.org/officeDocument/2006/relationships/slideMaster" Target="/ppt/slideMasters/slideMaster1.xml" Id="Rd80ebc9228b745bf" /><Relationship Type="http://schemas.openxmlformats.org/officeDocument/2006/relationships/notesMaster" Target="/ppt/notesMasters/notesMaster1.xml" Id="R25eb1d0df59f4c9f" /><Relationship Type="http://schemas.openxmlformats.org/officeDocument/2006/relationships/presProps" Target="/ppt/presProps.xml" Id="Rd33f3d2c63654618" /><Relationship Type="http://schemas.openxmlformats.org/officeDocument/2006/relationships/tableStyles" Target="/ppt/tableStyles.xml" Id="R12488d1c0da74ebb" /><Relationship Type="http://schemas.openxmlformats.org/officeDocument/2006/relationships/slide" Target="/ppt/slides/slide1.xml" Id="Ra461c6be006d40d2" /><Relationship Type="http://schemas.openxmlformats.org/officeDocument/2006/relationships/slide" Target="/ppt/slides/slide2.xml" Id="Rf680906d66814d1d" /><Relationship Type="http://schemas.openxmlformats.org/officeDocument/2006/relationships/slide" Target="/ppt/slides/slide3.xml" Id="R1cfe39b2df334800" /><Relationship Type="http://schemas.openxmlformats.org/officeDocument/2006/relationships/slide" Target="/ppt/slides/slide4.xml" Id="R7513f3ed78014151" /><Relationship Type="http://schemas.openxmlformats.org/officeDocument/2006/relationships/slide" Target="/ppt/slides/slide5.xml" Id="R33bdda506f7b4c99" /><Relationship Type="http://schemas.openxmlformats.org/officeDocument/2006/relationships/slide" Target="/ppt/slides/slide6.xml" Id="Re7ff14677a6a4814" /><Relationship Type="http://schemas.openxmlformats.org/officeDocument/2006/relationships/slide" Target="/ppt/slides/slide7.xml" Id="R647fbb4c09984d60" /><Relationship Type="http://schemas.openxmlformats.org/officeDocument/2006/relationships/slide" Target="/ppt/slides/slide8.xml" Id="R21e0aa188cea4977" /><Relationship Type="http://schemas.openxmlformats.org/officeDocument/2006/relationships/slide" Target="/ppt/slides/slide9.xml" Id="Rdc403cc545cf485e" /><Relationship Type="http://schemas.openxmlformats.org/officeDocument/2006/relationships/slide" Target="/ppt/slides/slide10.xml" Id="R391c8eb023d24fc3" /><Relationship Type="http://schemas.openxmlformats.org/officeDocument/2006/relationships/slide" Target="/ppt/slides/slide11.xml" Id="R908b50e511724532" /><Relationship Type="http://schemas.openxmlformats.org/officeDocument/2006/relationships/slide" Target="/ppt/slides/slide12.xml" Id="R68290bd83cb941ad" /><Relationship Type="http://schemas.openxmlformats.org/officeDocument/2006/relationships/slide" Target="/ppt/slides/slide13.xml" Id="Ra8bac4afff8044e8" /><Relationship Type="http://schemas.openxmlformats.org/officeDocument/2006/relationships/slide" Target="/ppt/slides/slide14.xml" Id="R5306f6eedf234f09" /><Relationship Type="http://schemas.openxmlformats.org/officeDocument/2006/relationships/slide" Target="/ppt/slides/slide15.xml" Id="R05138b3bf92c4bee" /><Relationship Type="http://schemas.openxmlformats.org/officeDocument/2006/relationships/slide" Target="/ppt/slides/slide16.xml" Id="R3f20a46e4d0144aa" /><Relationship Type="http://schemas.openxmlformats.org/officeDocument/2006/relationships/slide" Target="/ppt/slides/slide17.xml" Id="R0b3673f23a084e1a" /><Relationship Type="http://schemas.openxmlformats.org/officeDocument/2006/relationships/slide" Target="/ppt/slides/slide18.xml" Id="R81b8c51ec4e54139" /><Relationship Type="http://schemas.openxmlformats.org/officeDocument/2006/relationships/slide" Target="/ppt/slides/slide19.xml" Id="R6e4b1977c75b4e16" /><Relationship Type="http://schemas.openxmlformats.org/officeDocument/2006/relationships/slide" Target="/ppt/slides/slide20.xml" Id="Rcd469c610d29444a" /><Relationship Type="http://schemas.openxmlformats.org/officeDocument/2006/relationships/slide" Target="/ppt/slides/slide21.xml" Id="Rf00dde58a39241fe" /><Relationship Type="http://schemas.openxmlformats.org/officeDocument/2006/relationships/slide" Target="/ppt/slides/slide22.xml" Id="R7a0a54ab695c4921" /><Relationship Type="http://schemas.openxmlformats.org/officeDocument/2006/relationships/slide" Target="/ppt/slides/slide23.xml" Id="Re59a9ccaa5584e9c" /><Relationship Type="http://schemas.openxmlformats.org/officeDocument/2006/relationships/slide" Target="/ppt/slides/slide24.xml" Id="Rd4a27415e56b40da" /><Relationship Type="http://schemas.openxmlformats.org/officeDocument/2006/relationships/slide" Target="/ppt/slides/slide25.xml" Id="Rcb8485f1c4c84169" /><Relationship Type="http://schemas.openxmlformats.org/officeDocument/2006/relationships/slide" Target="/ppt/slides/slide26.xml" Id="Re07b2618430341a5" /><Relationship Type="http://schemas.openxmlformats.org/officeDocument/2006/relationships/slide" Target="/ppt/slides/slide27.xml" Id="Rf1f0ffd4bc17464a" /><Relationship Type="http://schemas.openxmlformats.org/officeDocument/2006/relationships/slide" Target="/ppt/slides/slide28.xml" Id="Ra8fd817c37084188" /><Relationship Type="http://schemas.openxmlformats.org/officeDocument/2006/relationships/slide" Target="/ppt/slides/slide29.xml" Id="R8dda778362a540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33c39ecb7741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115236cc384f55" /><Relationship Type="http://schemas.openxmlformats.org/officeDocument/2006/relationships/notesMaster" Target="/ppt/notesMasters/notesMaster1.xml" Id="R1380fc66ed6e42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29b6016232422c" /><Relationship Type="http://schemas.openxmlformats.org/officeDocument/2006/relationships/notesMaster" Target="/ppt/notesMasters/notesMaster1.xml" Id="Rcfb1977dd8bb4c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cd0e1874e54137" /><Relationship Type="http://schemas.openxmlformats.org/officeDocument/2006/relationships/notesMaster" Target="/ppt/notesMasters/notesMaster1.xml" Id="R21d78bc223b940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9f362f6ef74ae2" /><Relationship Type="http://schemas.openxmlformats.org/officeDocument/2006/relationships/notesMaster" Target="/ppt/notesMasters/notesMaster1.xml" Id="R9507985ab9834c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360f21fa114ec6" /><Relationship Type="http://schemas.openxmlformats.org/officeDocument/2006/relationships/notesMaster" Target="/ppt/notesMasters/notesMaster1.xml" Id="R6619f289bf0241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ec8b249e84466b" /><Relationship Type="http://schemas.openxmlformats.org/officeDocument/2006/relationships/notesMaster" Target="/ppt/notesMasters/notesMaster1.xml" Id="Rd6fce24e312043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78049b896c46e9" /><Relationship Type="http://schemas.openxmlformats.org/officeDocument/2006/relationships/notesMaster" Target="/ppt/notesMasters/notesMaster1.xml" Id="R1ddd6d368b6d42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f9a811dc3c4e03" /><Relationship Type="http://schemas.openxmlformats.org/officeDocument/2006/relationships/notesMaster" Target="/ppt/notesMasters/notesMaster1.xml" Id="Rfb3ecf6211984e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9a6b544bae42f0" /><Relationship Type="http://schemas.openxmlformats.org/officeDocument/2006/relationships/notesMaster" Target="/ppt/notesMasters/notesMaster1.xml" Id="Rcc29e2b6e38449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cadda5d7394197" /><Relationship Type="http://schemas.openxmlformats.org/officeDocument/2006/relationships/notesMaster" Target="/ppt/notesMasters/notesMaster1.xml" Id="R1502e04a55374a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ea8de0c41744dc" /><Relationship Type="http://schemas.openxmlformats.org/officeDocument/2006/relationships/notesMaster" Target="/ppt/notesMasters/notesMaster1.xml" Id="R63f55d2a054a45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3bf0a069794049" /><Relationship Type="http://schemas.openxmlformats.org/officeDocument/2006/relationships/notesMaster" Target="/ppt/notesMasters/notesMaster1.xml" Id="R90e7267401d54c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8a053861f54041" /><Relationship Type="http://schemas.openxmlformats.org/officeDocument/2006/relationships/notesMaster" Target="/ppt/notesMasters/notesMaster1.xml" Id="R8e01359e466446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7e48037e2241a4" /><Relationship Type="http://schemas.openxmlformats.org/officeDocument/2006/relationships/notesMaster" Target="/ppt/notesMasters/notesMaster1.xml" Id="Rd557145229a94c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0d28bebb864b76" /><Relationship Type="http://schemas.openxmlformats.org/officeDocument/2006/relationships/notesMaster" Target="/ppt/notesMasters/notesMaster1.xml" Id="Rf1111f27b60c41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75279e84404ed6" /><Relationship Type="http://schemas.openxmlformats.org/officeDocument/2006/relationships/notesMaster" Target="/ppt/notesMasters/notesMaster1.xml" Id="R503d140f9efb43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bd9c40d00c4960" /><Relationship Type="http://schemas.openxmlformats.org/officeDocument/2006/relationships/notesMaster" Target="/ppt/notesMasters/notesMaster1.xml" Id="R132a4877ea6d40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ac6e6294054ed9" /><Relationship Type="http://schemas.openxmlformats.org/officeDocument/2006/relationships/notesMaster" Target="/ppt/notesMasters/notesMaster1.xml" Id="R7f49801eac4746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c4b7ae2be948a2" /><Relationship Type="http://schemas.openxmlformats.org/officeDocument/2006/relationships/notesMaster" Target="/ppt/notesMasters/notesMaster1.xml" Id="Ra4cafb124d5744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f8f999cb784e6d" /><Relationship Type="http://schemas.openxmlformats.org/officeDocument/2006/relationships/notesMaster" Target="/ppt/notesMasters/notesMaster1.xml" Id="R965b28dc168a49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8d62a575b34b43" /><Relationship Type="http://schemas.openxmlformats.org/officeDocument/2006/relationships/notesMaster" Target="/ppt/notesMasters/notesMaster1.xml" Id="R7f3a4af2a8d445f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adb0200724b457a" /><Relationship Type="http://schemas.openxmlformats.org/officeDocument/2006/relationships/notesMaster" Target="/ppt/notesMasters/notesMaster1.xml" Id="R0635e5a3b43f44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cd8abaf5f744a5" /><Relationship Type="http://schemas.openxmlformats.org/officeDocument/2006/relationships/notesMaster" Target="/ppt/notesMasters/notesMaster1.xml" Id="Re830f9dc190247f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8caa3ddc6e4697" /><Relationship Type="http://schemas.openxmlformats.org/officeDocument/2006/relationships/notesMaster" Target="/ppt/notesMasters/notesMaster1.xml" Id="R08190e6ed0624a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a56d6d73e042e9" /><Relationship Type="http://schemas.openxmlformats.org/officeDocument/2006/relationships/notesMaster" Target="/ppt/notesMasters/notesMaster1.xml" Id="R6de3975657a54c2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6837c69e7134795" /><Relationship Type="http://schemas.openxmlformats.org/officeDocument/2006/relationships/notesMaster" Target="/ppt/notesMasters/notesMaster1.xml" Id="Rbc64b23654b94a1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d7b94fd6c754055" /><Relationship Type="http://schemas.openxmlformats.org/officeDocument/2006/relationships/notesMaster" Target="/ppt/notesMasters/notesMaster1.xml" Id="R5d667f6f711c4ae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108211415d24d5a" /><Relationship Type="http://schemas.openxmlformats.org/officeDocument/2006/relationships/notesMaster" Target="/ppt/notesMasters/notesMaster1.xml" Id="Rddfcdd8c2a144ae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af511ff4fb64a1f" /><Relationship Type="http://schemas.openxmlformats.org/officeDocument/2006/relationships/notesMaster" Target="/ppt/notesMasters/notesMaster1.xml" Id="R3e4b7cb070f849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política interna; a apresentação não afirma aprovação existente da Ageas.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https://docs.databricks.com/aws/en/tables/constraints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https://docs.databricks.com/aws/en/delta/; https://docs.databricks.com/aws/en/tables/managed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https://docs.databricks.com/aws/en/delta/best-practices; https://docs.databricks.com/aws/en/optimizations/predictive-optimization; https://docs.databricks.com/aws/en/delta/vacuum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https://docs.databricks.com/aws/en/comments/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https://docs.databricks.com/aws/en/data-governance/unity-catalog/data-lineage; https://docs.databricks.com/aws/en/database-objects/tags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https://docs.databricks.com/aws/en/tables/constraints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https://docs.databricks.com/aws/en/delta/best-practices; https://docs.databricks.com/aws/en/tables/partitions; https://docs.databricks.com/aws/en/delta/vacuum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verificadas em 23 de setembro de 2026. As convenções de nomes e regras de governance propostas são escolhas internas, não requisitos do produto Databricks.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386a41e79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96d844f88941a2" /><Relationship Type="http://schemas.openxmlformats.org/officeDocument/2006/relationships/slideLayout" Target="/ppt/slideLayouts/slideLayout1.xml" Id="Rbb0b37ee872c49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b37ee872c49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9278421624730" /><Relationship Type="http://schemas.openxmlformats.org/officeDocument/2006/relationships/image" Target="/ppt/media/image.png" Id="Raa3bc83d909f461a" /><Relationship Type="http://schemas.openxmlformats.org/officeDocument/2006/relationships/notesSlide" Target="/ppt/notesSlides/notesSlide1.xml" Id="R44f5fdd420f241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29b546ca249a7" /><Relationship Type="http://schemas.openxmlformats.org/officeDocument/2006/relationships/image" Target="/ppt/media/image2.png" Id="R30c2d8781000404a" /><Relationship Type="http://schemas.openxmlformats.org/officeDocument/2006/relationships/notesSlide" Target="/ppt/notesSlides/notesSlide2.xml" Id="R355fba0c001543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f31db1d3049d2" /><Relationship Type="http://schemas.openxmlformats.org/officeDocument/2006/relationships/image" Target="/ppt/media/image3.png" Id="R058c94bfb060458a" /><Relationship Type="http://schemas.openxmlformats.org/officeDocument/2006/relationships/notesSlide" Target="/ppt/notesSlides/notesSlide3.xml" Id="Re5a7497f7e0c43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3c2072c124479" /><Relationship Type="http://schemas.openxmlformats.org/officeDocument/2006/relationships/image" Target="/ppt/media/image4.png" Id="R8f91c2a475724fa3" /><Relationship Type="http://schemas.openxmlformats.org/officeDocument/2006/relationships/notesSlide" Target="/ppt/notesSlides/notesSlide4.xml" Id="R8702a7e27f8045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e83a158ce4452" /><Relationship Type="http://schemas.openxmlformats.org/officeDocument/2006/relationships/image" Target="/ppt/media/image5.png" Id="R393e0458fb714a3c" /><Relationship Type="http://schemas.openxmlformats.org/officeDocument/2006/relationships/notesSlide" Target="/ppt/notesSlides/notesSlide5.xml" Id="Rbe2107992be64f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cf47e405d4814" /><Relationship Type="http://schemas.openxmlformats.org/officeDocument/2006/relationships/image" Target="/ppt/media/image6.png" Id="Rd1c8c1a0cc8144ce" /><Relationship Type="http://schemas.openxmlformats.org/officeDocument/2006/relationships/notesSlide" Target="/ppt/notesSlides/notesSlide6.xml" Id="R424fbe8db31f45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775bb52874462" /><Relationship Type="http://schemas.openxmlformats.org/officeDocument/2006/relationships/image" Target="/ppt/media/image7.png" Id="R58bc49daab844dfc" /><Relationship Type="http://schemas.openxmlformats.org/officeDocument/2006/relationships/notesSlide" Target="/ppt/notesSlides/notesSlide7.xml" Id="Ra1b7c08ec1bc48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e74aaa19a4d25" /><Relationship Type="http://schemas.openxmlformats.org/officeDocument/2006/relationships/image" Target="/ppt/media/image8.png" Id="Rdbf873959f8347e1" /><Relationship Type="http://schemas.openxmlformats.org/officeDocument/2006/relationships/notesSlide" Target="/ppt/notesSlides/notesSlide8.xml" Id="R4dde1cde36e242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3807ec188426a" /><Relationship Type="http://schemas.openxmlformats.org/officeDocument/2006/relationships/image" Target="/ppt/media/image9.png" Id="R603648f74e564ed6" /><Relationship Type="http://schemas.openxmlformats.org/officeDocument/2006/relationships/notesSlide" Target="/ppt/notesSlides/notesSlide9.xml" Id="Rf6c6fab26ac544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5750a6cd24db8" /><Relationship Type="http://schemas.openxmlformats.org/officeDocument/2006/relationships/image" Target="/ppt/media/image10.png" Id="R68a0a73a5b2b40b0" /><Relationship Type="http://schemas.openxmlformats.org/officeDocument/2006/relationships/notesSlide" Target="/ppt/notesSlides/notesSlide10.xml" Id="Rf45d86eeb7354f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3bef31c374e6a" /><Relationship Type="http://schemas.openxmlformats.org/officeDocument/2006/relationships/image" Target="/ppt/media/image11.png" Id="Ra0ad86aec148433d" /><Relationship Type="http://schemas.openxmlformats.org/officeDocument/2006/relationships/notesSlide" Target="/ppt/notesSlides/notesSlide11.xml" Id="R7d1d2dc3a1b84a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a61850c2a43fa" /><Relationship Type="http://schemas.openxmlformats.org/officeDocument/2006/relationships/image" Target="/ppt/media/image12.png" Id="R9ff287cd577a40d8" /><Relationship Type="http://schemas.openxmlformats.org/officeDocument/2006/relationships/notesSlide" Target="/ppt/notesSlides/notesSlide12.xml" Id="R1365b5010d5443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c0505a2a641a0" /><Relationship Type="http://schemas.openxmlformats.org/officeDocument/2006/relationships/image" Target="/ppt/media/image13.png" Id="R0f9956f37d3b48a1" /><Relationship Type="http://schemas.openxmlformats.org/officeDocument/2006/relationships/notesSlide" Target="/ppt/notesSlides/notesSlide13.xml" Id="R95c89432df7448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3660a881241f0" /><Relationship Type="http://schemas.openxmlformats.org/officeDocument/2006/relationships/image" Target="/ppt/media/image14.png" Id="R3a4fe2aea70d41d0" /><Relationship Type="http://schemas.openxmlformats.org/officeDocument/2006/relationships/notesSlide" Target="/ppt/notesSlides/notesSlide14.xml" Id="R720c9b4efb004b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139644eff4d4f" /><Relationship Type="http://schemas.openxmlformats.org/officeDocument/2006/relationships/image" Target="/ppt/media/image15.png" Id="R2e0edb3d8e124ee4" /><Relationship Type="http://schemas.openxmlformats.org/officeDocument/2006/relationships/notesSlide" Target="/ppt/notesSlides/notesSlide15.xml" Id="R7e4c45d52bd04d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6fc0e32ea4b65" /><Relationship Type="http://schemas.openxmlformats.org/officeDocument/2006/relationships/image" Target="/ppt/media/image16.png" Id="R01b0b5102fc34ee4" /><Relationship Type="http://schemas.openxmlformats.org/officeDocument/2006/relationships/notesSlide" Target="/ppt/notesSlides/notesSlide16.xml" Id="R63167c349adc43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2ea2507664798" /><Relationship Type="http://schemas.openxmlformats.org/officeDocument/2006/relationships/image" Target="/ppt/media/image17.png" Id="Rc43f9cbdea6d495e" /><Relationship Type="http://schemas.openxmlformats.org/officeDocument/2006/relationships/notesSlide" Target="/ppt/notesSlides/notesSlide17.xml" Id="R61331374629c4c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75338e11945c4" /><Relationship Type="http://schemas.openxmlformats.org/officeDocument/2006/relationships/image" Target="/ppt/media/image18.png" Id="Re95daa8593254454" /><Relationship Type="http://schemas.openxmlformats.org/officeDocument/2006/relationships/notesSlide" Target="/ppt/notesSlides/notesSlide18.xml" Id="R769bba9c249744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d71b9300e471c" /><Relationship Type="http://schemas.openxmlformats.org/officeDocument/2006/relationships/image" Target="/ppt/media/image19.png" Id="R5dc5d8d7819b4814" /><Relationship Type="http://schemas.openxmlformats.org/officeDocument/2006/relationships/notesSlide" Target="/ppt/notesSlides/notesSlide19.xml" Id="Rbc8a02d8248947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6f2a1832744bc" /><Relationship Type="http://schemas.openxmlformats.org/officeDocument/2006/relationships/image" Target="/ppt/media/image20.png" Id="R51e915fadf8044f8" /><Relationship Type="http://schemas.openxmlformats.org/officeDocument/2006/relationships/notesSlide" Target="/ppt/notesSlides/notesSlide20.xml" Id="R0cfbaea199aa44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8ffe4768b4d16" /><Relationship Type="http://schemas.openxmlformats.org/officeDocument/2006/relationships/image" Target="/ppt/media/image21.png" Id="R02ec862228c24359" /><Relationship Type="http://schemas.openxmlformats.org/officeDocument/2006/relationships/notesSlide" Target="/ppt/notesSlides/notesSlide21.xml" Id="R7d7708afcea6484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36bb5f7b64f08" /><Relationship Type="http://schemas.openxmlformats.org/officeDocument/2006/relationships/image" Target="/ppt/media/image22.png" Id="R3649c415824a4c96" /><Relationship Type="http://schemas.openxmlformats.org/officeDocument/2006/relationships/notesSlide" Target="/ppt/notesSlides/notesSlide22.xml" Id="R9b1798e5f7614b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ebb45c79c44cc" /><Relationship Type="http://schemas.openxmlformats.org/officeDocument/2006/relationships/image" Target="/ppt/media/image23.png" Id="R65ec797d0ac74c5d" /><Relationship Type="http://schemas.openxmlformats.org/officeDocument/2006/relationships/notesSlide" Target="/ppt/notesSlides/notesSlide23.xml" Id="R855d94d9e93940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66449a5e24bcc" /><Relationship Type="http://schemas.openxmlformats.org/officeDocument/2006/relationships/image" Target="/ppt/media/image24.png" Id="R9d477355092b44f9" /><Relationship Type="http://schemas.openxmlformats.org/officeDocument/2006/relationships/notesSlide" Target="/ppt/notesSlides/notesSlide24.xml" Id="Ra0ffeb0ede554f6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3f254b3494238" /><Relationship Type="http://schemas.openxmlformats.org/officeDocument/2006/relationships/image" Target="/ppt/media/image25.png" Id="Rfb109b6599ec4e4b" /><Relationship Type="http://schemas.openxmlformats.org/officeDocument/2006/relationships/notesSlide" Target="/ppt/notesSlides/notesSlide25.xml" Id="R5787bb4ca2a1420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2593c79434d1f" /><Relationship Type="http://schemas.openxmlformats.org/officeDocument/2006/relationships/image" Target="/ppt/media/image26.png" Id="Rcb36421fee7a4da3" /><Relationship Type="http://schemas.openxmlformats.org/officeDocument/2006/relationships/notesSlide" Target="/ppt/notesSlides/notesSlide26.xml" Id="R86511ca39d02432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d83b04bc24bca" /><Relationship Type="http://schemas.openxmlformats.org/officeDocument/2006/relationships/image" Target="/ppt/media/image27.png" Id="R5fdf9c8b8d894715" /><Relationship Type="http://schemas.openxmlformats.org/officeDocument/2006/relationships/notesSlide" Target="/ppt/notesSlides/notesSlide27.xml" Id="R8141af55b53247a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0c285326a4924" /><Relationship Type="http://schemas.openxmlformats.org/officeDocument/2006/relationships/image" Target="/ppt/media/image28.png" Id="R21a67e04df6c4bb5" /><Relationship Type="http://schemas.openxmlformats.org/officeDocument/2006/relationships/notesSlide" Target="/ppt/notesSlides/notesSlide28.xml" Id="R06da55448f88403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6c12adcff4c0b" /><Relationship Type="http://schemas.openxmlformats.org/officeDocument/2006/relationships/image" Target="/ppt/media/image29.png" Id="Rac5994b427964294" /><Relationship Type="http://schemas.openxmlformats.org/officeDocument/2006/relationships/notesSlide" Target="/ppt/notesSlides/notesSlide29.xml" Id="R1d0c3c80b47a47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01B0C-5B40-4EE6-BEF7-BADB33E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53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5D6D0-BB94-4726-9AF2-94428F9A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0"/>
            <a:ext cx="147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62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0A111-3BD7-4B04-BF63-D5722AC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5022732-3788-4273-8D6D-DEFA705D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714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Normas do Modelo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Dados e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Convenções de Nomes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99584-D98F-4C8F-8C65-BECF8226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733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4B0EF8-BACA-4AA7-9CAF-BA0F6363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Plataforma de Dados Databricks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963AFF-AFC6-4BB3-BECA-4E6E0E4E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Versão 1.0  |  23 de setembro de 2026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bc83d909f461a"/>
          <a:stretch xmlns:a="http://schemas.openxmlformats.org/drawingml/2006/main"/>
        </p:blipFill>
        <p:spPr>
          <a:xfrm xmlns:a="http://schemas.openxmlformats.org/drawingml/2006/main">
            <a:off x="6964297" y="2000250"/>
            <a:ext cx="4235581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AA577D4-8F1E-4C49-884F-F9F424F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0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Data Engineering  •  Data Analytics  •  Business Intelligence</a:t>
            </a:r>
          </a:p>
        </p:txBody>
      </p:sp>
    </p:spTree>
    <p:extLst>
      <p:ext uri="{BB962C8B-B14F-4D97-AF65-F5344CB8AC3E}">
        <p14:creationId xmlns:p14="http://schemas.microsoft.com/office/powerpoint/2010/main" val="28272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4919E-D7D7-4EBA-9DC0-1DAC4F4E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9A728-5027-4C51-98A1-6C0B1579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2d8781000404a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FA6A299-28E3-4BF2-B2C0-F90E1301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0FA0873-671D-4FBA-80C4-9229A32D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Controlo do documento e âmbito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5EAAE2-A9CD-45FE-B54C-03BDC056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NORMA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2208B-4DDC-4B1D-82E5-97EC91AE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266B372-5079-4E57-A363-421E6773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Proposta de norma sujeita a aprovação pelo responsável de governance da plataforma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1CF5611-D1BE-4264-8FCB-AFAC4C98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Estado: proposta para adoção formal. A data de entrada em vigor, o aprovador, o circuito de exceções e a periodicidade de revisão devem ser registados antes da publicação.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Aplica-se às tabelas criadas ou mantidas em Unity Catalog pelas equipas de Engenharia de Dados, Análise de Dados e BI, em todas as marcas e fontes. A estrutura de catálogos e schemas já existe e fica fora deste documento.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Namespace ilustrativo: agpt_insurance_dv_catalog.wkb_bus_operations_claimsmotor. Usar o catálogo e schema aprovados e aplicar as regras de tabelas e colunas desta norma.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DEVE indica obrigação; RECOMENDA-SE admite exceção documentada; PODE é opcional.</a:t>
            </a:r>
          </a:p>
        </p:txBody>
      </p:sp>
    </p:spTree>
    <p:extLst>
      <p:ext uri="{BB962C8B-B14F-4D97-AF65-F5344CB8AC3E}">
        <p14:creationId xmlns:p14="http://schemas.microsoft.com/office/powerpoint/2010/main" val="2931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8DFF9-FA58-4C1B-821C-541B0059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CCC82-2FF1-41B8-85F5-06E3393C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c94bfb060458a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D65097F-2824-49CA-9C31-80088072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4BBD22D-9712-439D-AB25-FEB7874D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Objetivo e resultados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ACDCD66-29A5-46A4-AED5-41780569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FE8F5-7664-479C-A200-B7EE398E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D8037D-75EC-4925-975F-BA433C14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Razões para normalizar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69FAF3C-E25C-401C-92D2-1244D32D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O que a norma cobre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1C0EA804-2676-4510-B598-793839F1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Nomes coerentes permitem reconhecer a função, entidade, origem e marca de uma tabela antes de consultar as colunas.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Modelos partilhados reduzem lógica duplicada e facilitam a manutenção das alterações.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definição explícita da granularidade e dos responsáveis melhora a reutilização e a rastreabilidade de cada indicador.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C9D5AB47-E4B6-4A65-AEBC-879D1A88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Criação de tabelas, nomenclatura, desenho do modelo, metadados, qualidade e ciclo de vida.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Unity Catalog centraliza acessos, propriedade e lineage. As tabelas Delta suportam escritas fiáveis e análises reproduzíveis.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definições de negócio permanecem nos glossários de cada domínio e são associadas às colunas documentadas.</a:t>
            </a:r>
          </a:p>
        </p:txBody>
      </p:sp>
    </p:spTree>
    <p:extLst>
      <p:ext uri="{BB962C8B-B14F-4D97-AF65-F5344CB8AC3E}">
        <p14:creationId xmlns:p14="http://schemas.microsoft.com/office/powerpoint/2010/main" val="1617052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ADFBF-37B2-4ABD-9B59-08886637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998AD-922F-4325-8757-F99907A7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1c2a475724fa3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3298C72-CA0B-4F32-B8FB-A1D0FE49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D045EA-1DBB-4C7B-943C-59D1CE04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Princípios orientadores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01056D-6DF3-41CB-9F61-1E7F84A3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56E21-E054-41D0-A753-1B06259F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81D3360-C521-465D-95FF-B257E76D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Desenho do modelo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97CE83D-56A0-41EA-BA41-F3BEACD2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Controlo e operação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CC50D979-AD63-4507-8A67-564C1EEA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Simplicidade: escolher o modelo mais simples que preserva o significado.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Legibilidade: usar conceitos compreensíveis por novos analistas.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Consistência: repetir nomes e tipos para o mesmo conceito.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Escalabilidade: fixar a granularidade e suportar cargas incrementais.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Reutilização: publicar entidades e dimensões conformes.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F85CE21D-2A51-4E4F-B75D-4FE6382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Auditabilidade: manter proveniência e conciliar cargas.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Governance: atribuir responsáveis e classificar dados sensíveis.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Rastreabilidade: ligar cada destino às fontes e transformações.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Desempenho: otimizar com base em utilização medida.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Segurança: conceder acessos a grupos pelo princípio do menor privilégio.</a:t>
            </a:r>
          </a:p>
        </p:txBody>
      </p:sp>
    </p:spTree>
    <p:extLst>
      <p:ext uri="{BB962C8B-B14F-4D97-AF65-F5344CB8AC3E}">
        <p14:creationId xmlns:p14="http://schemas.microsoft.com/office/powerpoint/2010/main" val="655991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AB70B-1DEE-4A64-908A-0A3F39B3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FD50C-BD33-48B5-B7C7-E88EB1E9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e0458fb714a3c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1ED2429-AD04-4D48-A501-FBC6E200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496F2E-AD12-4967-AC33-EECC8E40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Regras gerais de nomenclatura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132D30-BDC0-4E5B-A9D8-293F8AE3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46628-726D-41B8-81D6-9E2C3BA0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85122F-7314-4CA5-BA26-1453E595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Sintaxe obrigatória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EA26DB3-4DC8-4199-BF24-F1D38852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Exemplos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84FD3B6C-7E21-4994-90D7-CFCF636A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Usar snake_case em minúsculas: [a-z][a-z0-9_]*.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Sem espaços, pontos, hífenes, acentos ou outros caracteres especiais nos nomes das tabelas. Os pontos separam apenas catálogo, schema e tabela.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 usar prefixos genéricos como tbl_, tb_, tmp_ ou new_. O prefixo de camada aprovado identifica a função.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Manter nomes estáveis e descritivos. Evitar abreviaturas ambíguas.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AE7DFC7C-4EA6-43AB-87D6-A01721F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Correto: raw_claims_sas_ageas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Correto: dim_customer_ageas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Correto: agg_claims_month_ageas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Incorreto: Tbl_Claims, raw-claims-sas, Claims.SAS, new_fact_claims, dim customer.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siglas de fonte e marca devem constar de um registo aprovado. Reservar all para fontes verdadeiramente comuns a todas as marcas.</a:t>
            </a:r>
          </a:p>
        </p:txBody>
      </p:sp>
    </p:spTree>
    <p:extLst>
      <p:ext uri="{BB962C8B-B14F-4D97-AF65-F5344CB8AC3E}">
        <p14:creationId xmlns:p14="http://schemas.microsoft.com/office/powerpoint/2010/main" val="1746034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36FAC-8F13-482C-B01F-A4B6B5F6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303E4-4E63-4846-B13C-D335581A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8c1a0cc8144ce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BE57B53-0BFB-488E-BAFC-9CEE67A5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D73D814-0FCE-416E-8F9A-8EB0283C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Classes de tabelas e fronteiras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B404AB-6BFC-458E-AA03-DD5DC94F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E039F-30C1-43AE-9D81-C0FC0A48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559EFB-4219-4FFE-A1F5-413FC198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Origem e integração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A27A651-2CF4-4C2A-A0AA-A8D7346A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Consumo analítico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9B4F7FFE-D9B6-4751-9572-C680B645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raw_&lt;entity&gt;_&lt;source&gt;_&lt;brand&gt;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Registar uma entrega da fonte com interpretação mínima.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core_&lt;entity&gt;_&lt;brand&gt;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Harmonizar entidades de negócio entre sistemas.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ref_&lt;entity&gt;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Disponibilizar códigos e referências partilhadas.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wrk_&lt;entity&gt;_&lt;process&gt;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Suportar processamento intermédio com ciclo de vida definido.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FF9DDC17-A474-43F9-8073-58E4DF5D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dim_&lt;entity&gt;_&lt;brand&gt; ou dim_&lt;entity&gt; para dimensões partilhadas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Descrever entidades usadas para filtrar factos.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fact_&lt;entity&gt;_&lt;brand&gt;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Registar eventos ou estados com granularidade fixa.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agg_&lt;entity&gt;_&lt;granularity&gt;_&lt;brand&gt;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Persistir resumos justificados.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snap_&lt;entity&gt;_&lt;brand&gt;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Preservar estados periódicos ou pontuais.</a:t>
            </a:r>
          </a:p>
        </p:txBody>
      </p:sp>
    </p:spTree>
    <p:extLst>
      <p:ext uri="{BB962C8B-B14F-4D97-AF65-F5344CB8AC3E}">
        <p14:creationId xmlns:p14="http://schemas.microsoft.com/office/powerpoint/2010/main" val="1590481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2F188-1EDE-450E-B910-EE52BB88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867BC-EACA-4657-A548-7A36905D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c49daab844dfc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6BE4C08-238E-4DFD-98BF-5900219A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71D1AF-8D4F-4EC5-B73C-16B5C148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Tabelas raw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76A638-F4F3-4895-93AD-D27EE9AB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DA880-EA68-4601-948E-097EE42C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355D81-CF89-4DC9-9C6D-228F1C79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Padrão e exemplos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D260B4-7578-4642-A964-0A4A88F3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Tratamento permitido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DC67FCBA-A03D-4B02-93AB-91155EB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raw_&lt;entity&gt;_&lt;source&gt;_&lt;brand&gt;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raw_claims_sas_ageas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raw_policies_sas_ageas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raw_vehicle_sales_acap_ageas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raw_vehicle_stock_autoinforma_ageas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raw_postcodes_geoapi_all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entidade descreve o conteúdo, a fonte regista a origem e a marca evita misturar contextos distintos.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201DA82B-C490-4115-B869-221299D5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Validar transporte e leitura, captar proveniência, aplicar restrições de acesso e registar o resultado da carga. Preservar valores e significado dos campos de origem.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Evitar junções entre sistemas, recodificações de negócio, deduplicação que elimina evidência, KPI derivados ou substituição de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Nas API sem ficheiro, source_file pode ser NULL, com identificador de pedido ou lote documentado.</a:t>
            </a:r>
          </a:p>
        </p:txBody>
      </p:sp>
    </p:spTree>
    <p:extLst>
      <p:ext uri="{BB962C8B-B14F-4D97-AF65-F5344CB8AC3E}">
        <p14:creationId xmlns:p14="http://schemas.microsoft.com/office/powerpoint/2010/main" val="1198954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DCBAD-1107-4C62-8DA6-3F077EBC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E82EC-86A4-4C84-AAC5-463C5850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873959f8347e1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F11F9DD-CA82-4B15-B6A9-4B2FCDEF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9CF7EAC-FF98-4A77-876B-37B925B0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Tabelas core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E985957-4438-4354-A600-E7CC24B2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0E69E-DE61-431C-8418-77B57236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427436-AE6A-4357-BE7E-5CBA55BD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Padrão e exemplos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9AC1E4-FA81-45E3-80D5-0F5AD9D6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Contrato de harmonização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657D76FA-ED2E-4A21-8824-02A36BF7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core_&lt;entity&gt;_&lt;brand&gt;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core_claims_ageas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core_policies_ageas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core_customers_ageas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core_vehicles_ageas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tabelas core uniformizam nomes, tipos, códigos e prioridade entre fontes segundo definições de negócio aprovadas.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309C8BDC-E516-4D7E-9CB5-F0E1F37F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Definir chaves de negócio canónicas e correspondências entre SAS, CRM, ACAP e outras fontes.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Registar regras de mapeamento, precedência, datas de vigência, rejeições e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Manter rastreáveis versões contraditórias das fontes. Se “customer” ou “vehicle” tiverem sentidos diferentes por domínio, documentar o limite do modelo.</a:t>
            </a:r>
          </a:p>
        </p:txBody>
      </p:sp>
    </p:spTree>
    <p:extLst>
      <p:ext uri="{BB962C8B-B14F-4D97-AF65-F5344CB8AC3E}">
        <p14:creationId xmlns:p14="http://schemas.microsoft.com/office/powerpoint/2010/main" val="1358762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097A7-B3D8-4BDE-96BB-80E9FC6F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F4324-9492-4AB7-9660-03F7F0DE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648f74e564ed6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824655-25F8-4E73-9BEE-BFDA7509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CE93653-69FF-4341-977F-CC14707E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Dimensões e atributos históricos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915B5EC-4699-4E25-A80C-9F12BD71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AC77D-1E4E-42DF-B487-7A7D536A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DA319A-7A51-45F8-9FFC-1AA47252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Regras das dimensões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D615113-AC3C-4657-ADA8-B1EAB1FA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Opções de histórico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AB83E551-C3A8-4A1B-9B6F-3CDE5FC5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dim_&lt;entity&gt;_&lt;brand&gt;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Exemplos: dim_customer_ageas, dim_vehicle_ageas, dim_policy_ageas.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Exemplos comuns às marcas: dim_date, dim_postcode, dim_municipality, dim_district.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Usar chave substituta quando a identidade deva resistir a alterações da chave da fonte ou identificar versões históricas. Manter também a chave de negócio.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49168B96-0ADB-4F5A-B29F-F8594363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Tipo 1: corrigir ou substituir um atributo sem guardar versões anteriores, com aprovação para a perda de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Tipo 2: criar nova linha para alterações relevantes; usar valid_from, valid_to e is_current. Evitar intervalos sobrepostos.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facto aponta para a versão válida na data do evento. Documentar casos desconhecidos e chegadas tardias.</a:t>
            </a:r>
          </a:p>
        </p:txBody>
      </p:sp>
    </p:spTree>
    <p:extLst>
      <p:ext uri="{BB962C8B-B14F-4D97-AF65-F5344CB8AC3E}">
        <p14:creationId xmlns:p14="http://schemas.microsoft.com/office/powerpoint/2010/main" val="1989833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5220A-01ED-4C52-B03B-2BA386D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9A2D9-EA6B-48EF-BFC7-B2E42D14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0a73a5b2b40b0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CF96D3-57F2-43D9-BD2B-1428105F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1D8C139-EDFA-4BD3-B994-8030B840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Factos: granularidade e métricas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CB7F1D-E94B-4A6F-B401-01BF4DB5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95F2E-278D-40EB-984F-4992A71D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EDB20D-3AEC-4C79-AFCB-ECB2855B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Definição obrigatória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E5D77A-15EA-4C64-A291-11C6ED57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Regras das métricas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D985DBC7-6EF0-49C3-9EEF-F0DD0603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fact_&lt;entity&gt;_&lt;brand&gt;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Exemplos: fact_claims_ageas, fact_policies_ageas, fact_premiums_ageas, fact_payments_ageas.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Descrever o significado de uma linha antes de adicionar métricas. Exemplo: uma transação de sinistro por claim_number, transaction_id e posting_date.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Testar a unicidade da chave de negócio resultante.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E28627A3-7C94-450F-8239-ECF125B7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Aditiva: paid_amount pode ser somado por sinistro e período quando a moeda é comparável.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Semiaditiva: closing_reserve_amount soma-se entre sinistros numa data de snapshot, mas não entre datas.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 aditiva: loss_ratio deve ser recalculado como total incurred / total earned premium. Não somar rácios nem tirar médias sem ponderação definida.</a:t>
            </a:r>
          </a:p>
        </p:txBody>
      </p:sp>
    </p:spTree>
    <p:extLst>
      <p:ext uri="{BB962C8B-B14F-4D97-AF65-F5344CB8AC3E}">
        <p14:creationId xmlns:p14="http://schemas.microsoft.com/office/powerpoint/2010/main" val="221742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0BBE5-C123-4E91-9683-E15B8873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FF4F8-EF21-48F8-B4E5-5F6462AF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d86aec148433d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35FE345-CEC4-4821-9DC9-4D0A97A6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A75482-7D22-4985-903C-74AD9C2C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Agregados e reporting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A7514B-CF4B-4423-92B6-078AE65D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8539A-249C-4A18-884C-FF7B73E5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E02BAD-CFE2-4920-9362-B21340B3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Padrão e exemplos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617B38-0F14-46E3-9DE6-C573AE0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Controlos de desenho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B4C2D071-7B38-400D-BF6E-B9382CD3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agg_&lt;entity&gt;_&lt;granularity&gt;_&lt;brand&gt;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agg_claims_month_ageas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agg_claims_year_ageas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agg_portfolio_month_ageas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agg_vehicle_sales_month_ageas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Criar um agregado físico quando uma necessidade medida exige menor latência ou uma lógica certificada de reporting.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090A4740-DC36-40B3-9784-FB950B7A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Registar chaves de agrupamento, população incluída e excluída, fórmulas, atualização e conciliação com o facto.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Representar o mês como DATE no primeiro dia, ou usar chave mensal documentada. Distinguir mês de ocorrência, transação e reporte.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Evitar agregados que duplicam consultas simples sem consumidor ou responsável definidos.</a:t>
            </a:r>
          </a:p>
        </p:txBody>
      </p:sp>
    </p:spTree>
    <p:extLst>
      <p:ext uri="{BB962C8B-B14F-4D97-AF65-F5344CB8AC3E}">
        <p14:creationId xmlns:p14="http://schemas.microsoft.com/office/powerpoint/2010/main" val="775122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7D237-CB2B-43D6-94AB-2E4BF8C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BEBE0-E8C2-4A36-AC60-7CC5CAE0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287cd577a40d8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F4E6F3-8E45-4A35-A490-20C9ACF0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18E1D5-4151-4F26-A0A3-F6A4861C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Snapshots e estados históricos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CEE1BD-4EA0-4461-8E5C-D091A79B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B2895-E722-42E9-AC15-867D9148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C8115C-7CC2-40BF-ACB2-DD540901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Padrão e utilização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D2E07E-3CA2-46A4-A8BF-6A36E9D7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Requisitos de auditoria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8BF0DB31-2171-47BA-87C8-B56E3CDE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snap_&lt;entity&gt;_&lt;brand&gt;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Exemplos: snap_portfolio_ageas, snap_claim_reserves_ageas.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Uma linha representa o estado da entidade num snapshot_date ou as_of_timestamp explícito. Snapshots mensais da carteira permitem contar apólices e saldos em datas passadas.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633EFAA8-6022-494B-9BCA-197A00B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Documentar hora de corte, fuso horário, extração da fonte, dados tardios e possibilidade de reexpressar snapshots anteriores.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 reservas, distinguir valor contabilizado, incorrido e pago, bem como a data de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Reporting regulamentar exige versão fechada, validação, retenção e lineage reproduzível.</a:t>
            </a:r>
          </a:p>
        </p:txBody>
      </p:sp>
    </p:spTree>
    <p:extLst>
      <p:ext uri="{BB962C8B-B14F-4D97-AF65-F5344CB8AC3E}">
        <p14:creationId xmlns:p14="http://schemas.microsoft.com/office/powerpoint/2010/main" val="5208208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AC0E9-D55A-4826-8EE4-286DA88A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B3FC0-A4E0-4158-BFE9-5D8DE87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956f37d3b48a1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39DF1C-278A-4073-9AF2-3FA6093B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E95D3FC-BC58-4A73-8D5D-8FB9475F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Referências e tabelas de trabalho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2AF64E-E386-4540-8FA2-A2D82318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F5C8D-7330-48AF-9249-C4FA2718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A0E147-069A-42AF-AE8C-0D0EDB51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Tabelas de referência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790FC91-78CC-4B8F-BD9C-86F94673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Tabelas de trabalho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59BC6A01-AC2A-47B1-B70A-AC682894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ref_&lt;entity&gt;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Exemplos: ref_fuel_type, ref_claim_status, ref_region, ref_vehicle_segment.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Gerir código, descrição, significado, vigência, estado e responsável. Mapear códigos de várias fontes sem perder o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Tratar master data empresarial separadamente quando exigir resolução de entidades e stewardship.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4DD53795-1709-4E87-884D-7CF55B0E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wrk_&lt;entity&gt;_&lt;process&gt;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Exemplos: wrk_claim_matching, wrk_vehicle_deduplication, wrk_customer_enrichment.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Servem etapas intermédias recuperáveis. Definir owner do job, identificador de execução e prazo de eliminação.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 publicar tabelas wrk como interface estável para BI.</a:t>
            </a:r>
          </a:p>
        </p:txBody>
      </p:sp>
    </p:spTree>
    <p:extLst>
      <p:ext uri="{BB962C8B-B14F-4D97-AF65-F5344CB8AC3E}">
        <p14:creationId xmlns:p14="http://schemas.microsoft.com/office/powerpoint/2010/main" val="20644722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1057E-6793-47AF-8A5F-F9EB003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82670-866B-41E5-9C46-E0875ED6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fe2aea70d41d0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05EACA-0EA4-4C07-93C3-4EBBDA33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A1605F-34AC-4A78-9F61-4E9A6D8E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Tipos de dados: identificadores e datas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B47DE7-30A3-4354-A9F9-D6A58EAF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95D9A-5BC3-4729-853D-9C463417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A0131D-F0E6-414F-A743-B13CF52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Identificadores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FFC2D3-0312-492D-B298-1237B68F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Datas e timestamps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F0930AFE-505A-4DEA-AB5C-D37104CD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Número de apólice, sinistro, cliente, veículo e IDs externos: STRING.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Códigos postais, matrículas e números fiscais: STRING.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STRING conserva zeros à esquerda, caracteres e formatos próprios das fontes. Normalizar para matching em campos derivados sem perder o valor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Chaves substitutas podem ser BIGINT ou STRING, com gerador documentado.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2D0519F7-B7E3-4FB6-80DF-B6CF5B4F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Datas de calendário: DATE. Instantes de eventos e processamento: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Registar o fuso da origem e converter instantes para UTC segundo política. Uma data de negócio local mantém o tipo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Rejeitar datas impossíveis e registar falhas de conversão. Evitar datas analíticas guardadas como texto formatado.</a:t>
            </a:r>
          </a:p>
        </p:txBody>
      </p:sp>
    </p:spTree>
    <p:extLst>
      <p:ext uri="{BB962C8B-B14F-4D97-AF65-F5344CB8AC3E}">
        <p14:creationId xmlns:p14="http://schemas.microsoft.com/office/powerpoint/2010/main" val="12761301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8497A-4520-4A6A-8619-EE00F2E7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D1D85-B420-4567-8E79-AC59CA36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edb3d8e124ee4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84E734D-F07F-4010-861D-1A203142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3BB3E29-18C5-4216-8C56-80A29881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Tipos de dados: valores e rácios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F4047E1-1F6A-4AE3-85DA-EB32A7B1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F82BD-437C-4EBE-B7B6-3174B076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FF59A7-5CE5-48AD-99B1-9705AC5D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Padrão numérico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F02B24-5304-4704-8A51-1EA94893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Exemplos e controlos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5F67F5AC-0E41-4C7D-9E50-56E99AC1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Montantes monetários: DECIMAL(18,2) por defeito. Incluir currency_code se houver várias moedas. Rever a precisão para saldos elevados ou escalas especiais.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Percentagens: DECIMAL(10,4). Documentar a escala: a fração 0.1250 significa 12,50%, salvo se uma métrica certificada guardar pontos percentuais.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0FB8D51E-C4F6-436D-9E02-3ED3EA69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claim_number = "000012345" mantém-se STRING.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postcode = "0100-001" mantém-se STRING.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paid_amount = 1234.56 em DECIMAL(18,2).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loss_ratio = 0.8750 em DECIMAL(10,4).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 usar FLOAT ou DOUBLE para totais monetários reconciliados. Definir arredondamento e conversão cambial em política própria.</a:t>
            </a:r>
          </a:p>
        </p:txBody>
      </p:sp>
    </p:spTree>
    <p:extLst>
      <p:ext uri="{BB962C8B-B14F-4D97-AF65-F5344CB8AC3E}">
        <p14:creationId xmlns:p14="http://schemas.microsoft.com/office/powerpoint/2010/main" val="7919429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8CE73-8191-40FD-9F31-E7197651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0C268-1C09-4FEB-B5D9-D6325676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0b5102fc34ee4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34BFA3E-CAA0-41AC-8C3B-93A75AF6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82F65E-8A28-4064-96C9-04996E45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Colunas técnicas obrigatórias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0B293F4-3F8C-4F7C-9583-4AB1A5AA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E77A6-E3FF-4337-9098-95D89242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9628F1-ED89-4C05-9A47-3A0A92C0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Campos de proveniência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59147F7-8516-4A3C-8664-3CDEF717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Campos de carga e alteração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A72875F4-8F52-4B28-A3F2-0F0C2ED7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source_system STRING: identificador aprovado da origem.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source_file STRING: ficheiro ou objeto de origem, quando aplicável; NULL apenas para exceção documentada de API ou feed direto.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Estes campos permitem identificar a entrega de origem e investigar um registo contestado. Em linhas core ou fact com várias origens, manter lineage das fontes contribuintes.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1E2D76C4-4775-49A4-8461-14BE32D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ingestion_date DATE: data UTC da ingestão.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ingestion_timestamp TIMESTAMP: instante UTC da carga.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record_hash STRING: digest determinístico dos campos de negócio após canonização.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Todas as tabelas analíticas persistentes incluem estas colunas. Excluir do hash os campos voláteis, definir tratamento de NULL e algoritmo e testar a repetibilidade.</a:t>
            </a:r>
          </a:p>
        </p:txBody>
      </p:sp>
    </p:spTree>
    <p:extLst>
      <p:ext uri="{BB962C8B-B14F-4D97-AF65-F5344CB8AC3E}">
        <p14:creationId xmlns:p14="http://schemas.microsoft.com/office/powerpoint/2010/main" val="3348762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81F25-066E-4A0C-8FE9-BEB928A9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3EE45-DFC9-4F72-B5FC-C7E8CB80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f9cbdea6d495e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C1FF90-7242-44A7-AC09-EC441848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DF5531-14EE-48BE-BB96-B63C5C47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Controlo de qualidade de dados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5B29452-6FBB-497A-BA0A-ADC0BD50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7A9D1-33C7-4AC4-9189-7221B148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B68724-3EA2-407B-ADA7-BCE0FD41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Validações mínimas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8825D0-2C11-42A9-9CA6-8C334AF3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Resposta operacional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4734C123-8EDF-4AF9-A8FC-F47987FF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Testes de NULL e completude nos campos obrigatórios.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Unicidade das chaves da granularidade e duplicados.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Integridade referencial e valores permitidos.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Datas válidas e sequência cronológica.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Intervalos, sinais e conciliação de valores numéricos.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Executar à entrada e antes de certificar uma tabela para consumo.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33AF4C34-8651-49CE-A61B-22E7052C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Definir limites por criticidade. Bloquear publicação se uma chave essencial ou conciliação falhar. Isolar registos suspeitos com execução e origem.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Publicar contagens, categorias de erro, evidências e evolução por carga. Atribuir triagem ao steward.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Uma primary key declarada em Unity Catalog não substitui o teste de unicidade: PK/FK são informativas.</a:t>
            </a:r>
          </a:p>
        </p:txBody>
      </p:sp>
    </p:spTree>
    <p:extLst>
      <p:ext uri="{BB962C8B-B14F-4D97-AF65-F5344CB8AC3E}">
        <p14:creationId xmlns:p14="http://schemas.microsoft.com/office/powerpoint/2010/main" val="17591053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CABF9-2500-4599-8D18-A7426F18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9D853-79F8-4539-99C0-F2F711A0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daa8593254454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97E20A4-70F9-417A-AC1C-8B647DB6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B0BB41-549E-4976-A27B-01F25BF4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Exemplos de testes de qualidade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4399DF1-E508-4175-ADED-7EDF6645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B34C8-65EE-4FB4-A193-C28E9D8A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B20DB2-33B1-40AD-AE11-64584E8F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Granularidade e integridade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3FE03C5-5479-4040-AC77-6D2FC7D4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Intervalos e conciliação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4F699C60-7B1E-4115-AE4F-7465B10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 claim_number, transaction_id, COUNT(*) AS n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FROM fact_claims_ageas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GROUP BY claim_number, transaction_id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HAVING COUNT(*) &gt; 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Confirmar que a chave de cliente no facto encontra exatamente uma versão da dimensão válida na data do evento.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3E6E6613-37E4-48E4-92FF-C21056DD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Rejeitar payment_date anterior ao limite aprovado da fonte ou posterior ao horizonte futuro admitido.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Comparar sum(paid_amount) e número de linhas com totais controlados da fonte por ficheiro ou execução, segundo tolerância aprovada.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Proteger os detalhes das falhas sem expor dados pessoais em painéis de monitorização.</a:t>
            </a:r>
          </a:p>
        </p:txBody>
      </p:sp>
    </p:spTree>
    <p:extLst>
      <p:ext uri="{BB962C8B-B14F-4D97-AF65-F5344CB8AC3E}">
        <p14:creationId xmlns:p14="http://schemas.microsoft.com/office/powerpoint/2010/main" val="5406842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87B43-E257-4F37-A284-4E12F03C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06AB4-C68E-4107-8D32-CEBAD4E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5d8d7819b4814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4FCE5C-FF30-4A7A-BF6E-173D0523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1F4833-8D7B-4046-8504-3EBCC83E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Delta Lake e criação de tabelas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AC9013-988C-4A5F-9158-C0B7D8F4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3FD47-F5DC-4283-8CB5-0B293CC7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844932F-FC92-44F7-B17B-0D78A719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Regra da plataforma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094D1B5-FB5B-42ED-941C-F16CE1C7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Exemplo técnico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A963E630-72D9-4B46-B35D-259DBDF9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Criar tabelas persistentes USING DELTA no namespace aprovado de Unity Catalog. Preferir tabelas geridas, salvo requisito autorizado de armazenamento ou interoperabilidade.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transações Delta garantem escritas atómicas e leituras consistentes. O histórico e os ficheiros retidos permitem time travel dentro da janela configurada.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6150DC0E-835B-4388-B667-D0C0C96D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 TABLE &lt;catalog&gt;.&lt;schema&gt;.fact_claims_ageas (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claim_number STRING COMMENT 'Identificador da fonte',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posting_date DATE,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paid_amount DECIMAL(18,2),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source_system STRING, source_file STRING,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ingestion_date DATE, ingestion_timestamp TIMESTAMP,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record_hash STRING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) USING DELTA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COMMENT 'Transações de sinistros com granularidade definida';</a:t>
            </a:r>
          </a:p>
        </p:txBody>
      </p:sp>
    </p:spTree>
    <p:extLst>
      <p:ext uri="{BB962C8B-B14F-4D97-AF65-F5344CB8AC3E}">
        <p14:creationId xmlns:p14="http://schemas.microsoft.com/office/powerpoint/2010/main" val="1266319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6E7B1-A4EF-49E1-9A91-F20C1756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1349D-8F95-45C7-8CD7-935208BE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915fadf8044f8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04CD270-80A0-48AF-976C-E152C61F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305A17A-7593-40F2-A8D1-20DF3182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Evolução e otimização Delta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898C89-2357-4E3B-B86B-E4F2B90B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71A7C-EB7A-4AD2-85D0-F55E723D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AE3CAC-F8F6-4FFE-9AC5-3D68B022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Schema e histórico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B8BE95-436F-4465-8BC8-AA7AE561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Padrão atual de otimização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E5AD04CE-B7EC-45A6-ABBD-ACA8E119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Rever alterações aditivas ao schema. Tratar renomeações, remoções e alterações de tipo como mudanças de contrato que exigem análise de impacto nos consumidores.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time travel está limitado pela retenção do log e dos ficheiros eliminados. VACUUM pode tornar versões antigas indisponíveis. Alinhar retenção com recuperação e regras legais.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15E7AB55-EBCD-45BA-BEC1-904BB92B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 tabelas geridas do Unity Catalog, usar predictive optimization quando disponível para OPTIMIZE, VACUUM e ANALYZE. Avaliar liquid clustering para tabelas grandes e filtros frequentes.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 impor optimizeWrite ou autoCompact globalmente. Quando necessários, testar e documentar `delta.autoOptimize.optimizeWrite` e `delta.autoOptimize.autoCompact` como exceções.</a:t>
            </a:r>
          </a:p>
        </p:txBody>
      </p:sp>
    </p:spTree>
    <p:extLst>
      <p:ext uri="{BB962C8B-B14F-4D97-AF65-F5344CB8AC3E}">
        <p14:creationId xmlns:p14="http://schemas.microsoft.com/office/powerpoint/2010/main" val="8032344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14B01-9DE5-4BAB-86F1-FF08C8CE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6B493-560B-40F7-97A1-BB8B1DA2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c862228c24359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061C1F-B61A-47B4-80D5-98D29A5F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15967C4-4EE2-40AA-A775-858C9A9C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Requisitos de documentação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64CCD2-6733-4304-85CA-B4585DAB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A6F80-CC92-4928-AB02-998712FB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AB72BB-F9F5-434C-A966-394CF899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Metadados obrigatórios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36C38E2-79CA-4C03-8621-41ACAAB3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Exemplo e manutenção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A1B5F8FB-BD7E-456E-95E9-8EDBF706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tabela publicada tem objetivo, granularidade, fontes, responsável de negócio, responsável técnico, frequência de atualização, classificação de sensibilidade e SLA aplicável.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coluna de negócio tem definição, tipo, unidade, valores permitidos ou referência, significado de NULL e fórmula de cálculo.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B52E9B4C-085E-481A-A0AC-998DCD6B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Tabela fact_claims_ageas: “Uma linha por transação de pagamento de sinistro à data de contabilização; reversões segundo regra certificada.”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paid_amount: “Montante com sinal na moeda da transação, duas casas decimais.”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Usar comentários SQL no Unity Catalog e ligar a um glossário para regras longas. Rever metadados após alterações relevantes.</a:t>
            </a:r>
          </a:p>
        </p:txBody>
      </p:sp>
    </p:spTree>
    <p:extLst>
      <p:ext uri="{BB962C8B-B14F-4D97-AF65-F5344CB8AC3E}">
        <p14:creationId xmlns:p14="http://schemas.microsoft.com/office/powerpoint/2010/main" val="5535466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FAD22-9549-458A-A931-AB9B8C36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987E9-69D2-4842-96A2-C5F1AAEB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9c415824a4c96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4403B7-AB5E-4729-A538-2FCE3701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1C659AD-0893-472D-92DD-CF12ECB8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Governance e acessos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F23F2F0-372F-40F7-BB23-5AD56FF3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90297-5CBD-4A20-A447-E3032A8F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78E571-F430-4B8C-9CFB-4F302FB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Responsabilidades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8327156-16D3-4BEB-A063-24AB0C77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Controlos em Unity Catalog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9E216770-CFB9-4B3D-A592-49FDCD73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responsável de negócio aprova significado, uso e limites de qualidade. O responsável técnico assegura pipeline, schema, recuperação e desempenho. O data steward resolve definições e incidentes de qualidade.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Registar pessoas ou grupos responsáveis num inventário. Transferir ownership pelo processo formal de alteração.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EC4B57A5-F951-4408-9F1B-83D2DF7A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Atribuir privilégios a grupos segundo menor privilégio. Classificar colunas sensíveis e aplicar os controlos de linhas ou colunas aprovados.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Rever lineage, código de transformação, execuções e registos de acesso para auditoria.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Aplicar retenção, privacidade e normas do setor segurador segundo as políticas legais e de segurança internas.</a:t>
            </a:r>
          </a:p>
        </p:txBody>
      </p:sp>
    </p:spTree>
    <p:extLst>
      <p:ext uri="{BB962C8B-B14F-4D97-AF65-F5344CB8AC3E}">
        <p14:creationId xmlns:p14="http://schemas.microsoft.com/office/powerpoint/2010/main" val="11776825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A1043-F046-40F0-A315-CE1537DB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DE3A2-4191-43FF-9ADF-85985D5E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c797d0ac74c5d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266F79A-D7E0-4EBA-B642-F99F8D2F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EEB03C-8923-481A-9C47-074E4A62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Percurso de vendas ACAP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E471FB-7CB3-42FA-92A3-580D931C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1FF5C-2DE3-4C9A-BFEE-F0087FD6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7D5EFD8-B97E-4032-B344-C4C1835C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Origem e harmonização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D930EA-4D37-45A1-B70E-C1E5FCF0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Saída analítica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D5427344-7456-4923-9A98-11FB1FC5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raw_vehicle_sales_acap_ageas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Ingerir a entrega ACAP tal como recebida, com ficheiro, identificador original do veículo, período e evidência de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core_vehicle_sales_ageas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Normalizar datas de matrícula, códigos de marca e definições de veículo. Aplicar deduplicação e prioridade aprovadas. Manter correspondência com as linhas raw.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4A762D63-55F5-4E5B-ADC3-A9EDE36B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fact_vehicle_sales_ageas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Definir uma linha por evento de venda da fonte ou chave de venda certificada. Juntar sale_date, chaves de dimensão e medidas de quantidade ou valor.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agg_vehicle_sales_month_ageas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Agrupar por mês de venda e dimensões aprovadas. Conciliar quantidades e montantes com o facto e documentar correções tardias.</a:t>
            </a:r>
          </a:p>
        </p:txBody>
      </p:sp>
    </p:spTree>
    <p:extLst>
      <p:ext uri="{BB962C8B-B14F-4D97-AF65-F5344CB8AC3E}">
        <p14:creationId xmlns:p14="http://schemas.microsoft.com/office/powerpoint/2010/main" val="19553119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137FA-97BF-4567-88BE-859774D2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7B1E6-3768-4B50-8BD6-9F3F2CAB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77355092b44f9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C5D120A-2CD7-4871-B3A4-EE0D175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628EBE-CFE1-4F4A-A814-1144DB3E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Percurso de sinistros SAS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DD0B6F7-0267-4498-98F9-E8721DA1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1F6DC-6790-46F5-84E9-041C48B9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AA2F217-8F49-4930-9E35-3E0E16E8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Origem e harmonização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C7200B-F88F-444F-BF8E-E477553F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Saída analítica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154C66F6-A08B-4137-A2E9-7DF3545C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raw_claims_sas_ageas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Captar extrações de sinistros e transações com chaves da fonte, estados e proveniência do ficheiro ou execução.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core_claims_ageas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Uniformizar número de sinistro, cobertura, datas e significado dos estados. Resolver identificadores entre sistemas e manter as afirmações de origem.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D903DD88-47BF-4083-B82E-F2AAA115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fact_claims_ageas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Escolher explicitamente granularidade de transação, evento ou posição periódica. Separar pagamentos de reservas quando tiverem semânticas temporais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agg_claims_month_ageas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Definir mês de reporte e métricas como número de sinistros, valor pago e reserva de fecho. Recalcular rácios a partir dos componentes e conciliar com os factos.</a:t>
            </a:r>
          </a:p>
        </p:txBody>
      </p:sp>
    </p:spTree>
    <p:extLst>
      <p:ext uri="{BB962C8B-B14F-4D97-AF65-F5344CB8AC3E}">
        <p14:creationId xmlns:p14="http://schemas.microsoft.com/office/powerpoint/2010/main" val="2978627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35638-D812-4D47-96F2-FEC6053B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1735D-E32A-49D6-B6A1-B95C918A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09b6599ec4e4b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4E0AE7-4921-4B62-98D7-13FCAF18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84C368-3F3D-42EB-8647-73C82F9B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Chaves e nomes das colunas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BE4642-38F2-40B7-B7CD-9E3BBBF1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B57E8-DE85-40A8-B95B-4BCF918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2C53BD-06F2-4E99-BE07-2E27B2D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Padrões de chaves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D5EE6FE-5A0D-43F3-8D58-C5317F38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Sintaxe de colunas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9070E2E7-3F65-4A40-9E97-EFFB8ED7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chaves de negócio identificam entidades no contexto da fonte ou do domínio: claim_number com source_system quando necessário.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chaves substitutas isolam dimensões de alterações da fonte: customer_sk, vehicle_sk.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Declarar PK/FK quando útil e suportado, mas testar unicidade e integridade referencial nos pipelines.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9583142A-58A6-4A2F-8EFD-C9C682D5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Usar snake_case em minúsculas e nomes de negócio em inglês: claim_number, event_date, paid_amount, currency_code.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Usar *_date para DATE, *_timestamp para TIMESTAMP, *_amount para valores, *_code para códigos e *_sk para chaves substitutas.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Evitar nomes genéricos como value, date, status ou id sem contexto.</a:t>
            </a:r>
          </a:p>
        </p:txBody>
      </p:sp>
    </p:spTree>
    <p:extLst>
      <p:ext uri="{BB962C8B-B14F-4D97-AF65-F5344CB8AC3E}">
        <p14:creationId xmlns:p14="http://schemas.microsoft.com/office/powerpoint/2010/main" val="19661808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96EAA-3A89-4227-9FED-4BB961FE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E288B-9C56-4E6F-A277-482C1C42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6421fee7a4da3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59687A2-CD95-4391-BB4F-F127994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12FC23-495E-45FD-921C-289AE0F8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Desenho físico e ciclo de vida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F8DFA8-4769-4E0F-8B51-CB4976E0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83A9A-FED8-48F9-92E7-06F57D7B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E41067-C7EE-42A9-A283-D68E25A7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Decisões de desempenho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18B7CDB-3106-4A22-BCD3-60FF47BC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Retenção e arquivo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CCD57123-4800-4E78-B6D2-B48DE5FA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Começar sem particionamento manual nas novas tabelas geridas. Usar predictive optimization e avaliar liquid clustering em tabelas grandes com filtros frequentes.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 o particionamento for justificado, escolher colunas de baixa cardinalidade com benefício demonstrado e evitar ficheiros pequenos. Medir tempo, custo e escrita antes e depois.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Materializar agregados apenas para consumidores identificados.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CC55C0B1-D852-4913-8C73-A42FF40D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Definir retenção por camada raw, wrk, core, analítica e snapshots regulatórios. Alinhar VACUUM e retenção de logs com recuperação.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Arquivar com responsável, acesso, teste de recuperação e evidência de eliminação. Preservar resultados regulatórios imutáveis quando exigido.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Descontinuar tabelas após revisão de dependências e aviso aos consumidores.</a:t>
            </a:r>
          </a:p>
        </p:txBody>
      </p:sp>
    </p:spTree>
    <p:extLst>
      <p:ext uri="{BB962C8B-B14F-4D97-AF65-F5344CB8AC3E}">
        <p14:creationId xmlns:p14="http://schemas.microsoft.com/office/powerpoint/2010/main" val="2142322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2C1CB-23AB-44A4-B1D4-C2177BEC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B4036-8397-4BF4-BFB5-121B7787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f9c8b8d894715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BB92397-EDB0-43AE-9827-1A546FA9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37684E5-2A6B-46B1-94EB-A9C9FAD7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Aprovação e exceções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1195A4-966B-41CB-8E85-2713BABF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E4F2E-D474-4708-A6D3-DC33099E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6F67BE-AC50-4E6D-B78A-7F47E1D6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Antes de publicar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B4CDCF-8A4D-434C-9F5B-260CBE76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Registo de exceções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36D8BCFE-B88F-4101-AF2B-8683B780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Confirmar nome, classe, finalidade e granularidade.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Validar tipos, colunas técnicas e fórmulas documentadas.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Executar testes de unicidade, NULL, domínio e conciliação.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Adicionar descrições, responsáveis, classificação, lineage e atualização.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Rever grupos de acesso, retenção e desempenho.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06A2AD31-BED3-41F7-9038-F01F64DF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exceção inclui cláusula, tabelas afetadas, motivo, impacto, controlos alternativos, responsável, aprovador e validade.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Rever centralmente novas siglas de fonte ou marca.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Versionar esta norma. Uma mudança num contrato publicado exige análise de consumidores, plano de migração e data de efeito.</a:t>
            </a:r>
          </a:p>
        </p:txBody>
      </p:sp>
    </p:spTree>
    <p:extLst>
      <p:ext uri="{BB962C8B-B14F-4D97-AF65-F5344CB8AC3E}">
        <p14:creationId xmlns:p14="http://schemas.microsoft.com/office/powerpoint/2010/main" val="1385085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3A9C0-08B3-4AC4-9327-8A864F18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439E5-8FE8-4E43-83CE-48E5A045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67e04df6c4bb5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9B0B80E-F6F0-4481-B629-37C02A65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303ACD-F1CC-44E6-905F-3C56C070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Resumo dos padrões de nomes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11EDEF-144E-49D5-8234-4DE399D6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3B396-0FFE-417F-8D13-3B50BCD2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895F40-1918-4698-9177-4BDB82E2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Ingestão e integração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EBC68B-A335-4C3E-97FD-53166C0F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E56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5623"/>
                </a:solidFill>
                <a:latin typeface="Arial"/>
                <a:ea typeface="Arial"/>
                <a:cs typeface="Arial"/>
              </a:rPr>
              <a:t>Produtos analíticos</a:t>
            </a:r>
          </a:p>
        </p:txBody>
      </p:sp>
      <p:sp>
        <p:nvSpPr>
          <p:cNvPr id="10" name="left_body">
            <a:extLst xmlns:a="http://schemas.openxmlformats.org/drawingml/2006/main">
              <a:ext uri="{FF2B5EF4-FFF2-40B4-BE49-F238E27FC236}">
                <a16:creationId xmlns:a16="http://schemas.microsoft.com/office/drawing/2014/main" id="{784337A9-3C82-4DD3-8996-7F2BB0FA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raw_&lt;entity&gt;_&lt;source&gt;_&lt;brand&gt;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raw_vehicle_sales_acap_ageas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core_&lt;entity&gt;_&lt;brand&gt;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core_claims_ageas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ref_&lt;entity&gt;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ref_claim_status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wrk_&lt;entity&gt;_&lt;process&gt;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wrk_claim_matching</a:t>
            </a:r>
          </a:p>
        </p:txBody>
      </p:sp>
      <p:sp>
        <p:nvSpPr>
          <p:cNvPr id="11" name="right_body">
            <a:extLst xmlns:a="http://schemas.openxmlformats.org/drawingml/2006/main">
              <a:ext uri="{FF2B5EF4-FFF2-40B4-BE49-F238E27FC236}">
                <a16:creationId xmlns:a16="http://schemas.microsoft.com/office/drawing/2014/main" id="{96DE2145-9149-45A4-94F4-B1E9A6EE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9530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dim_&lt;entity&gt;_&lt;brand&gt;  dim_customer_ageas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Comum: dim_date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fact_&lt;entity&gt;_&lt;brand&gt;  fact_claims_ageas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agg_&lt;entity&gt;_&lt;granularity&gt;_&lt;brand&gt;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agg_claims_month_ageas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snap_&lt;entity&gt;_&lt;brand&gt;  snap_portfolio_ageas</a:t>
            </a:r>
          </a:p>
        </p:txBody>
      </p:sp>
    </p:spTree>
    <p:extLst>
      <p:ext uri="{BB962C8B-B14F-4D97-AF65-F5344CB8AC3E}">
        <p14:creationId xmlns:p14="http://schemas.microsoft.com/office/powerpoint/2010/main" val="14201051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9F27A-4F24-46EE-8546-6846207F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B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29ABD-3C74-41D3-8C00-88A17D97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773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994b427964294"/>
          <a:stretch xmlns:a="http://schemas.openxmlformats.org/drawingml/2006/main"/>
        </p:blipFill>
        <p:spPr>
          <a:xfrm xmlns:a="http://schemas.openxmlformats.org/drawingml/2006/main">
            <a:off x="10821252" y="6248400"/>
            <a:ext cx="779347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77D345-555F-4C8E-BB02-F77C9020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36B627-B7A0-45B9-B2AE-158587F3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Referências técnicas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E034F8-5EE6-4968-A23F-636623DE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ANEXO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3ED5A-2A49-4B5B-B2C5-B292E7B7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D7B918-94D7-4202-84DD-EA7BF325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07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30773"/>
                </a:solidFill>
                <a:latin typeface="Arial"/>
                <a:ea typeface="Arial"/>
                <a:cs typeface="Arial"/>
              </a:rPr>
              <a:t>Documentação Databricks consultada para validar as recomendações da plataforma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9C6D26B-0EF0-45CF-884F-181A594A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Delta Lake best practices: https://docs.databricks.com/aws/en/delta/best-practices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Managed tables: https://docs.databricks.com/aws/en/tables/managed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Predictive optimization: https://docs.databricks.com/aws/en/optimizations/predictive-optimization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Table constraints: https://docs.databricks.com/aws/en/tables/constraints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Lineage: https://docs.databricks.com/aws/en/data-governance/unity-catalog/data-lineage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Table and column comments: https://docs.databricks.com/aws/en/comments/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VACUUM: https://docs.databricks.com/aws/en/delta/vacuum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Partitioning: https://docs.databricks.com/aws/en/tables/partitions</a:t>
            </a:r>
          </a:p>
        </p:txBody>
      </p:sp>
    </p:spTree>
    <p:extLst>
      <p:ext uri="{BB962C8B-B14F-4D97-AF65-F5344CB8AC3E}">
        <p14:creationId xmlns:p14="http://schemas.microsoft.com/office/powerpoint/2010/main" val="205130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2026-09-23T10:34:46.6220000Z</dcterms:created>
  <dcterms:modified xsi:type="dcterms:W3CDTF">2026-09-23T10:34:46.6220000Z</dcterms:modified>
</coreProperties>
</file>