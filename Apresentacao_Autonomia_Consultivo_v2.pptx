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triz" id="{838e9fd9-f120-2b95-f7a5-f39c615e14f4}">
          <p14:sldIdLst>
            <p14:sldId id="256"/>
          </p14:sldIdLst>
        </p14:section>
        <p14:section name="Modelo" id="{7f45fa13-11de-40a4-2962-2a6e90f86018}">
          <p14:sldIdLst>
            <p14:sldId id="257"/>
          </p14:sldIdLst>
        </p14:section>
        <p14:section name="Conclusões" id="{7e5d030e-740e-37dd-8c79-fc2b6655bda8}">
          <p14:sldIdLst>
            <p14:sldId id="258"/>
            <p14:sldId id="259"/>
          </p14:sldIdLst>
        </p14:section>
        <p14:section name="Fecho" id="{48010803-846d-8386-be02-dd63d049dfce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Apólices com desconto</c:v>
                </c:pt>
              </c:strCache>
            </c:strRef>
          </c:tx>
          <c:spPr>
            <a:solidFill>
              <a:srgbClr val="8FA4C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B2C6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FA4C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5FD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Atual</c:v>
                  </c:pt>
                  <c:pt idx="1">
                    <c:v>Proposto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94.9</c:v>
                </c:pt>
                <c:pt idx="1">
                  <c:v>99.7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0B2C6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Desconto médio</c:v>
                </c:pt>
              </c:strCache>
            </c:strRef>
          </c:tx>
          <c:spPr>
            <a:solidFill>
              <a:srgbClr val="8FA4C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B2C6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FA4C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5FD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Atual</c:v>
                  </c:pt>
                  <c:pt idx="1">
                    <c:v>Proposto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11.1</c:v>
                </c:pt>
                <c:pt idx="1">
                  <c:v>8.3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0B2C6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737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737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ao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AUTONOMIA COMERCIAL | MATRIZ DE MUDANÇA DOS AGENTES</a:t>
            </a:r>
            <a:endParaRPr lang="en-US" sz="1100" dirty="0"/>
          </a:p>
        </p:txBody>
      </p:sp>
      <p:sp>
        <p:nvSpPr>
          <p:cNvPr id="3" name="Titulo"/>
          <p:cNvSpPr txBox="1"/>
          <p:nvPr/>
        </p:nvSpPr>
        <p:spPr>
          <a:xfrm>
            <a:off x="457200" y="5303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Matriz de mudança: distribuição dos agentes por nível de desconto e por segmento</a:t>
            </a:r>
            <a:endParaRPr lang="en-US" sz="2400" dirty="0"/>
          </a:p>
        </p:txBody>
      </p:sp>
      <p:graphicFrame>
        <p:nvGraphicFramePr>
          <p:cNvPr id="2" name="Matriz de mudanc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  <a:gridCol w="1325880"/>
                <a:gridCol w="1325880"/>
                <a:gridCol w="1325880"/>
                <a:gridCol w="132588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Nível de desconto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Tier 1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Tier 2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Tier 3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Tier 4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Not Segmented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0,0%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</a:rPr>
                        <a:t>31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5,0%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</a:rPr>
                        <a:t>16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F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7,5%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9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</a:rPr>
                        <a:t>18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</a:rPr>
                        <a:t>17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AF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10,0%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D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</a:rPr>
                        <a:t>34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</a:rPr>
                        <a:t>52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C3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</a:rPr>
                        <a:t>102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C3E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12,5%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B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</a:rPr>
                        <a:t>21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</a:rPr>
                        <a:t>24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</a:rPr>
                        <a:t>23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8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15,0%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BE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</a:rPr>
                        <a:t>32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B9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98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A1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158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64D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241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4D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15,0%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2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17,5%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22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72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64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8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107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99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</a:rPr>
                        <a:t>23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</a:rPr>
                        <a:t>106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C2E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Total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42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138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296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273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537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Nota"/>
          <p:cNvSpPr txBox="1"/>
          <p:nvPr/>
        </p:nvSpPr>
        <p:spPr>
          <a:xfrm>
            <a:off x="457200" y="40233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Cor: peso de cada nível no total da coluna (mais escuro = maior concentração). Nota 1. O âmbito da iniciativa está limitado ao negócio de retalho. Ficam excluídos os negócios cujo valor global seja superior a 15.000€.</a:t>
            </a:r>
            <a:endParaRPr lang="en-US" sz="1000" dirty="0"/>
          </a:p>
        </p:txBody>
      </p:sp>
      <p:sp>
        <p:nvSpPr>
          <p:cNvPr id="6" name="Caixa mensagem"/>
          <p:cNvSpPr/>
          <p:nvPr/>
        </p:nvSpPr>
        <p:spPr>
          <a:xfrm>
            <a:off x="457200" y="4370832"/>
            <a:ext cx="8229600" cy="457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>
                <a:alpha val="0"/>
              </a:schemeClr>
            </a:solidFill>
            <a:prstDash val="solid"/>
          </a:ln>
        </p:spPr>
      </p:sp>
      <p:sp>
        <p:nvSpPr>
          <p:cNvPr id="7" name="Texto mensagem"/>
          <p:cNvSpPr txBox="1"/>
          <p:nvPr/>
        </p:nvSpPr>
        <p:spPr>
          <a:xfrm>
            <a:off x="640080" y="437083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Leitura 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Os níveis de 15,0% e 17,5% concentram 877 dos 1.286 agentes (68%), a maioria em cada um dos segmentos.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737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ao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AUTONOMIA COMERCIAL | MODELO ATUAL VS MODELO PROPOSTO</a:t>
            </a:r>
            <a:endParaRPr lang="en-US" sz="1100" dirty="0"/>
          </a:p>
        </p:txBody>
      </p:sp>
      <p:sp>
        <p:nvSpPr>
          <p:cNvPr id="3" name="Titulo"/>
          <p:cNvSpPr txBox="1"/>
          <p:nvPr/>
        </p:nvSpPr>
        <p:spPr>
          <a:xfrm>
            <a:off x="457200" y="5303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A proposta altera a filosofia de atribuição de autonomia comercial: de desempenho para distribuição</a:t>
            </a:r>
            <a:endParaRPr lang="en-US" sz="2400" dirty="0"/>
          </a:p>
        </p:txBody>
      </p:sp>
      <p:graphicFrame>
        <p:nvGraphicFramePr>
          <p:cNvPr id="3" name="Tabela comparativ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Dimensão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Modelo atual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Modelo proposto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Base da autonomia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Desconto diretamente associado ao desempenho do agente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Maior utilização de jokers como mecanismo de atribuição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Diferenciação entre tiers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Clara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Menor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Distribuição na rede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Melhores agentes com maior autonomia comercial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Autonomia mais distribuída pela rede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Performance e desconto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Forte relação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Ligação reduzida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Acesso aos descontos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Atribuição mais seletiva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Acesso mais alargado aos níveis de desconto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Caixa mensagem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>
                <a:alpha val="0"/>
              </a:schemeClr>
            </a:solidFill>
            <a:prstDash val="solid"/>
          </a:ln>
        </p:spPr>
      </p:sp>
      <p:sp>
        <p:nvSpPr>
          <p:cNvPr id="6" name="Texto mensagem"/>
          <p:cNvSpPr txBox="1"/>
          <p:nvPr/>
        </p:nvSpPr>
        <p:spPr>
          <a:xfrm>
            <a:off x="640080" y="4297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Mensagem-chave 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 proposta evolui de um modelo baseado na diferenciação por desempenho para um modelo de maior uniformização e distribuição da autonomia comercial pela rede.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737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ao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CONCLUSÃO #1</a:t>
            </a:r>
            <a:endParaRPr lang="en-US" sz="1100" dirty="0"/>
          </a:p>
        </p:txBody>
      </p:sp>
      <p:sp>
        <p:nvSpPr>
          <p:cNvPr id="3" name="Titulo"/>
          <p:cNvSpPr txBox="1"/>
          <p:nvPr/>
        </p:nvSpPr>
        <p:spPr>
          <a:xfrm>
            <a:off x="457200" y="5303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Estamos a uniformizar a abordagem e a reduzir a diferenciação entre agentes</a:t>
            </a:r>
            <a:endParaRPr lang="en-US" sz="2400" dirty="0"/>
          </a:p>
        </p:txBody>
      </p:sp>
      <p:sp>
        <p:nvSpPr>
          <p:cNvPr id="4" name="Cabecalho O que observámos"/>
          <p:cNvSpPr txBox="1"/>
          <p:nvPr/>
        </p:nvSpPr>
        <p:spPr>
          <a:xfrm>
            <a:off x="457200" y="13716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 que observámos</a:t>
            </a:r>
            <a:endParaRPr lang="en-US" sz="1400" dirty="0"/>
          </a:p>
        </p:txBody>
      </p:sp>
      <p:sp>
        <p:nvSpPr>
          <p:cNvPr id="5" name="Numero 1"/>
          <p:cNvSpPr/>
          <p:nvPr/>
        </p:nvSpPr>
        <p:spPr>
          <a:xfrm>
            <a:off x="457200" y="1801368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6" name="Numero 1 texto"/>
          <p:cNvSpPr txBox="1"/>
          <p:nvPr/>
        </p:nvSpPr>
        <p:spPr>
          <a:xfrm>
            <a:off x="457200" y="1801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Observacao 1"/>
          <p:cNvSpPr txBox="1"/>
          <p:nvPr/>
        </p:nvSpPr>
        <p:spPr>
          <a:xfrm>
            <a:off x="868680" y="173736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proposta reduz as diferenças de autonomia entre tiers</a:t>
            </a:r>
            <a:endParaRPr lang="en-US" sz="1300" dirty="0"/>
          </a:p>
        </p:txBody>
      </p:sp>
      <p:sp>
        <p:nvSpPr>
          <p:cNvPr id="8" name="Numero 2"/>
          <p:cNvSpPr/>
          <p:nvPr/>
        </p:nvSpPr>
        <p:spPr>
          <a:xfrm>
            <a:off x="457200" y="2304288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9" name="Numero 2 texto"/>
          <p:cNvSpPr txBox="1"/>
          <p:nvPr/>
        </p:nvSpPr>
        <p:spPr>
          <a:xfrm>
            <a:off x="457200" y="2304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Observacao 2"/>
          <p:cNvSpPr txBox="1"/>
          <p:nvPr/>
        </p:nvSpPr>
        <p:spPr>
          <a:xfrm>
            <a:off x="868680" y="224028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Os melhores agentes deixam de beneficiar de uma vantagem tão distintiva</a:t>
            </a:r>
            <a:endParaRPr lang="en-US" sz="1300" dirty="0"/>
          </a:p>
        </p:txBody>
      </p:sp>
      <p:sp>
        <p:nvSpPr>
          <p:cNvPr id="11" name="Numero 3"/>
          <p:cNvSpPr/>
          <p:nvPr/>
        </p:nvSpPr>
        <p:spPr>
          <a:xfrm>
            <a:off x="457200" y="2807208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12" name="Numero 3 texto"/>
          <p:cNvSpPr txBox="1"/>
          <p:nvPr/>
        </p:nvSpPr>
        <p:spPr>
          <a:xfrm>
            <a:off x="457200" y="2807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Observacao 3"/>
          <p:cNvSpPr txBox="1"/>
          <p:nvPr/>
        </p:nvSpPr>
        <p:spPr>
          <a:xfrm>
            <a:off x="868680" y="274320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Parte da autonomia é redistribuída para agentes com desempenho inferior</a:t>
            </a:r>
            <a:endParaRPr lang="en-US" sz="1300" dirty="0"/>
          </a:p>
        </p:txBody>
      </p:sp>
      <p:sp>
        <p:nvSpPr>
          <p:cNvPr id="14" name="Numero 4"/>
          <p:cNvSpPr/>
          <p:nvPr/>
        </p:nvSpPr>
        <p:spPr>
          <a:xfrm>
            <a:off x="457200" y="3310128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15" name="Numero 4 texto"/>
          <p:cNvSpPr txBox="1"/>
          <p:nvPr/>
        </p:nvSpPr>
        <p:spPr>
          <a:xfrm>
            <a:off x="457200" y="3310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Observacao 4"/>
          <p:cNvSpPr txBox="1"/>
          <p:nvPr/>
        </p:nvSpPr>
        <p:spPr>
          <a:xfrm>
            <a:off x="868680" y="324612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 acesso ao desconto torna-se mais homogéneo ao longo da rede</a:t>
            </a:r>
            <a:endParaRPr lang="en-US" sz="1300" dirty="0"/>
          </a:p>
        </p:txBody>
      </p:sp>
      <p:sp>
        <p:nvSpPr>
          <p:cNvPr id="17" name="Numero 5"/>
          <p:cNvSpPr/>
          <p:nvPr/>
        </p:nvSpPr>
        <p:spPr>
          <a:xfrm>
            <a:off x="457200" y="3813048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18" name="Numero 5 texto"/>
          <p:cNvSpPr txBox="1"/>
          <p:nvPr/>
        </p:nvSpPr>
        <p:spPr>
          <a:xfrm>
            <a:off x="457200" y="3813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19" name="Observacao 5"/>
          <p:cNvSpPr txBox="1"/>
          <p:nvPr/>
        </p:nvSpPr>
        <p:spPr>
          <a:xfrm>
            <a:off x="868680" y="374904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ligação entre performance e autonomia comercial fica enfraquecida</a:t>
            </a:r>
            <a:endParaRPr lang="en-US" sz="1300" dirty="0"/>
          </a:p>
        </p:txBody>
      </p:sp>
      <p:sp>
        <p:nvSpPr>
          <p:cNvPr id="20" name="Cabecalho Implicações"/>
          <p:cNvSpPr txBox="1"/>
          <p:nvPr/>
        </p:nvSpPr>
        <p:spPr>
          <a:xfrm>
            <a:off x="4937760" y="13716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Implicações</a:t>
            </a:r>
            <a:endParaRPr lang="en-US" sz="1400" dirty="0"/>
          </a:p>
        </p:txBody>
      </p:sp>
      <p:sp>
        <p:nvSpPr>
          <p:cNvPr id="21" name="Cartao implicacao 1"/>
          <p:cNvSpPr/>
          <p:nvPr/>
        </p:nvSpPr>
        <p:spPr>
          <a:xfrm>
            <a:off x="4937760" y="1737360"/>
            <a:ext cx="3749040" cy="53035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>
                <a:alpha val="0"/>
              </a:schemeClr>
            </a:solidFill>
            <a:prstDash val="solid"/>
          </a:ln>
        </p:spPr>
      </p:sp>
      <p:sp>
        <p:nvSpPr>
          <p:cNvPr id="22" name="Estado 1"/>
          <p:cNvSpPr/>
          <p:nvPr/>
        </p:nvSpPr>
        <p:spPr>
          <a:xfrm>
            <a:off x="5074920" y="1865376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23" name="Estado 1 texto"/>
          <p:cNvSpPr txBox="1"/>
          <p:nvPr/>
        </p:nvSpPr>
        <p:spPr>
          <a:xfrm>
            <a:off x="5074920" y="1865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✓</a:t>
            </a:r>
            <a:endParaRPr lang="en-US" sz="1200" dirty="0"/>
          </a:p>
        </p:txBody>
      </p:sp>
      <p:sp>
        <p:nvSpPr>
          <p:cNvPr id="24" name="Implicacao 1"/>
          <p:cNvSpPr txBox="1"/>
          <p:nvPr/>
        </p:nvSpPr>
        <p:spPr>
          <a:xfrm>
            <a:off x="5486400" y="173736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Maior uniformização do tratamento dos agentes</a:t>
            </a:r>
            <a:endParaRPr lang="en-US" sz="1200" dirty="0"/>
          </a:p>
        </p:txBody>
      </p:sp>
      <p:sp>
        <p:nvSpPr>
          <p:cNvPr id="25" name="Cartao implicacao 2"/>
          <p:cNvSpPr/>
          <p:nvPr/>
        </p:nvSpPr>
        <p:spPr>
          <a:xfrm>
            <a:off x="4937760" y="2359152"/>
            <a:ext cx="3749040" cy="53035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>
                <a:alpha val="0"/>
              </a:schemeClr>
            </a:solidFill>
            <a:prstDash val="solid"/>
          </a:ln>
        </p:spPr>
      </p:sp>
      <p:sp>
        <p:nvSpPr>
          <p:cNvPr id="26" name="Estado 2"/>
          <p:cNvSpPr/>
          <p:nvPr/>
        </p:nvSpPr>
        <p:spPr>
          <a:xfrm>
            <a:off x="5074920" y="2487168"/>
            <a:ext cx="274320" cy="2743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>
                <a:alpha val="0"/>
              </a:schemeClr>
            </a:solidFill>
            <a:prstDash val="solid"/>
          </a:ln>
        </p:spPr>
      </p:sp>
      <p:sp>
        <p:nvSpPr>
          <p:cNvPr id="27" name="Estado 2 texto"/>
          <p:cNvSpPr txBox="1"/>
          <p:nvPr/>
        </p:nvSpPr>
        <p:spPr>
          <a:xfrm>
            <a:off x="5074920" y="2487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!</a:t>
            </a:r>
            <a:endParaRPr lang="en-US" sz="1200" dirty="0"/>
          </a:p>
        </p:txBody>
      </p:sp>
      <p:sp>
        <p:nvSpPr>
          <p:cNvPr id="28" name="Implicacao 2"/>
          <p:cNvSpPr txBox="1"/>
          <p:nvPr/>
        </p:nvSpPr>
        <p:spPr>
          <a:xfrm>
            <a:off x="5486400" y="2359152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Menor valorização dos agentes com melhor desempenho</a:t>
            </a:r>
            <a:endParaRPr lang="en-US" sz="1200" dirty="0"/>
          </a:p>
        </p:txBody>
      </p:sp>
      <p:sp>
        <p:nvSpPr>
          <p:cNvPr id="29" name="Cartao implicacao 3"/>
          <p:cNvSpPr/>
          <p:nvPr/>
        </p:nvSpPr>
        <p:spPr>
          <a:xfrm>
            <a:off x="4937760" y="2980944"/>
            <a:ext cx="3749040" cy="53035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>
                <a:alpha val="0"/>
              </a:schemeClr>
            </a:solidFill>
            <a:prstDash val="solid"/>
          </a:ln>
        </p:spPr>
      </p:sp>
      <p:sp>
        <p:nvSpPr>
          <p:cNvPr id="30" name="Estado 3"/>
          <p:cNvSpPr/>
          <p:nvPr/>
        </p:nvSpPr>
        <p:spPr>
          <a:xfrm>
            <a:off x="5074920" y="3108960"/>
            <a:ext cx="274320" cy="2743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>
                <a:alpha val="0"/>
              </a:schemeClr>
            </a:solidFill>
            <a:prstDash val="solid"/>
          </a:ln>
        </p:spPr>
      </p:sp>
      <p:sp>
        <p:nvSpPr>
          <p:cNvPr id="31" name="Estado 3 texto"/>
          <p:cNvSpPr txBox="1"/>
          <p:nvPr/>
        </p:nvSpPr>
        <p:spPr>
          <a:xfrm>
            <a:off x="5074920" y="3108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!</a:t>
            </a:r>
            <a:endParaRPr lang="en-US" sz="1200" dirty="0"/>
          </a:p>
        </p:txBody>
      </p:sp>
      <p:sp>
        <p:nvSpPr>
          <p:cNvPr id="32" name="Implicacao 3"/>
          <p:cNvSpPr txBox="1"/>
          <p:nvPr/>
        </p:nvSpPr>
        <p:spPr>
          <a:xfrm>
            <a:off x="5486400" y="2980944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Maior autonomia atribuída a agentes com performance inferior</a:t>
            </a:r>
            <a:endParaRPr lang="en-US" sz="1200" dirty="0"/>
          </a:p>
        </p:txBody>
      </p:sp>
      <p:sp>
        <p:nvSpPr>
          <p:cNvPr id="33" name="Cartao implicacao 4"/>
          <p:cNvSpPr/>
          <p:nvPr/>
        </p:nvSpPr>
        <p:spPr>
          <a:xfrm>
            <a:off x="4937760" y="3602736"/>
            <a:ext cx="3749040" cy="53035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>
                <a:alpha val="0"/>
              </a:schemeClr>
            </a:solidFill>
            <a:prstDash val="solid"/>
          </a:ln>
        </p:spPr>
      </p:sp>
      <p:sp>
        <p:nvSpPr>
          <p:cNvPr id="34" name="Estado 4"/>
          <p:cNvSpPr/>
          <p:nvPr/>
        </p:nvSpPr>
        <p:spPr>
          <a:xfrm>
            <a:off x="5074920" y="3730752"/>
            <a:ext cx="274320" cy="2743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>
                <a:alpha val="0"/>
              </a:schemeClr>
            </a:solidFill>
            <a:prstDash val="solid"/>
          </a:ln>
        </p:spPr>
      </p:sp>
      <p:sp>
        <p:nvSpPr>
          <p:cNvPr id="35" name="Estado 4 texto"/>
          <p:cNvSpPr txBox="1"/>
          <p:nvPr/>
        </p:nvSpPr>
        <p:spPr>
          <a:xfrm>
            <a:off x="5074920" y="3730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!</a:t>
            </a:r>
            <a:endParaRPr lang="en-US" sz="1200" dirty="0"/>
          </a:p>
        </p:txBody>
      </p:sp>
      <p:sp>
        <p:nvSpPr>
          <p:cNvPr id="36" name="Implicacao 4"/>
          <p:cNvSpPr txBox="1"/>
          <p:nvPr/>
        </p:nvSpPr>
        <p:spPr>
          <a:xfrm>
            <a:off x="5486400" y="3602736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Potencial enfraquecimento da capacidade do modelo para premiar a performance</a:t>
            </a:r>
            <a:endParaRPr lang="en-US" sz="1200" dirty="0"/>
          </a:p>
        </p:txBody>
      </p:sp>
      <p:sp>
        <p:nvSpPr>
          <p:cNvPr id="37" name="Caixa mensagem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>
                <a:alpha val="0"/>
              </a:schemeClr>
            </a:solidFill>
            <a:prstDash val="solid"/>
          </a:ln>
        </p:spPr>
      </p:sp>
      <p:sp>
        <p:nvSpPr>
          <p:cNvPr id="38" name="Texto mensagem"/>
          <p:cNvSpPr txBox="1"/>
          <p:nvPr/>
        </p:nvSpPr>
        <p:spPr>
          <a:xfrm>
            <a:off x="640080" y="4297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Mensagem principal 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 proposta aproxima os diferentes tiers e reduz a diferenciação entre os agentes com melhor e pior desempenho, privilegiando uma lógica mais uniforme de atribuição de autonomia.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737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ao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CONCLUSÃO #2</a:t>
            </a:r>
            <a:endParaRPr lang="en-US" sz="1100" dirty="0"/>
          </a:p>
        </p:txBody>
      </p:sp>
      <p:sp>
        <p:nvSpPr>
          <p:cNvPr id="3" name="Titulo"/>
          <p:cNvSpPr txBox="1"/>
          <p:nvPr/>
        </p:nvSpPr>
        <p:spPr>
          <a:xfrm>
            <a:off x="457200" y="5303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A proposta aumenta o número de apólices com desconto, mas com um desconto médio inferior</a:t>
            </a:r>
            <a:endParaRPr lang="en-US" sz="2400" dirty="0"/>
          </a:p>
        </p:txBody>
      </p:sp>
      <p:sp>
        <p:nvSpPr>
          <p:cNvPr id="4" name="Cabecalho Apólices com desconto"/>
          <p:cNvSpPr txBox="1"/>
          <p:nvPr/>
        </p:nvSpPr>
        <p:spPr>
          <a:xfrm>
            <a:off x="457200" y="13716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Apólices com desconto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627632"/>
          <a:ext cx="237744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abecalho Desconto médio"/>
          <p:cNvSpPr txBox="1"/>
          <p:nvPr/>
        </p:nvSpPr>
        <p:spPr>
          <a:xfrm>
            <a:off x="2651760" y="13716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Desconto médio</a:t>
            </a:r>
            <a:endParaRPr lang="en-US" sz="14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2560320" y="1627632"/>
          <a:ext cx="237744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Cabecalho O que muda?"/>
          <p:cNvSpPr txBox="1"/>
          <p:nvPr/>
        </p:nvSpPr>
        <p:spPr>
          <a:xfrm>
            <a:off x="4937760" y="13716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 que muda?</a:t>
            </a:r>
            <a:endParaRPr lang="en-US" sz="1400" dirty="0"/>
          </a:p>
        </p:txBody>
      </p:sp>
      <p:sp>
        <p:nvSpPr>
          <p:cNvPr id="9" name="Lista o que muda"/>
          <p:cNvSpPr txBox="1"/>
          <p:nvPr/>
        </p:nvSpPr>
        <p:spPr>
          <a:xfrm>
            <a:off x="4937760" y="16916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 desconto passa a estar presente em praticamente todo o negócio novo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 poupança resulta da redução do desconto médio aplicado, não da redução do número de apólices descontadas</a:t>
            </a:r>
            <a:endParaRPr lang="en-US" sz="1300" dirty="0"/>
          </a:p>
        </p:txBody>
      </p:sp>
      <p:sp>
        <p:nvSpPr>
          <p:cNvPr id="10" name="Cabecalho Implicações"/>
          <p:cNvSpPr txBox="1"/>
          <p:nvPr/>
        </p:nvSpPr>
        <p:spPr>
          <a:xfrm>
            <a:off x="457200" y="2999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Implicações</a:t>
            </a:r>
            <a:endParaRPr lang="en-US" sz="1400" dirty="0"/>
          </a:p>
        </p:txBody>
      </p:sp>
      <p:sp>
        <p:nvSpPr>
          <p:cNvPr id="11" name="Cartao implicacao 1"/>
          <p:cNvSpPr/>
          <p:nvPr/>
        </p:nvSpPr>
        <p:spPr>
          <a:xfrm>
            <a:off x="457200" y="3291840"/>
            <a:ext cx="4023360" cy="38404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>
                <a:alpha val="0"/>
              </a:schemeClr>
            </a:solidFill>
            <a:prstDash val="solid"/>
          </a:ln>
        </p:spPr>
      </p:sp>
      <p:sp>
        <p:nvSpPr>
          <p:cNvPr id="12" name="Estado 1"/>
          <p:cNvSpPr/>
          <p:nvPr/>
        </p:nvSpPr>
        <p:spPr>
          <a:xfrm>
            <a:off x="548640" y="3364992"/>
            <a:ext cx="237744" cy="23774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13" name="Estado 1 texto"/>
          <p:cNvSpPr txBox="1"/>
          <p:nvPr/>
        </p:nvSpPr>
        <p:spPr>
          <a:xfrm>
            <a:off x="548640" y="33649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✓</a:t>
            </a:r>
            <a:endParaRPr lang="en-US" sz="1100" dirty="0"/>
          </a:p>
        </p:txBody>
      </p:sp>
      <p:sp>
        <p:nvSpPr>
          <p:cNvPr id="14" name="Implicacao 1"/>
          <p:cNvSpPr txBox="1"/>
          <p:nvPr/>
        </p:nvSpPr>
        <p:spPr>
          <a:xfrm>
            <a:off x="914400" y="32918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Menor desconto médio por apólice</a:t>
            </a:r>
            <a:endParaRPr lang="en-US" sz="1200" dirty="0"/>
          </a:p>
        </p:txBody>
      </p:sp>
      <p:sp>
        <p:nvSpPr>
          <p:cNvPr id="15" name="Cartao implicacao 2"/>
          <p:cNvSpPr/>
          <p:nvPr/>
        </p:nvSpPr>
        <p:spPr>
          <a:xfrm>
            <a:off x="4663440" y="3291840"/>
            <a:ext cx="4023360" cy="38404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>
                <a:alpha val="0"/>
              </a:schemeClr>
            </a:solidFill>
            <a:prstDash val="solid"/>
          </a:ln>
        </p:spPr>
      </p:sp>
      <p:sp>
        <p:nvSpPr>
          <p:cNvPr id="16" name="Estado 2"/>
          <p:cNvSpPr/>
          <p:nvPr/>
        </p:nvSpPr>
        <p:spPr>
          <a:xfrm>
            <a:off x="4754880" y="3364992"/>
            <a:ext cx="237744" cy="23774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>
                <a:alpha val="0"/>
              </a:schemeClr>
            </a:solidFill>
            <a:prstDash val="solid"/>
          </a:ln>
        </p:spPr>
      </p:sp>
      <p:sp>
        <p:nvSpPr>
          <p:cNvPr id="17" name="Estado 2 texto"/>
          <p:cNvSpPr txBox="1"/>
          <p:nvPr/>
        </p:nvSpPr>
        <p:spPr>
          <a:xfrm>
            <a:off x="4754880" y="33649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!</a:t>
            </a:r>
            <a:endParaRPr lang="en-US" sz="1100" dirty="0"/>
          </a:p>
        </p:txBody>
      </p:sp>
      <p:sp>
        <p:nvSpPr>
          <p:cNvPr id="18" name="Implicacao 2"/>
          <p:cNvSpPr txBox="1"/>
          <p:nvPr/>
        </p:nvSpPr>
        <p:spPr>
          <a:xfrm>
            <a:off x="5120640" y="32918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Maior dependência da utilização de descontos</a:t>
            </a:r>
            <a:endParaRPr lang="en-US" sz="1200" dirty="0"/>
          </a:p>
        </p:txBody>
      </p:sp>
      <p:sp>
        <p:nvSpPr>
          <p:cNvPr id="19" name="Cartao implicacao 3"/>
          <p:cNvSpPr/>
          <p:nvPr/>
        </p:nvSpPr>
        <p:spPr>
          <a:xfrm>
            <a:off x="457200" y="3730752"/>
            <a:ext cx="4023360" cy="38404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>
                <a:alpha val="0"/>
              </a:schemeClr>
            </a:solidFill>
            <a:prstDash val="solid"/>
          </a:ln>
        </p:spPr>
      </p:sp>
      <p:sp>
        <p:nvSpPr>
          <p:cNvPr id="20" name="Estado 3"/>
          <p:cNvSpPr/>
          <p:nvPr/>
        </p:nvSpPr>
        <p:spPr>
          <a:xfrm>
            <a:off x="548640" y="3803904"/>
            <a:ext cx="237744" cy="23774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>
                <a:alpha val="0"/>
              </a:schemeClr>
            </a:solidFill>
            <a:prstDash val="solid"/>
          </a:ln>
        </p:spPr>
      </p:sp>
      <p:sp>
        <p:nvSpPr>
          <p:cNvPr id="21" name="Estado 3 texto"/>
          <p:cNvSpPr txBox="1"/>
          <p:nvPr/>
        </p:nvSpPr>
        <p:spPr>
          <a:xfrm>
            <a:off x="548640" y="38039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!</a:t>
            </a:r>
            <a:endParaRPr lang="en-US" sz="1100" dirty="0"/>
          </a:p>
        </p:txBody>
      </p:sp>
      <p:sp>
        <p:nvSpPr>
          <p:cNvPr id="22" name="Implicacao 3"/>
          <p:cNvSpPr txBox="1"/>
          <p:nvPr/>
        </p:nvSpPr>
        <p:spPr>
          <a:xfrm>
            <a:off x="914400" y="373075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Generalização da expectativa de obtenção de desconto</a:t>
            </a:r>
            <a:endParaRPr lang="en-US" sz="1200" dirty="0"/>
          </a:p>
        </p:txBody>
      </p:sp>
      <p:sp>
        <p:nvSpPr>
          <p:cNvPr id="23" name="Cartao implicacao 4"/>
          <p:cNvSpPr/>
          <p:nvPr/>
        </p:nvSpPr>
        <p:spPr>
          <a:xfrm>
            <a:off x="4663440" y="3730752"/>
            <a:ext cx="4023360" cy="38404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>
                <a:alpha val="0"/>
              </a:schemeClr>
            </a:solidFill>
            <a:prstDash val="solid"/>
          </a:ln>
        </p:spPr>
      </p:sp>
      <p:sp>
        <p:nvSpPr>
          <p:cNvPr id="24" name="Estado 4"/>
          <p:cNvSpPr/>
          <p:nvPr/>
        </p:nvSpPr>
        <p:spPr>
          <a:xfrm>
            <a:off x="4754880" y="3803904"/>
            <a:ext cx="237744" cy="23774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>
                <a:alpha val="0"/>
              </a:schemeClr>
            </a:solidFill>
            <a:prstDash val="solid"/>
          </a:ln>
        </p:spPr>
      </p:sp>
      <p:sp>
        <p:nvSpPr>
          <p:cNvPr id="25" name="Estado 4 texto"/>
          <p:cNvSpPr txBox="1"/>
          <p:nvPr/>
        </p:nvSpPr>
        <p:spPr>
          <a:xfrm>
            <a:off x="4754880" y="38039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!</a:t>
            </a:r>
            <a:endParaRPr lang="en-US" sz="1100" dirty="0"/>
          </a:p>
        </p:txBody>
      </p:sp>
      <p:sp>
        <p:nvSpPr>
          <p:cNvPr id="26" name="Implicacao 4"/>
          <p:cNvSpPr txBox="1"/>
          <p:nvPr/>
        </p:nvSpPr>
        <p:spPr>
          <a:xfrm>
            <a:off x="5120640" y="373075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Maior necessidade de monitorização e governação</a:t>
            </a:r>
            <a:endParaRPr lang="en-US" sz="1200" dirty="0"/>
          </a:p>
        </p:txBody>
      </p:sp>
      <p:sp>
        <p:nvSpPr>
          <p:cNvPr id="27" name="Caixa mensagem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>
                <a:alpha val="0"/>
              </a:schemeClr>
            </a:solidFill>
            <a:prstDash val="solid"/>
          </a:ln>
        </p:spPr>
      </p:sp>
      <p:sp>
        <p:nvSpPr>
          <p:cNvPr id="28" name="Texto mensagem"/>
          <p:cNvSpPr txBox="1"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Mensagem principal 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 proposta não reduz a utilização de descontos. Pelo contrário, aumenta o número de apólices com desconto, obtendo poupança através da redução da intensidade média do desconto concedido.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737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ao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RODAPÉ EXECUTIVO</a:t>
            </a:r>
            <a:endParaRPr lang="en-US" sz="1100" dirty="0"/>
          </a:p>
        </p:txBody>
      </p:sp>
      <p:sp>
        <p:nvSpPr>
          <p:cNvPr id="3" name="Titulo"/>
          <p:cNvSpPr txBox="1"/>
          <p:nvPr/>
        </p:nvSpPr>
        <p:spPr>
          <a:xfrm>
            <a:off x="457200" y="5303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A decisão final deverá equilibrar a flexibilidade comercial com o reconhecimento do mérito</a:t>
            </a:r>
            <a:endParaRPr lang="en-US" sz="2400" dirty="0"/>
          </a:p>
        </p:txBody>
      </p:sp>
      <p:sp>
        <p:nvSpPr>
          <p:cNvPr id="4" name="Cabecalho Considerações operacionais"/>
          <p:cNvSpPr txBox="1"/>
          <p:nvPr/>
        </p:nvSpPr>
        <p:spPr>
          <a:xfrm>
            <a:off x="457200" y="13716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Considerações operacionais</a:t>
            </a:r>
            <a:endParaRPr lang="en-US" sz="1400" dirty="0"/>
          </a:p>
        </p:txBody>
      </p:sp>
      <p:sp>
        <p:nvSpPr>
          <p:cNvPr id="5" name="Cartao consideracao 1"/>
          <p:cNvSpPr/>
          <p:nvPr/>
        </p:nvSpPr>
        <p:spPr>
          <a:xfrm>
            <a:off x="457200" y="1737360"/>
            <a:ext cx="4937760" cy="640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>
                <a:alpha val="0"/>
              </a:schemeClr>
            </a:solidFill>
            <a:prstDash val="solid"/>
          </a:ln>
        </p:spPr>
      </p:sp>
      <p:sp>
        <p:nvSpPr>
          <p:cNvPr id="6" name="Numero 1"/>
          <p:cNvSpPr/>
          <p:nvPr/>
        </p:nvSpPr>
        <p:spPr>
          <a:xfrm>
            <a:off x="621792" y="192024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7" name="Numero 1 texto"/>
          <p:cNvSpPr txBox="1"/>
          <p:nvPr/>
        </p:nvSpPr>
        <p:spPr>
          <a:xfrm>
            <a:off x="621792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Consideracao 1"/>
          <p:cNvSpPr txBox="1"/>
          <p:nvPr/>
        </p:nvSpPr>
        <p:spPr>
          <a:xfrm>
            <a:off x="1097280" y="173736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Reforçar a monitorização da utilização dos jokers</a:t>
            </a:r>
            <a:endParaRPr lang="en-US" sz="1300" dirty="0"/>
          </a:p>
        </p:txBody>
      </p:sp>
      <p:sp>
        <p:nvSpPr>
          <p:cNvPr id="9" name="Cartao consideracao 2"/>
          <p:cNvSpPr/>
          <p:nvPr/>
        </p:nvSpPr>
        <p:spPr>
          <a:xfrm>
            <a:off x="457200" y="2468880"/>
            <a:ext cx="4937760" cy="640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>
                <a:alpha val="0"/>
              </a:schemeClr>
            </a:solidFill>
            <a:prstDash val="solid"/>
          </a:ln>
        </p:spPr>
      </p:sp>
      <p:sp>
        <p:nvSpPr>
          <p:cNvPr id="10" name="Numero 2"/>
          <p:cNvSpPr/>
          <p:nvPr/>
        </p:nvSpPr>
        <p:spPr>
          <a:xfrm>
            <a:off x="621792" y="265176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11" name="Numero 2 texto"/>
          <p:cNvSpPr txBox="1"/>
          <p:nvPr/>
        </p:nvSpPr>
        <p:spPr>
          <a:xfrm>
            <a:off x="621792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Consideracao 2"/>
          <p:cNvSpPr txBox="1"/>
          <p:nvPr/>
        </p:nvSpPr>
        <p:spPr>
          <a:xfrm>
            <a:off x="1097280" y="246888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Maior exigência ao nível da governação e controlo dos descontos concedidos</a:t>
            </a:r>
            <a:endParaRPr lang="en-US" sz="1300" dirty="0"/>
          </a:p>
        </p:txBody>
      </p:sp>
      <p:sp>
        <p:nvSpPr>
          <p:cNvPr id="13" name="Cartao consideracao 3"/>
          <p:cNvSpPr/>
          <p:nvPr/>
        </p:nvSpPr>
        <p:spPr>
          <a:xfrm>
            <a:off x="457200" y="3200400"/>
            <a:ext cx="4937760" cy="640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>
                <a:alpha val="0"/>
              </a:schemeClr>
            </a:solidFill>
            <a:prstDash val="solid"/>
          </a:ln>
        </p:spPr>
      </p:sp>
      <p:sp>
        <p:nvSpPr>
          <p:cNvPr id="14" name="Numero 3"/>
          <p:cNvSpPr/>
          <p:nvPr/>
        </p:nvSpPr>
        <p:spPr>
          <a:xfrm>
            <a:off x="621792" y="338328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15" name="Numero 3 texto"/>
          <p:cNvSpPr txBox="1"/>
          <p:nvPr/>
        </p:nvSpPr>
        <p:spPr>
          <a:xfrm>
            <a:off x="621792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Consideracao 3"/>
          <p:cNvSpPr txBox="1"/>
          <p:nvPr/>
        </p:nvSpPr>
        <p:spPr>
          <a:xfrm>
            <a:off x="1097280" y="320040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Garantir a revisão periódica dos critérios de segmentação e tiers</a:t>
            </a:r>
            <a:endParaRPr lang="en-US" sz="1300" dirty="0"/>
          </a:p>
        </p:txBody>
      </p:sp>
      <p:sp>
        <p:nvSpPr>
          <p:cNvPr id="17" name="Cartao consideracao 4"/>
          <p:cNvSpPr/>
          <p:nvPr/>
        </p:nvSpPr>
        <p:spPr>
          <a:xfrm>
            <a:off x="457200" y="3931920"/>
            <a:ext cx="4937760" cy="640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>
                <a:alpha val="0"/>
              </a:schemeClr>
            </a:solidFill>
            <a:prstDash val="solid"/>
          </a:ln>
        </p:spPr>
      </p:sp>
      <p:sp>
        <p:nvSpPr>
          <p:cNvPr id="18" name="Numero 4"/>
          <p:cNvSpPr/>
          <p:nvPr/>
        </p:nvSpPr>
        <p:spPr>
          <a:xfrm>
            <a:off x="621792" y="411480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19" name="Numero 4 texto"/>
          <p:cNvSpPr txBox="1"/>
          <p:nvPr/>
        </p:nvSpPr>
        <p:spPr>
          <a:xfrm>
            <a:off x="621792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Consideracao 4"/>
          <p:cNvSpPr txBox="1"/>
          <p:nvPr/>
        </p:nvSpPr>
        <p:spPr>
          <a:xfrm>
            <a:off x="1097280" y="393192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Preservar mecanismos que continuem a reconhecer e diferenciar os agentes de melhor desempenho</a:t>
            </a:r>
            <a:endParaRPr lang="en-US" sz="1300" dirty="0"/>
          </a:p>
        </p:txBody>
      </p:sp>
      <p:sp>
        <p:nvSpPr>
          <p:cNvPr id="21" name="Cartao conclusao"/>
          <p:cNvSpPr/>
          <p:nvPr/>
        </p:nvSpPr>
        <p:spPr>
          <a:xfrm>
            <a:off x="5669280" y="1371600"/>
            <a:ext cx="3017520" cy="32004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>
                <a:alpha val="0"/>
              </a:schemeClr>
            </a:solidFill>
            <a:prstDash val="solid"/>
          </a:ln>
        </p:spPr>
      </p:sp>
      <p:sp>
        <p:nvSpPr>
          <p:cNvPr id="22" name="Titulo conclusao"/>
          <p:cNvSpPr txBox="1"/>
          <p:nvPr/>
        </p:nvSpPr>
        <p:spPr>
          <a:xfrm>
            <a:off x="5897880" y="1508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Conclusão</a:t>
            </a:r>
            <a:endParaRPr lang="en-US" sz="1600" dirty="0"/>
          </a:p>
        </p:txBody>
      </p:sp>
      <p:sp>
        <p:nvSpPr>
          <p:cNvPr id="23" name="Texto conclusao"/>
          <p:cNvSpPr txBox="1"/>
          <p:nvPr/>
        </p:nvSpPr>
        <p:spPr>
          <a:xfrm>
            <a:off x="5897880" y="187452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Em síntese, a proposta promove uma distribuição mais ampla da autonomia comercial e do acesso ao desconto, mas reduz a diferenciação baseada na performance e conduz a um aumento do número de apólices com desconto. O equilíbrio entre flexibilidade comercial e reconhecimento do mérito comercial deverá ser um fator central na decisão final.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737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sultivo Azul">
  <a:themeElements>
    <a:clrScheme name="Consultivo Azul">
      <a:dk1>
        <a:srgbClr val="1B2333"/>
      </a:dk1>
      <a:lt1>
        <a:srgbClr val="FFFFFF"/>
      </a:lt1>
      <a:dk2>
        <a:srgbClr val="0B2C6B"/>
      </a:dk2>
      <a:lt2>
        <a:srgbClr val="EDF2FA"/>
      </a:lt2>
      <a:accent1>
        <a:srgbClr val="1A5FD0"/>
      </a:accent1>
      <a:accent2>
        <a:srgbClr val="2E8B57"/>
      </a:accent2>
      <a:accent3>
        <a:srgbClr val="D98E04"/>
      </a:accent3>
      <a:accent4>
        <a:srgbClr val="5B6B88"/>
      </a:accent4>
      <a:accent5>
        <a:srgbClr val="8FA4C8"/>
      </a:accent5>
      <a:accent6>
        <a:srgbClr val="B3412F"/>
      </a:accent6>
      <a:hlink>
        <a:srgbClr val="1A5FD0"/>
      </a:hlink>
      <a:folHlink>
        <a:srgbClr val="5B6B88"/>
      </a:folHlink>
    </a:clrScheme>
    <a:fontScheme name="Consultivo Azu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Autonomia comercial: modelo atual vs modelo proposto</dc:title>
  <dc:subject>PptxGenJS Presentation</dc:subject>
  <dc:creator>PptxGenJS</dc:creator>
  <cp:lastModifiedBy>PptxGenJS</cp:lastModifiedBy>
  <cp:revision>1</cp:revision>
  <dcterms:created xsi:type="dcterms:W3CDTF">2026-10-24T14:30:15Z</dcterms:created>
  <dcterms:modified xsi:type="dcterms:W3CDTF">2026-10-24T14:30:15Z</dcterms:modified>
</cp:coreProperties>
</file>